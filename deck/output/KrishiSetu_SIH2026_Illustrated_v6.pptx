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1.svg" ContentType="image/svg+xml"/>
  <Override PartName="/ppt/media/image12.svg" ContentType="image/svg+xml"/>
  <Override PartName="/ppt/media/image22.svg" ContentType="image/svg+xml"/>
  <Override PartName="/ppt/media/image23.svg" ContentType="image/svg+xml"/>
  <Override PartName="/ppt/media/image4.svg" ContentType="image/svg+xml"/>
  <Override PartName="/ppt/media/image5.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embeddedFontLst>
    <p:embeddedFont>
      <p:font typeface="Amasis MT Pro Black" panose="02040A04050005020304" pitchFamily="18" charset="0"/>
      <p:bold r:id="rId8"/>
      <p:boldItalic r:id="rId9"/>
    </p:embeddedFont>
    <p:embeddedFont>
      <p:font typeface="Caladea" panose="020B0604020202020204" charset="0"/>
      <p:regular r:id="rId10"/>
    </p:embeddedFont>
    <p:embeddedFont>
      <p:font typeface="Caladea Bold" panose="020B0604020202020204" charset="0"/>
      <p:regular r:id="rId11"/>
    </p:embeddedFont>
    <p:embeddedFont>
      <p:font typeface="Carlito" panose="020B0604020202020204" charset="0"/>
      <p:regular r:id="rId12"/>
    </p:embeddedFont>
    <p:embeddedFont>
      <p:font typeface="Carlito Bold" panose="020B0604020202020204" charset="0"/>
      <p:regular r:id="rId13"/>
    </p:embeddedFont>
    <p:embeddedFont>
      <p:font typeface="Carlito Italics" panose="020B0604020202020204" charset="0"/>
      <p:regular r:id="rId14"/>
    </p:embeddedFont>
    <p:embeddedFont>
      <p:font typeface="Noto Sans" panose="020B0502040504020204" pitchFamily="34" charset="0"/>
      <p:regular r:id="rId15"/>
      <p:bold r:id="rId16"/>
      <p:italic r:id="rId17"/>
      <p:boldItalic r:id="rId18"/>
    </p:embeddedFont>
    <p:embeddedFont>
      <p:font typeface="Noto Sans Osage" panose="020B0502040504020204" pitchFamily="34" charset="0"/>
      <p:regular r:id="rId19"/>
    </p:embeddedFont>
    <p:embeddedFont>
      <p:font typeface="Noto Serif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94622" autoAdjust="0"/>
  </p:normalViewPr>
  <p:slideViewPr>
    <p:cSldViewPr>
      <p:cViewPr varScale="1">
        <p:scale>
          <a:sx n="74" d="100"/>
          <a:sy n="74" d="100"/>
        </p:scale>
        <p:origin x="104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line: a small farmer cannot fill a tempo alone, so hiring one eats the margin, and that is why the farmer keeps only a modest share of what the buyer finally pays. KrishiSetu pools the produce of several farmers all sending to the same neighbourhood, moves it once, and drops it at one pickup point a hundred households already live around. Close by saying this is a working application, not a mockup: every number in this deck is read out of the running system, and anything that is an estimate is labelled as one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 is the whole argument. We do not start from a retail price and work down to whatever is left for the farmer; we start from the rate the farmer accepted and add the real shared costs on top. Sanjay Patil and Meena Bhoir are named because a pooled consignment must never hide whose produce it is: one buyer order can draw from two farms, and each farm's kilograms and rupees stay its own row. On the right, note that door delivery is tier B, not the default. A weekly household basket is about six kilograms, so a dedicated rider drop would eat a tenth of the order value. Collection at a neighbourhood point is the default, the last 300 metres is a priced extra that is free above a ₹500 basket, and ten-minute express is deliberately not offered because at this basket size it cannot pay for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D-COA stands for Decision and Coordination Optimisation Algorithm. Say the full form out loud: it is our working name for the decision layer in our own codebase, not a claim that we invented or published a new algorithm. Walk the chain left to right, then explain the chips: five of the eight considerations are hard feasibility conditions, so if any one fails the order cannot be on that run. Cost and priority only rank among options that are already feasible, and a cancellation or new order forces a replan before dispatch. The important part for a judge: when an order is left out, the engine says which of these eight rules rejected it, in plain English, on the operator's screen. Nothing is a black-box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loads, in plain words: today a transporter brings vegetables into the city and drives back with an empty vehicle. He is already charging us for that empty half, because he has to. A return load — also called a backhaul — is any cargo he can carry on the journey home: seed, fertiliser, crates, an FPO's supplies. Because we already know his corridor, his time window and his spare capacity, we can offer him compatible work on the way back, which lowers the cost per kilogram of the outbound vegetable trip without anyone subsidising it. Two honest caveats: empty space does not automatically mean a cheaper or suitable trip, and the driver must accept the work with the payment covering the actual detour. It is specified but not yet shipped, and the slide says so. On the fill threshold: 123 orders filled a 750 kg tempo to 100 percent and brought transport down to ₹5.37 per kilogram. Below 70 percent we hold the run rather than deliver at a loss.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claims, in order. First, the farmer keeps far more of the buyer's rupee: 64 percent across all 126 orders in the system, 74 percent on the worked tomato example, against the quarter-to-a-third widely reported for fragmented vegetable trade. That estimate is labelled as an estimate on the slide. Second, the buyer still pays less than the quick-commerce reference, so nobody is being asked to pay extra out of sympathy. Third, and this is the question every judge asks, where does our money come from. It comes from one disclosed line on the buyer's bill, ₹19.89 per order. After gateway and support costs we keep ₹14.29, so at an assumed ₹60,000 monthly fixed cost we break even at about 4,199 orders a month, roughly four clusters running twice a week. Be honest about the limit: a single-cluster pilot covers its fulfilment cost but not that fixed cost, and our own operator screen shows the shortfall. What we will not do is close it from the farmer's 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short. The first source is live in the product, not just cited: the daily mandi price feed from the Government of India open data portal refreshes on a cron and every price on our screens carries its source label and date. The four incumbents are the ones we studied for gaps, and our positioning page states, for each gap, both what we built and where it stops. The routing reference is a formulation we follow, not a library we claim to have beaten. Then read the closing caveat aloud — the synthetic demand history is the honest limit of this prototype, and saying it first is stronger than being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8.svg"/><Relationship Id="rId6" Type="http://schemas.openxmlformats.org/officeDocument/2006/relationships/image" Target="../media/image9.sv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22.svg"/><Relationship Id="rId6" Type="http://schemas.openxmlformats.org/officeDocument/2006/relationships/image" Target="../media/image23.sv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60021" y="-63503"/>
            <a:ext cx="9270644" cy="6984273"/>
          </a:xfrm>
          <a:custGeom>
            <a:avLst/>
            <a:gdLst/>
            <a:ahLst/>
            <a:cxnLst/>
            <a:rect l="l" t="t" r="r" b="b"/>
            <a:pathLst>
              <a:path w="9270644" h="6984273">
                <a:moveTo>
                  <a:pt x="0" y="0"/>
                </a:moveTo>
                <a:lnTo>
                  <a:pt x="9270644" y="0"/>
                </a:lnTo>
                <a:lnTo>
                  <a:pt x="9270644" y="6984273"/>
                </a:lnTo>
                <a:lnTo>
                  <a:pt x="0" y="69842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6854762" y="1715757"/>
            <a:ext cx="3203286" cy="3425409"/>
            <a:chOff x="0" y="0"/>
            <a:chExt cx="4271048" cy="4567212"/>
          </a:xfrm>
        </p:grpSpPr>
        <p:sp>
          <p:nvSpPr>
            <p:cNvPr id="4" name="Freeform 4"/>
            <p:cNvSpPr/>
            <p:nvPr/>
          </p:nvSpPr>
          <p:spPr>
            <a:xfrm>
              <a:off x="0" y="0"/>
              <a:ext cx="4271010" cy="4567174"/>
            </a:xfrm>
            <a:custGeom>
              <a:avLst/>
              <a:gdLst/>
              <a:ahLst/>
              <a:cxnLst/>
              <a:rect l="l" t="t" r="r" b="b"/>
              <a:pathLst>
                <a:path w="4271010" h="4567174">
                  <a:moveTo>
                    <a:pt x="0" y="0"/>
                  </a:moveTo>
                  <a:lnTo>
                    <a:pt x="4271010" y="0"/>
                  </a:lnTo>
                  <a:lnTo>
                    <a:pt x="4271010" y="4567174"/>
                  </a:lnTo>
                  <a:lnTo>
                    <a:pt x="0" y="4567174"/>
                  </a:lnTo>
                  <a:lnTo>
                    <a:pt x="0" y="0"/>
                  </a:lnTo>
                  <a:close/>
                </a:path>
              </a:pathLst>
            </a:custGeom>
            <a:blipFill>
              <a:blip r:embed="rId3"/>
              <a:stretch>
                <a:fillRect t="-10" r="-149473"/>
              </a:stretch>
            </a:blipFill>
          </p:spPr>
          <p:txBody>
            <a:bodyPr/>
            <a:lstStyle/>
            <a:p>
              <a:endParaRPr lang="en-IN"/>
            </a:p>
          </p:txBody>
        </p:sp>
      </p:grpSp>
      <p:grpSp>
        <p:nvGrpSpPr>
          <p:cNvPr id="5" name="Group 5"/>
          <p:cNvGrpSpPr/>
          <p:nvPr/>
        </p:nvGrpSpPr>
        <p:grpSpPr>
          <a:xfrm>
            <a:off x="9780118" y="1076"/>
            <a:ext cx="2249643" cy="1061999"/>
            <a:chOff x="0" y="0"/>
            <a:chExt cx="2999524" cy="1415999"/>
          </a:xfrm>
        </p:grpSpPr>
        <p:sp>
          <p:nvSpPr>
            <p:cNvPr id="6" name="Freeform 6"/>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7" name="TextBox 7"/>
          <p:cNvSpPr txBox="1"/>
          <p:nvPr/>
        </p:nvSpPr>
        <p:spPr>
          <a:xfrm>
            <a:off x="420481" y="1039606"/>
            <a:ext cx="2505113" cy="691725"/>
          </a:xfrm>
          <a:prstGeom prst="rect">
            <a:avLst/>
          </a:prstGeom>
        </p:spPr>
        <p:txBody>
          <a:bodyPr lIns="0" tIns="0" rIns="0" bIns="0" rtlCol="0" anchor="t">
            <a:spAutoFit/>
          </a:bodyPr>
          <a:lstStyle/>
          <a:p>
            <a:pPr algn="l">
              <a:lnSpc>
                <a:spcPts val="5599"/>
              </a:lnSpc>
            </a:pPr>
            <a:r>
              <a:rPr lang="en-US" sz="3999" b="1">
                <a:solidFill>
                  <a:srgbClr val="11140F"/>
                </a:solidFill>
                <a:latin typeface="Caladea Bold"/>
                <a:ea typeface="Caladea Bold"/>
                <a:cs typeface="Caladea Bold"/>
                <a:sym typeface="Caladea Bold"/>
              </a:rPr>
              <a:t>KrishiSetu</a:t>
            </a:r>
          </a:p>
        </p:txBody>
      </p:sp>
      <p:sp>
        <p:nvSpPr>
          <p:cNvPr id="8" name="TextBox 8"/>
          <p:cNvSpPr txBox="1"/>
          <p:nvPr/>
        </p:nvSpPr>
        <p:spPr>
          <a:xfrm>
            <a:off x="1898599" y="1992697"/>
            <a:ext cx="38090" cy="247174"/>
          </a:xfrm>
          <a:prstGeom prst="rect">
            <a:avLst/>
          </a:prstGeom>
        </p:spPr>
        <p:txBody>
          <a:bodyPr lIns="0" tIns="0" rIns="0" bIns="0" rtlCol="0" anchor="t">
            <a:spAutoFit/>
          </a:bodyPr>
          <a:lstStyle/>
          <a:p>
            <a:pPr algn="l">
              <a:lnSpc>
                <a:spcPts val="1821"/>
              </a:lnSpc>
            </a:pPr>
            <a:r>
              <a:rPr lang="en-US" sz="1301">
                <a:solidFill>
                  <a:srgbClr val="657062"/>
                </a:solidFill>
                <a:latin typeface="Carlito"/>
                <a:ea typeface="Carlito"/>
                <a:cs typeface="Carlito"/>
                <a:sym typeface="Carlito"/>
              </a:rPr>
              <a:t> </a:t>
            </a:r>
          </a:p>
        </p:txBody>
      </p:sp>
      <p:sp>
        <p:nvSpPr>
          <p:cNvPr id="9" name="TextBox 9"/>
          <p:cNvSpPr txBox="1"/>
          <p:nvPr/>
        </p:nvSpPr>
        <p:spPr>
          <a:xfrm>
            <a:off x="1332728" y="175012"/>
            <a:ext cx="8526723" cy="706326"/>
          </a:xfrm>
          <a:prstGeom prst="rect">
            <a:avLst/>
          </a:prstGeom>
        </p:spPr>
        <p:txBody>
          <a:bodyPr lIns="0" tIns="0" rIns="0" bIns="0" rtlCol="0" anchor="t">
            <a:spAutoFit/>
          </a:bodyPr>
          <a:lstStyle/>
          <a:p>
            <a:pPr algn="l">
              <a:lnSpc>
                <a:spcPts val="5599"/>
              </a:lnSpc>
            </a:pPr>
            <a:r>
              <a:rPr lang="en-US" sz="3999" b="1">
                <a:solidFill>
                  <a:srgbClr val="1F497D"/>
                </a:solidFill>
                <a:latin typeface="Noto Serif Bold"/>
                <a:ea typeface="Noto Serif Bold"/>
                <a:cs typeface="Noto Serif Bold"/>
                <a:sym typeface="Noto Serif Bold"/>
              </a:rPr>
              <a:t>SMART INDIA HACKATHON 2026</a:t>
            </a:r>
          </a:p>
        </p:txBody>
      </p:sp>
      <p:sp>
        <p:nvSpPr>
          <p:cNvPr id="10" name="TextBox 10"/>
          <p:cNvSpPr txBox="1"/>
          <p:nvPr/>
        </p:nvSpPr>
        <p:spPr>
          <a:xfrm>
            <a:off x="421196" y="1992697"/>
            <a:ext cx="2321404" cy="249488"/>
          </a:xfrm>
          <a:prstGeom prst="rect">
            <a:avLst/>
          </a:prstGeom>
        </p:spPr>
        <p:txBody>
          <a:bodyPr lIns="0" tIns="0" rIns="0" bIns="0" rtlCol="0" anchor="t">
            <a:spAutoFit/>
          </a:bodyPr>
          <a:lstStyle/>
          <a:p>
            <a:pPr algn="l">
              <a:lnSpc>
                <a:spcPts val="1821"/>
              </a:lnSpc>
            </a:pPr>
            <a:r>
              <a:rPr lang="en-US" sz="1301">
                <a:solidFill>
                  <a:srgbClr val="657062"/>
                </a:solidFill>
                <a:latin typeface="Carlito"/>
                <a:ea typeface="Carlito"/>
                <a:cs typeface="Carlito"/>
                <a:sym typeface="Carlito"/>
              </a:rPr>
              <a:t>Problem Statement ID– </a:t>
            </a:r>
            <a:r>
              <a:rPr lang="en-US" sz="1301" b="1">
                <a:solidFill>
                  <a:srgbClr val="11140F"/>
                </a:solidFill>
                <a:latin typeface="Carlito Bold"/>
                <a:ea typeface="Carlito Bold"/>
                <a:cs typeface="Carlito Bold"/>
                <a:sym typeface="Carlito Bold"/>
              </a:rPr>
              <a:t>SIH26033</a:t>
            </a:r>
          </a:p>
        </p:txBody>
      </p:sp>
      <p:sp>
        <p:nvSpPr>
          <p:cNvPr id="11" name="TextBox 11"/>
          <p:cNvSpPr txBox="1"/>
          <p:nvPr/>
        </p:nvSpPr>
        <p:spPr>
          <a:xfrm>
            <a:off x="421196" y="2241871"/>
            <a:ext cx="5559733" cy="1635071"/>
          </a:xfrm>
          <a:prstGeom prst="rect">
            <a:avLst/>
          </a:prstGeom>
        </p:spPr>
        <p:txBody>
          <a:bodyPr lIns="0" tIns="0" rIns="0" bIns="0" rtlCol="0" anchor="t">
            <a:spAutoFit/>
          </a:bodyPr>
          <a:lstStyle/>
          <a:p>
            <a:pPr algn="l">
              <a:lnSpc>
                <a:spcPts val="2262"/>
              </a:lnSpc>
            </a:pPr>
            <a:r>
              <a:rPr lang="en-US" sz="1301">
                <a:solidFill>
                  <a:srgbClr val="657062"/>
                </a:solidFill>
                <a:latin typeface="Carlito"/>
                <a:ea typeface="Carlito"/>
                <a:cs typeface="Carlito"/>
                <a:sym typeface="Carlito"/>
              </a:rPr>
              <a:t>Problem Statement Title –</a:t>
            </a:r>
            <a:r>
              <a:rPr lang="en-US" sz="1301" b="1">
                <a:solidFill>
                  <a:srgbClr val="11140F"/>
                </a:solidFill>
                <a:latin typeface="Carlito Bold"/>
                <a:ea typeface="Carlito Bold"/>
                <a:cs typeface="Carlito Bold"/>
                <a:sym typeface="Carlito Bold"/>
              </a:rPr>
              <a:t>Farmer-first agricultural trading platform with pooled delivery</a:t>
            </a:r>
          </a:p>
          <a:p>
            <a:pPr algn="l">
              <a:lnSpc>
                <a:spcPts val="2262"/>
              </a:lnSpc>
            </a:pPr>
            <a:r>
              <a:rPr lang="en-US" sz="1301">
                <a:solidFill>
                  <a:srgbClr val="657062"/>
                </a:solidFill>
                <a:latin typeface="Carlito"/>
                <a:ea typeface="Carlito"/>
                <a:cs typeface="Carlito"/>
                <a:sym typeface="Carlito"/>
              </a:rPr>
              <a:t>Theme – </a:t>
            </a:r>
            <a:r>
              <a:rPr lang="en-US" sz="1301" b="1">
                <a:solidFill>
                  <a:srgbClr val="11140F"/>
                </a:solidFill>
                <a:latin typeface="Carlito Bold"/>
                <a:ea typeface="Carlito Bold"/>
                <a:cs typeface="Carlito Bold"/>
                <a:sym typeface="Carlito Bold"/>
              </a:rPr>
              <a:t>Agriculture, FoodTech &amp; Rural Development</a:t>
            </a:r>
          </a:p>
          <a:p>
            <a:pPr algn="l">
              <a:lnSpc>
                <a:spcPts val="2262"/>
              </a:lnSpc>
            </a:pPr>
            <a:r>
              <a:rPr lang="en-US" sz="1301">
                <a:solidFill>
                  <a:srgbClr val="657062"/>
                </a:solidFill>
                <a:latin typeface="Carlito"/>
                <a:ea typeface="Carlito"/>
                <a:cs typeface="Carlito"/>
                <a:sym typeface="Carlito"/>
              </a:rPr>
              <a:t>PS Category – </a:t>
            </a:r>
            <a:r>
              <a:rPr lang="en-US" sz="1301" b="1">
                <a:solidFill>
                  <a:srgbClr val="11140F"/>
                </a:solidFill>
                <a:latin typeface="Carlito Bold"/>
                <a:ea typeface="Carlito Bold"/>
                <a:cs typeface="Carlito Bold"/>
                <a:sym typeface="Carlito Bold"/>
              </a:rPr>
              <a:t>Software</a:t>
            </a:r>
          </a:p>
          <a:p>
            <a:pPr algn="l">
              <a:lnSpc>
                <a:spcPts val="2262"/>
              </a:lnSpc>
            </a:pPr>
            <a:r>
              <a:rPr lang="en-US" sz="1301">
                <a:solidFill>
                  <a:srgbClr val="657062"/>
                </a:solidFill>
                <a:latin typeface="Carlito"/>
                <a:ea typeface="Carlito"/>
                <a:cs typeface="Carlito"/>
                <a:sym typeface="Carlito"/>
              </a:rPr>
              <a:t>Team ID – </a:t>
            </a:r>
            <a:r>
              <a:rPr lang="en-US" sz="1301" b="1">
                <a:solidFill>
                  <a:srgbClr val="11140F"/>
                </a:solidFill>
                <a:latin typeface="Carlito Bold"/>
                <a:ea typeface="Carlito Bold"/>
                <a:cs typeface="Carlito Bold"/>
                <a:sym typeface="Carlito Bold"/>
              </a:rPr>
              <a:t>SIH26-SW059</a:t>
            </a:r>
          </a:p>
          <a:p>
            <a:pPr algn="l">
              <a:lnSpc>
                <a:spcPts val="2262"/>
              </a:lnSpc>
            </a:pPr>
            <a:r>
              <a:rPr lang="en-US" sz="1301">
                <a:solidFill>
                  <a:srgbClr val="657062"/>
                </a:solidFill>
                <a:latin typeface="Carlito"/>
                <a:ea typeface="Carlito"/>
                <a:cs typeface="Carlito"/>
                <a:sym typeface="Carlito"/>
              </a:rPr>
              <a:t>Team Name – </a:t>
            </a:r>
            <a:r>
              <a:rPr lang="en-US" sz="1301" b="1">
                <a:solidFill>
                  <a:srgbClr val="11140F"/>
                </a:solidFill>
                <a:latin typeface="Carlito Bold"/>
                <a:ea typeface="Carlito Bold"/>
                <a:cs typeface="Carlito Bold"/>
                <a:sym typeface="Carlito Bold"/>
              </a:rPr>
              <a:t>Logic_Lords — Ramrao Adik Institute of Technology</a:t>
            </a:r>
          </a:p>
        </p:txBody>
      </p:sp>
      <p:sp>
        <p:nvSpPr>
          <p:cNvPr id="12" name="TextBox 12"/>
          <p:cNvSpPr txBox="1"/>
          <p:nvPr/>
        </p:nvSpPr>
        <p:spPr>
          <a:xfrm>
            <a:off x="328679" y="4823193"/>
            <a:ext cx="5781408" cy="441703"/>
          </a:xfrm>
          <a:prstGeom prst="rect">
            <a:avLst/>
          </a:prstGeom>
        </p:spPr>
        <p:txBody>
          <a:bodyPr lIns="0" tIns="0" rIns="0" bIns="0" rtlCol="0" anchor="t">
            <a:spAutoFit/>
          </a:bodyPr>
          <a:lstStyle/>
          <a:p>
            <a:pPr algn="l">
              <a:lnSpc>
                <a:spcPts val="1700"/>
              </a:lnSpc>
            </a:pPr>
            <a:r>
              <a:rPr lang="en-US" sz="1301">
                <a:solidFill>
                  <a:srgbClr val="2F6B3A"/>
                </a:solidFill>
                <a:latin typeface="Caladea"/>
                <a:ea typeface="Caladea"/>
                <a:cs typeface="Caladea"/>
                <a:sym typeface="Caladea"/>
              </a:rPr>
              <a:t>The farmer names their price. Everything after that is shared transport and a bill you can read.</a:t>
            </a:r>
          </a:p>
        </p:txBody>
      </p:sp>
      <p:sp>
        <p:nvSpPr>
          <p:cNvPr id="13" name="TextBox 13"/>
          <p:cNvSpPr txBox="1"/>
          <p:nvPr/>
        </p:nvSpPr>
        <p:spPr>
          <a:xfrm>
            <a:off x="328679" y="5610149"/>
            <a:ext cx="3021035" cy="208255"/>
          </a:xfrm>
          <a:prstGeom prst="rect">
            <a:avLst/>
          </a:prstGeom>
        </p:spPr>
        <p:txBody>
          <a:bodyPr lIns="0" tIns="0" rIns="0" bIns="0" rtlCol="0" anchor="t">
            <a:spAutoFit/>
          </a:bodyPr>
          <a:lstStyle/>
          <a:p>
            <a:pPr algn="l">
              <a:lnSpc>
                <a:spcPts val="1539"/>
              </a:lnSpc>
            </a:pPr>
            <a:r>
              <a:rPr lang="en-US" sz="1099">
                <a:solidFill>
                  <a:srgbClr val="657062"/>
                </a:solidFill>
                <a:latin typeface="Carlito"/>
                <a:ea typeface="Carlito"/>
                <a:cs typeface="Carlito"/>
                <a:sym typeface="Carlito"/>
              </a:rPr>
              <a:t>Working prototype live at krishisetu-weld.vercel.app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290853"/>
            <a:ext cx="12318759" cy="652958"/>
          </a:xfrm>
          <a:custGeom>
            <a:avLst/>
            <a:gdLst/>
            <a:ahLst/>
            <a:cxnLst/>
            <a:rect l="l" t="t" r="r" b="b"/>
            <a:pathLst>
              <a:path w="12318759" h="652958">
                <a:moveTo>
                  <a:pt x="0" y="0"/>
                </a:moveTo>
                <a:lnTo>
                  <a:pt x="12318759" y="0"/>
                </a:lnTo>
                <a:lnTo>
                  <a:pt x="12318759" y="652958"/>
                </a:lnTo>
                <a:lnTo>
                  <a:pt x="0" y="652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53479" y="175727"/>
            <a:ext cx="1404280" cy="960396"/>
          </a:xfrm>
          <a:custGeom>
            <a:avLst/>
            <a:gdLst/>
            <a:ahLst/>
            <a:cxnLst/>
            <a:rect l="l" t="t" r="r" b="b"/>
            <a:pathLst>
              <a:path w="1404280" h="960396">
                <a:moveTo>
                  <a:pt x="0" y="0"/>
                </a:moveTo>
                <a:lnTo>
                  <a:pt x="1404281" y="0"/>
                </a:lnTo>
                <a:lnTo>
                  <a:pt x="1404281" y="960396"/>
                </a:lnTo>
                <a:lnTo>
                  <a:pt x="0" y="9603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9780118" y="1076"/>
            <a:ext cx="2249643" cy="1061999"/>
            <a:chOff x="0" y="0"/>
            <a:chExt cx="2999524" cy="1415999"/>
          </a:xfrm>
        </p:grpSpPr>
        <p:sp>
          <p:nvSpPr>
            <p:cNvPr id="5" name="Freeform 5"/>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72" name="TextBox 72"/>
          <p:cNvSpPr txBox="1"/>
          <p:nvPr/>
        </p:nvSpPr>
        <p:spPr>
          <a:xfrm>
            <a:off x="3160443" y="29556"/>
            <a:ext cx="5113458" cy="604733"/>
          </a:xfrm>
          <a:prstGeom prst="rect">
            <a:avLst/>
          </a:prstGeom>
        </p:spPr>
        <p:txBody>
          <a:bodyPr lIns="0" tIns="0" rIns="0" bIns="0" rtlCol="0" anchor="t">
            <a:spAutoFit/>
          </a:bodyPr>
          <a:lstStyle/>
          <a:p>
            <a:pPr algn="l">
              <a:lnSpc>
                <a:spcPts val="5040"/>
              </a:lnSpc>
            </a:pPr>
            <a:r>
              <a:rPr lang="en-US" sz="3600" b="1" spc="-82" dirty="0">
                <a:solidFill>
                  <a:schemeClr val="accent1">
                    <a:lumMod val="75000"/>
                  </a:schemeClr>
                </a:solidFill>
                <a:latin typeface="Amasis MT Pro Black" panose="02040A04050005020304" pitchFamily="18" charset="0"/>
                <a:ea typeface="Montserrat Bold"/>
                <a:cs typeface="Montserrat Bold"/>
                <a:sym typeface="Montserrat Bold"/>
              </a:rPr>
              <a:t>KRISHISETU — POOLED FARMER-FIRST DELIVERY</a:t>
            </a:r>
          </a:p>
        </p:txBody>
      </p:sp>
      <p:sp>
        <p:nvSpPr>
          <p:cNvPr id="74" name="TextBox 74"/>
          <p:cNvSpPr txBox="1"/>
          <p:nvPr/>
        </p:nvSpPr>
        <p:spPr>
          <a:xfrm>
            <a:off x="11399406" y="6429670"/>
            <a:ext cx="93202"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a:ea typeface="Noto Sans"/>
                <a:cs typeface="Noto Sans"/>
                <a:sym typeface="Noto Sans"/>
              </a:rPr>
              <a:t>2</a:t>
            </a:r>
          </a:p>
        </p:txBody>
      </p:sp>
      <p:sp>
        <p:nvSpPr>
          <p:cNvPr id="75" name="TextBox 75"/>
          <p:cNvSpPr txBox="1"/>
          <p:nvPr/>
        </p:nvSpPr>
        <p:spPr>
          <a:xfrm>
            <a:off x="5077082" y="6441910"/>
            <a:ext cx="2389927"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Osage"/>
                <a:ea typeface="Noto Sans Osage"/>
                <a:cs typeface="Noto Sans Osage"/>
                <a:sym typeface="Noto Sans Osage"/>
              </a:rPr>
              <a:t>@SIH Idea submission- Template</a:t>
            </a:r>
          </a:p>
        </p:txBody>
      </p:sp>
      <p:sp>
        <p:nvSpPr>
          <p:cNvPr id="76" name="TextBox 76"/>
          <p:cNvSpPr txBox="1"/>
          <p:nvPr/>
        </p:nvSpPr>
        <p:spPr>
          <a:xfrm>
            <a:off x="654129" y="555231"/>
            <a:ext cx="615429" cy="193767"/>
          </a:xfrm>
          <a:prstGeom prst="rect">
            <a:avLst/>
          </a:prstGeom>
        </p:spPr>
        <p:txBody>
          <a:bodyPr lIns="0" tIns="0" rIns="0" bIns="0" rtlCol="0" anchor="t">
            <a:spAutoFit/>
          </a:bodyPr>
          <a:lstStyle/>
          <a:p>
            <a:pPr algn="l">
              <a:lnSpc>
                <a:spcPts val="1400"/>
              </a:lnSpc>
            </a:pPr>
            <a:r>
              <a:rPr lang="en-US" sz="1000">
                <a:solidFill>
                  <a:srgbClr val="000000"/>
                </a:solidFill>
                <a:latin typeface="Carlito"/>
                <a:ea typeface="Carlito"/>
                <a:cs typeface="Carlito"/>
                <a:sym typeface="Carlito"/>
              </a:rPr>
              <a:t>Logic_Lords</a:t>
            </a:r>
          </a:p>
        </p:txBody>
      </p:sp>
      <p:sp>
        <p:nvSpPr>
          <p:cNvPr id="78" name="TextBox 78"/>
          <p:cNvSpPr txBox="1"/>
          <p:nvPr/>
        </p:nvSpPr>
        <p:spPr>
          <a:xfrm>
            <a:off x="763686" y="1575664"/>
            <a:ext cx="26394" cy="169745"/>
          </a:xfrm>
          <a:prstGeom prst="rect">
            <a:avLst/>
          </a:prstGeom>
        </p:spPr>
        <p:txBody>
          <a:bodyPr lIns="0" tIns="0" rIns="0" bIns="0" rtlCol="0" anchor="t">
            <a:spAutoFit/>
          </a:bodyPr>
          <a:lstStyle/>
          <a:p>
            <a:pPr algn="l">
              <a:lnSpc>
                <a:spcPts val="1261"/>
              </a:lnSpc>
            </a:pPr>
            <a:r>
              <a:rPr lang="en-US" sz="901" b="1">
                <a:solidFill>
                  <a:srgbClr val="657062"/>
                </a:solidFill>
                <a:latin typeface="Carlito Bold"/>
                <a:ea typeface="Carlito Bold"/>
                <a:cs typeface="Carlito Bold"/>
                <a:sym typeface="Carlito Bold"/>
              </a:rPr>
              <a:t> </a:t>
            </a:r>
          </a:p>
        </p:txBody>
      </p:sp>
      <p:sp>
        <p:nvSpPr>
          <p:cNvPr id="81" name="TextBox 81"/>
          <p:cNvSpPr txBox="1"/>
          <p:nvPr/>
        </p:nvSpPr>
        <p:spPr>
          <a:xfrm>
            <a:off x="6764398" y="2548738"/>
            <a:ext cx="59084" cy="169745"/>
          </a:xfrm>
          <a:prstGeom prst="rect">
            <a:avLst/>
          </a:prstGeom>
        </p:spPr>
        <p:txBody>
          <a:bodyPr lIns="0" tIns="0" rIns="0" bIns="0" rtlCol="0" anchor="t">
            <a:spAutoFit/>
          </a:bodyPr>
          <a:lstStyle/>
          <a:p>
            <a:pPr algn="l">
              <a:lnSpc>
                <a:spcPts val="1261"/>
              </a:lnSpc>
            </a:pPr>
            <a:r>
              <a:rPr lang="en-US" sz="901" b="1" dirty="0">
                <a:solidFill>
                  <a:srgbClr val="FFFFFF"/>
                </a:solidFill>
                <a:latin typeface="Carlito Bold"/>
                <a:ea typeface="Carlito Bold"/>
                <a:cs typeface="Carlito Bold"/>
                <a:sym typeface="Carlito Bold"/>
              </a:rPr>
              <a:t>2</a:t>
            </a:r>
          </a:p>
        </p:txBody>
      </p:sp>
      <p:sp>
        <p:nvSpPr>
          <p:cNvPr id="83" name="TextBox 83"/>
          <p:cNvSpPr txBox="1"/>
          <p:nvPr/>
        </p:nvSpPr>
        <p:spPr>
          <a:xfrm>
            <a:off x="6446520" y="3751859"/>
            <a:ext cx="1845154" cy="155555"/>
          </a:xfrm>
          <a:prstGeom prst="rect">
            <a:avLst/>
          </a:prstGeom>
        </p:spPr>
        <p:txBody>
          <a:bodyPr lIns="0" tIns="0" rIns="0" bIns="0" rtlCol="0" anchor="t">
            <a:spAutoFit/>
          </a:bodyPr>
          <a:lstStyle/>
          <a:p>
            <a:pPr algn="l">
              <a:lnSpc>
                <a:spcPts val="1261"/>
              </a:lnSpc>
            </a:pPr>
            <a:endParaRPr lang="en-US" sz="901" b="1" spc="137" dirty="0">
              <a:solidFill>
                <a:srgbClr val="657062"/>
              </a:solidFill>
              <a:latin typeface="Carlito Bold"/>
              <a:ea typeface="Carlito Bold"/>
              <a:cs typeface="Carlito Bold"/>
              <a:sym typeface="Carlito Bold"/>
            </a:endParaRPr>
          </a:p>
        </p:txBody>
      </p:sp>
      <p:sp>
        <p:nvSpPr>
          <p:cNvPr id="86" name="TextBox 86"/>
          <p:cNvSpPr txBox="1"/>
          <p:nvPr/>
        </p:nvSpPr>
        <p:spPr>
          <a:xfrm>
            <a:off x="7935144" y="1946243"/>
            <a:ext cx="33690" cy="225238"/>
          </a:xfrm>
          <a:prstGeom prst="rect">
            <a:avLst/>
          </a:prstGeom>
        </p:spPr>
        <p:txBody>
          <a:bodyPr lIns="0" tIns="0" rIns="0" bIns="0" rtlCol="0" anchor="t">
            <a:spAutoFit/>
          </a:bodyPr>
          <a:lstStyle/>
          <a:p>
            <a:pPr algn="l">
              <a:lnSpc>
                <a:spcPts val="1611"/>
              </a:lnSpc>
            </a:pPr>
            <a:r>
              <a:rPr lang="en-US" sz="1150" b="1" spc="920">
                <a:solidFill>
                  <a:srgbClr val="11140F"/>
                </a:solidFill>
                <a:latin typeface="Carlito Bold"/>
                <a:ea typeface="Carlito Bold"/>
                <a:cs typeface="Carlito Bold"/>
                <a:sym typeface="Carlito Bold"/>
              </a:rPr>
              <a:t> </a:t>
            </a:r>
          </a:p>
        </p:txBody>
      </p:sp>
      <p:sp>
        <p:nvSpPr>
          <p:cNvPr id="87" name="TextBox 87"/>
          <p:cNvSpPr txBox="1"/>
          <p:nvPr/>
        </p:nvSpPr>
        <p:spPr>
          <a:xfrm>
            <a:off x="7661872" y="5347887"/>
            <a:ext cx="33690" cy="225238"/>
          </a:xfrm>
          <a:prstGeom prst="rect">
            <a:avLst/>
          </a:prstGeom>
        </p:spPr>
        <p:txBody>
          <a:bodyPr lIns="0" tIns="0" rIns="0" bIns="0" rtlCol="0" anchor="t">
            <a:spAutoFit/>
          </a:bodyPr>
          <a:lstStyle/>
          <a:p>
            <a:pPr algn="l">
              <a:lnSpc>
                <a:spcPts val="1611"/>
              </a:lnSpc>
            </a:pPr>
            <a:r>
              <a:rPr lang="en-US" sz="1150" b="1">
                <a:solidFill>
                  <a:srgbClr val="11140F"/>
                </a:solidFill>
                <a:latin typeface="Carlito Bold"/>
                <a:ea typeface="Carlito Bold"/>
                <a:cs typeface="Carlito Bold"/>
                <a:sym typeface="Carlito Bold"/>
              </a:rPr>
              <a:t> </a:t>
            </a:r>
          </a:p>
        </p:txBody>
      </p:sp>
      <p:sp>
        <p:nvSpPr>
          <p:cNvPr id="88" name="TextBox 88"/>
          <p:cNvSpPr txBox="1"/>
          <p:nvPr/>
        </p:nvSpPr>
        <p:spPr>
          <a:xfrm>
            <a:off x="6976796" y="5569325"/>
            <a:ext cx="2494855" cy="155555"/>
          </a:xfrm>
          <a:prstGeom prst="rect">
            <a:avLst/>
          </a:prstGeom>
        </p:spPr>
        <p:txBody>
          <a:bodyPr lIns="0" tIns="0" rIns="0" bIns="0" rtlCol="0" anchor="t">
            <a:spAutoFit/>
          </a:bodyPr>
          <a:lstStyle/>
          <a:p>
            <a:pPr algn="l">
              <a:lnSpc>
                <a:spcPts val="1261"/>
              </a:lnSpc>
            </a:pPr>
            <a:endParaRPr lang="en-US" sz="901" dirty="0">
              <a:solidFill>
                <a:srgbClr val="657062"/>
              </a:solidFill>
              <a:latin typeface="Carlito"/>
              <a:ea typeface="Carlito"/>
              <a:cs typeface="Carlito"/>
              <a:sym typeface="Carlito"/>
            </a:endParaRPr>
          </a:p>
        </p:txBody>
      </p:sp>
      <p:sp>
        <p:nvSpPr>
          <p:cNvPr id="89" name="TextBox 89"/>
          <p:cNvSpPr txBox="1"/>
          <p:nvPr/>
        </p:nvSpPr>
        <p:spPr>
          <a:xfrm>
            <a:off x="7833027" y="4067727"/>
            <a:ext cx="33690" cy="225238"/>
          </a:xfrm>
          <a:prstGeom prst="rect">
            <a:avLst/>
          </a:prstGeom>
        </p:spPr>
        <p:txBody>
          <a:bodyPr lIns="0" tIns="0" rIns="0" bIns="0" rtlCol="0" anchor="t">
            <a:spAutoFit/>
          </a:bodyPr>
          <a:lstStyle/>
          <a:p>
            <a:pPr algn="l">
              <a:lnSpc>
                <a:spcPts val="1611"/>
              </a:lnSpc>
            </a:pPr>
            <a:r>
              <a:rPr lang="en-US" sz="1150" b="1">
                <a:solidFill>
                  <a:srgbClr val="11140F"/>
                </a:solidFill>
                <a:latin typeface="Carlito Bold"/>
                <a:ea typeface="Carlito Bold"/>
                <a:cs typeface="Carlito Bold"/>
                <a:sym typeface="Carlito Bold"/>
              </a:rPr>
              <a:t> </a:t>
            </a:r>
          </a:p>
        </p:txBody>
      </p:sp>
      <p:sp>
        <p:nvSpPr>
          <p:cNvPr id="90" name="TextBox 90"/>
          <p:cNvSpPr txBox="1"/>
          <p:nvPr/>
        </p:nvSpPr>
        <p:spPr>
          <a:xfrm>
            <a:off x="6976796" y="4289165"/>
            <a:ext cx="2649569" cy="155555"/>
          </a:xfrm>
          <a:prstGeom prst="rect">
            <a:avLst/>
          </a:prstGeom>
        </p:spPr>
        <p:txBody>
          <a:bodyPr lIns="0" tIns="0" rIns="0" bIns="0" rtlCol="0" anchor="t">
            <a:spAutoFit/>
          </a:bodyPr>
          <a:lstStyle/>
          <a:p>
            <a:pPr algn="l">
              <a:lnSpc>
                <a:spcPts val="1261"/>
              </a:lnSpc>
            </a:pPr>
            <a:endParaRPr lang="en-US" sz="901" dirty="0">
              <a:solidFill>
                <a:srgbClr val="657062"/>
              </a:solidFill>
              <a:latin typeface="Carlito"/>
              <a:ea typeface="Carlito"/>
              <a:cs typeface="Carlito"/>
              <a:sym typeface="Carlito"/>
            </a:endParaRPr>
          </a:p>
        </p:txBody>
      </p:sp>
      <p:sp>
        <p:nvSpPr>
          <p:cNvPr id="91" name="TextBox 91"/>
          <p:cNvSpPr txBox="1"/>
          <p:nvPr/>
        </p:nvSpPr>
        <p:spPr>
          <a:xfrm>
            <a:off x="7217816" y="4707807"/>
            <a:ext cx="33690" cy="225238"/>
          </a:xfrm>
          <a:prstGeom prst="rect">
            <a:avLst/>
          </a:prstGeom>
        </p:spPr>
        <p:txBody>
          <a:bodyPr lIns="0" tIns="0" rIns="0" bIns="0" rtlCol="0" anchor="t">
            <a:spAutoFit/>
          </a:bodyPr>
          <a:lstStyle/>
          <a:p>
            <a:pPr algn="l">
              <a:lnSpc>
                <a:spcPts val="1611"/>
              </a:lnSpc>
            </a:pPr>
            <a:r>
              <a:rPr lang="en-US" sz="1150" b="1">
                <a:solidFill>
                  <a:srgbClr val="11140F"/>
                </a:solidFill>
                <a:latin typeface="Carlito Bold"/>
                <a:ea typeface="Carlito Bold"/>
                <a:cs typeface="Carlito Bold"/>
                <a:sym typeface="Carlito Bold"/>
              </a:rPr>
              <a:t> </a:t>
            </a:r>
          </a:p>
        </p:txBody>
      </p:sp>
      <p:sp>
        <p:nvSpPr>
          <p:cNvPr id="102" name="TextBox 102"/>
          <p:cNvSpPr txBox="1"/>
          <p:nvPr/>
        </p:nvSpPr>
        <p:spPr>
          <a:xfrm>
            <a:off x="6692760" y="5491858"/>
            <a:ext cx="75362" cy="208255"/>
          </a:xfrm>
          <a:prstGeom prst="rect">
            <a:avLst/>
          </a:prstGeom>
        </p:spPr>
        <p:txBody>
          <a:bodyPr lIns="0" tIns="0" rIns="0" bIns="0" rtlCol="0" anchor="t">
            <a:spAutoFit/>
          </a:bodyPr>
          <a:lstStyle/>
          <a:p>
            <a:pPr algn="l">
              <a:lnSpc>
                <a:spcPts val="1539"/>
              </a:lnSpc>
            </a:pPr>
            <a:r>
              <a:rPr lang="en-US" sz="1099" b="1">
                <a:solidFill>
                  <a:srgbClr val="FFFFFF"/>
                </a:solidFill>
                <a:latin typeface="Carlito Bold"/>
                <a:ea typeface="Carlito Bold"/>
                <a:cs typeface="Carlito Bold"/>
                <a:sym typeface="Carlito Bold"/>
              </a:rPr>
              <a:t>C</a:t>
            </a:r>
          </a:p>
        </p:txBody>
      </p:sp>
      <p:sp>
        <p:nvSpPr>
          <p:cNvPr id="105" name="TextBox 105"/>
          <p:cNvSpPr txBox="1"/>
          <p:nvPr/>
        </p:nvSpPr>
        <p:spPr>
          <a:xfrm>
            <a:off x="1516542" y="4180846"/>
            <a:ext cx="27803" cy="176794"/>
          </a:xfrm>
          <a:prstGeom prst="rect">
            <a:avLst/>
          </a:prstGeom>
        </p:spPr>
        <p:txBody>
          <a:bodyPr lIns="0" tIns="0" rIns="0" bIns="0" rtlCol="0" anchor="t">
            <a:spAutoFit/>
          </a:bodyPr>
          <a:lstStyle/>
          <a:p>
            <a:pPr algn="l">
              <a:lnSpc>
                <a:spcPts val="1329"/>
              </a:lnSpc>
            </a:pPr>
            <a:r>
              <a:rPr lang="en-US" sz="949">
                <a:solidFill>
                  <a:srgbClr val="657062"/>
                </a:solidFill>
                <a:latin typeface="Carlito"/>
                <a:ea typeface="Carlito"/>
                <a:cs typeface="Carlito"/>
                <a:sym typeface="Carlito"/>
              </a:rPr>
              <a:t> </a:t>
            </a:r>
          </a:p>
        </p:txBody>
      </p:sp>
      <p:sp>
        <p:nvSpPr>
          <p:cNvPr id="108" name="TextBox 108"/>
          <p:cNvSpPr txBox="1"/>
          <p:nvPr/>
        </p:nvSpPr>
        <p:spPr>
          <a:xfrm>
            <a:off x="1378820" y="4930369"/>
            <a:ext cx="27803" cy="176794"/>
          </a:xfrm>
          <a:prstGeom prst="rect">
            <a:avLst/>
          </a:prstGeom>
        </p:spPr>
        <p:txBody>
          <a:bodyPr lIns="0" tIns="0" rIns="0" bIns="0" rtlCol="0" anchor="t">
            <a:spAutoFit/>
          </a:bodyPr>
          <a:lstStyle/>
          <a:p>
            <a:pPr algn="l">
              <a:lnSpc>
                <a:spcPts val="1329"/>
              </a:lnSpc>
            </a:pPr>
            <a:r>
              <a:rPr lang="en-US" sz="949">
                <a:solidFill>
                  <a:srgbClr val="657062"/>
                </a:solidFill>
                <a:latin typeface="Carlito"/>
                <a:ea typeface="Carlito"/>
                <a:cs typeface="Carlito"/>
                <a:sym typeface="Carlito"/>
              </a:rPr>
              <a:t> </a:t>
            </a:r>
          </a:p>
        </p:txBody>
      </p:sp>
      <p:sp>
        <p:nvSpPr>
          <p:cNvPr id="111" name="TextBox 111"/>
          <p:cNvSpPr txBox="1"/>
          <p:nvPr/>
        </p:nvSpPr>
        <p:spPr>
          <a:xfrm>
            <a:off x="8270443" y="2476881"/>
            <a:ext cx="33690" cy="225238"/>
          </a:xfrm>
          <a:prstGeom prst="rect">
            <a:avLst/>
          </a:prstGeom>
        </p:spPr>
        <p:txBody>
          <a:bodyPr lIns="0" tIns="0" rIns="0" bIns="0" rtlCol="0" anchor="t">
            <a:spAutoFit/>
          </a:bodyPr>
          <a:lstStyle/>
          <a:p>
            <a:pPr algn="l">
              <a:lnSpc>
                <a:spcPts val="1611"/>
              </a:lnSpc>
            </a:pPr>
            <a:r>
              <a:rPr lang="en-US" sz="1150" b="1">
                <a:solidFill>
                  <a:srgbClr val="11140F"/>
                </a:solidFill>
                <a:latin typeface="Carlito Bold"/>
                <a:ea typeface="Carlito Bold"/>
                <a:cs typeface="Carlito Bold"/>
                <a:sym typeface="Carlito Bold"/>
              </a:rPr>
              <a:t> </a:t>
            </a:r>
          </a:p>
        </p:txBody>
      </p:sp>
      <p:sp>
        <p:nvSpPr>
          <p:cNvPr id="112" name="TextBox 112"/>
          <p:cNvSpPr txBox="1"/>
          <p:nvPr/>
        </p:nvSpPr>
        <p:spPr>
          <a:xfrm>
            <a:off x="6995160" y="2703776"/>
            <a:ext cx="2951416" cy="157159"/>
          </a:xfrm>
          <a:prstGeom prst="rect">
            <a:avLst/>
          </a:prstGeom>
        </p:spPr>
        <p:txBody>
          <a:bodyPr lIns="0" tIns="0" rIns="0" bIns="0" rtlCol="0" anchor="t">
            <a:spAutoFit/>
          </a:bodyPr>
          <a:lstStyle/>
          <a:p>
            <a:pPr algn="l">
              <a:lnSpc>
                <a:spcPts val="1329"/>
              </a:lnSpc>
            </a:pPr>
            <a:r>
              <a:rPr lang="en-US" sz="949" dirty="0">
                <a:solidFill>
                  <a:srgbClr val="657062"/>
                </a:solidFill>
                <a:latin typeface="Carlito"/>
                <a:ea typeface="Carlito"/>
                <a:cs typeface="Carlito"/>
                <a:sym typeface="Carlito"/>
              </a:rPr>
              <a:t>.</a:t>
            </a:r>
          </a:p>
        </p:txBody>
      </p:sp>
      <p:sp>
        <p:nvSpPr>
          <p:cNvPr id="114" name="TextBox 114"/>
          <p:cNvSpPr txBox="1"/>
          <p:nvPr/>
        </p:nvSpPr>
        <p:spPr>
          <a:xfrm>
            <a:off x="7912922" y="3007157"/>
            <a:ext cx="33690" cy="225238"/>
          </a:xfrm>
          <a:prstGeom prst="rect">
            <a:avLst/>
          </a:prstGeom>
        </p:spPr>
        <p:txBody>
          <a:bodyPr lIns="0" tIns="0" rIns="0" bIns="0" rtlCol="0" anchor="t">
            <a:spAutoFit/>
          </a:bodyPr>
          <a:lstStyle/>
          <a:p>
            <a:pPr algn="l">
              <a:lnSpc>
                <a:spcPts val="1611"/>
              </a:lnSpc>
            </a:pPr>
            <a:r>
              <a:rPr lang="en-US" sz="1150" b="1">
                <a:solidFill>
                  <a:srgbClr val="11140F"/>
                </a:solidFill>
                <a:latin typeface="Carlito Bold"/>
                <a:ea typeface="Carlito Bold"/>
                <a:cs typeface="Carlito Bold"/>
                <a:sym typeface="Carlito Bold"/>
              </a:rPr>
              <a:t> </a:t>
            </a:r>
          </a:p>
        </p:txBody>
      </p:sp>
      <p:sp>
        <p:nvSpPr>
          <p:cNvPr id="120" name="TextBox 120"/>
          <p:cNvSpPr txBox="1"/>
          <p:nvPr/>
        </p:nvSpPr>
        <p:spPr>
          <a:xfrm>
            <a:off x="6976796" y="5347887"/>
            <a:ext cx="1242050" cy="192810"/>
          </a:xfrm>
          <a:prstGeom prst="rect">
            <a:avLst/>
          </a:prstGeom>
        </p:spPr>
        <p:txBody>
          <a:bodyPr lIns="0" tIns="0" rIns="0" bIns="0" rtlCol="0" anchor="t">
            <a:spAutoFit/>
          </a:bodyPr>
          <a:lstStyle/>
          <a:p>
            <a:pPr algn="l">
              <a:lnSpc>
                <a:spcPts val="1611"/>
              </a:lnSpc>
            </a:pPr>
            <a:endParaRPr lang="en-US" sz="1150" b="1" dirty="0">
              <a:solidFill>
                <a:srgbClr val="11140F"/>
              </a:solidFill>
              <a:latin typeface="Carlito Bold"/>
              <a:ea typeface="Carlito Bold"/>
              <a:cs typeface="Carlito Bold"/>
              <a:sym typeface="Carlito Bold"/>
            </a:endParaRPr>
          </a:p>
        </p:txBody>
      </p:sp>
      <p:sp>
        <p:nvSpPr>
          <p:cNvPr id="129" name="TextBox 129"/>
          <p:cNvSpPr txBox="1"/>
          <p:nvPr/>
        </p:nvSpPr>
        <p:spPr>
          <a:xfrm>
            <a:off x="502568" y="5952896"/>
            <a:ext cx="5496144" cy="152771"/>
          </a:xfrm>
          <a:prstGeom prst="rect">
            <a:avLst/>
          </a:prstGeom>
        </p:spPr>
        <p:txBody>
          <a:bodyPr lIns="0" tIns="0" rIns="0" bIns="0" rtlCol="0" anchor="t">
            <a:spAutoFit/>
          </a:bodyPr>
          <a:lstStyle/>
          <a:p>
            <a:pPr algn="l">
              <a:lnSpc>
                <a:spcPts val="1190"/>
              </a:lnSpc>
            </a:pPr>
            <a:r>
              <a:rPr lang="en-US" sz="850" i="1" dirty="0">
                <a:solidFill>
                  <a:srgbClr val="657062"/>
                </a:solidFill>
                <a:latin typeface="Carlito Italics"/>
                <a:ea typeface="Carlito Italics"/>
                <a:cs typeface="Carlito Italics"/>
                <a:sym typeface="Carlito Italics"/>
              </a:rPr>
              <a:t>Worked with the same pricing function the live site uses. ₹55/kg is an assumed quick-commerce reference, not a live scrape.</a:t>
            </a:r>
          </a:p>
        </p:txBody>
      </p:sp>
      <p:pic>
        <p:nvPicPr>
          <p:cNvPr id="134" name="Picture 133">
            <a:extLst>
              <a:ext uri="{FF2B5EF4-FFF2-40B4-BE49-F238E27FC236}">
                <a16:creationId xmlns:a16="http://schemas.microsoft.com/office/drawing/2014/main" id="{29059190-0253-53FD-34D8-AF8A0B1DC8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589" y="1095192"/>
            <a:ext cx="5514635" cy="4820583"/>
          </a:xfrm>
          <a:prstGeom prst="rect">
            <a:avLst/>
          </a:prstGeom>
        </p:spPr>
      </p:pic>
      <p:pic>
        <p:nvPicPr>
          <p:cNvPr id="7" name="Picture 6">
            <a:extLst>
              <a:ext uri="{FF2B5EF4-FFF2-40B4-BE49-F238E27FC236}">
                <a16:creationId xmlns:a16="http://schemas.microsoft.com/office/drawing/2014/main" id="{52AA0C5F-4A2D-C068-CEA0-EA8794CC5359}"/>
              </a:ext>
            </a:extLst>
          </p:cNvPr>
          <p:cNvPicPr>
            <a:picLocks noChangeAspect="1"/>
          </p:cNvPicPr>
          <p:nvPr/>
        </p:nvPicPr>
        <p:blipFill>
          <a:blip r:embed="rId6"/>
          <a:stretch>
            <a:fillRect/>
          </a:stretch>
        </p:blipFill>
        <p:spPr>
          <a:xfrm>
            <a:off x="6268997" y="970799"/>
            <a:ext cx="5514635" cy="50693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290853"/>
            <a:ext cx="12318759" cy="652958"/>
          </a:xfrm>
          <a:custGeom>
            <a:avLst/>
            <a:gdLst/>
            <a:ahLst/>
            <a:cxnLst/>
            <a:rect l="l" t="t" r="r" b="b"/>
            <a:pathLst>
              <a:path w="12318759" h="652958">
                <a:moveTo>
                  <a:pt x="0" y="0"/>
                </a:moveTo>
                <a:lnTo>
                  <a:pt x="12318759" y="0"/>
                </a:lnTo>
                <a:lnTo>
                  <a:pt x="12318759" y="652958"/>
                </a:lnTo>
                <a:lnTo>
                  <a:pt x="0" y="652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53479" y="175727"/>
            <a:ext cx="1404280" cy="960396"/>
          </a:xfrm>
          <a:custGeom>
            <a:avLst/>
            <a:gdLst/>
            <a:ahLst/>
            <a:cxnLst/>
            <a:rect l="l" t="t" r="r" b="b"/>
            <a:pathLst>
              <a:path w="1404280" h="960396">
                <a:moveTo>
                  <a:pt x="0" y="0"/>
                </a:moveTo>
                <a:lnTo>
                  <a:pt x="1404281" y="0"/>
                </a:lnTo>
                <a:lnTo>
                  <a:pt x="1404281" y="960396"/>
                </a:lnTo>
                <a:lnTo>
                  <a:pt x="0" y="9603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9780118" y="1076"/>
            <a:ext cx="2249643" cy="1061999"/>
            <a:chOff x="0" y="0"/>
            <a:chExt cx="2999524" cy="1415999"/>
          </a:xfrm>
        </p:grpSpPr>
        <p:sp>
          <p:nvSpPr>
            <p:cNvPr id="5" name="Freeform 5"/>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6" name="Freeform 6"/>
          <p:cNvSpPr/>
          <p:nvPr/>
        </p:nvSpPr>
        <p:spPr>
          <a:xfrm>
            <a:off x="434388" y="1723177"/>
            <a:ext cx="1855708" cy="868232"/>
          </a:xfrm>
          <a:custGeom>
            <a:avLst/>
            <a:gdLst/>
            <a:ahLst/>
            <a:cxnLst/>
            <a:rect l="l" t="t" r="r" b="b"/>
            <a:pathLst>
              <a:path w="1855708" h="868232">
                <a:moveTo>
                  <a:pt x="0" y="0"/>
                </a:moveTo>
                <a:lnTo>
                  <a:pt x="1855708" y="0"/>
                </a:lnTo>
                <a:lnTo>
                  <a:pt x="1855708" y="868233"/>
                </a:lnTo>
                <a:lnTo>
                  <a:pt x="0" y="868233"/>
                </a:lnTo>
                <a:lnTo>
                  <a:pt x="0" y="0"/>
                </a:lnTo>
                <a:close/>
              </a:path>
            </a:pathLst>
          </a:custGeom>
          <a:blipFill>
            <a:blip>
              <a:alphaModFix amt="34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2336263" y="1723177"/>
            <a:ext cx="1855727" cy="868232"/>
          </a:xfrm>
          <a:custGeom>
            <a:avLst/>
            <a:gdLst/>
            <a:ahLst/>
            <a:cxnLst/>
            <a:rect l="l" t="t" r="r" b="b"/>
            <a:pathLst>
              <a:path w="1855727" h="868232">
                <a:moveTo>
                  <a:pt x="0" y="0"/>
                </a:moveTo>
                <a:lnTo>
                  <a:pt x="1855728" y="0"/>
                </a:lnTo>
                <a:lnTo>
                  <a:pt x="1855728" y="868233"/>
                </a:lnTo>
                <a:lnTo>
                  <a:pt x="0" y="868233"/>
                </a:lnTo>
                <a:lnTo>
                  <a:pt x="0" y="0"/>
                </a:lnTo>
                <a:close/>
              </a:path>
            </a:pathLst>
          </a:custGeom>
          <a:blipFill>
            <a:blip>
              <a:alphaModFix amt="34999"/>
              <a:extLst>
                <a:ext uri="{96DAC541-7B7A-43D3-8B79-37D633B846F1}">
                  <asvg:svgBlip xmlns:asvg="http://schemas.microsoft.com/office/drawing/2016/SVG/main" r:embed="rId6"/>
                </a:ext>
              </a:extLst>
            </a:blip>
            <a:stretch>
              <a:fillRect/>
            </a:stretch>
          </a:blipFill>
        </p:spPr>
        <p:txBody>
          <a:bodyPr/>
          <a:lstStyle/>
          <a:p>
            <a:endParaRPr lang="en-IN"/>
          </a:p>
        </p:txBody>
      </p:sp>
      <p:sp>
        <p:nvSpPr>
          <p:cNvPr id="8" name="Freeform 8"/>
          <p:cNvSpPr/>
          <p:nvPr/>
        </p:nvSpPr>
        <p:spPr>
          <a:xfrm>
            <a:off x="4238139" y="1723177"/>
            <a:ext cx="1855727" cy="868232"/>
          </a:xfrm>
          <a:custGeom>
            <a:avLst/>
            <a:gdLst/>
            <a:ahLst/>
            <a:cxnLst/>
            <a:rect l="l" t="t" r="r" b="b"/>
            <a:pathLst>
              <a:path w="1855727" h="868232">
                <a:moveTo>
                  <a:pt x="0" y="0"/>
                </a:moveTo>
                <a:lnTo>
                  <a:pt x="1855727" y="0"/>
                </a:lnTo>
                <a:lnTo>
                  <a:pt x="1855727" y="868233"/>
                </a:lnTo>
                <a:lnTo>
                  <a:pt x="0" y="868233"/>
                </a:lnTo>
                <a:lnTo>
                  <a:pt x="0" y="0"/>
                </a:lnTo>
                <a:close/>
              </a:path>
            </a:pathLst>
          </a:custGeom>
          <a:blipFill>
            <a:blip>
              <a:alphaModFix amt="34999"/>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Freeform 9"/>
          <p:cNvSpPr/>
          <p:nvPr/>
        </p:nvSpPr>
        <p:spPr>
          <a:xfrm>
            <a:off x="6140377" y="1723177"/>
            <a:ext cx="1855727" cy="868232"/>
          </a:xfrm>
          <a:custGeom>
            <a:avLst/>
            <a:gdLst/>
            <a:ahLst/>
            <a:cxnLst/>
            <a:rect l="l" t="t" r="r" b="b"/>
            <a:pathLst>
              <a:path w="1855727" h="868232">
                <a:moveTo>
                  <a:pt x="0" y="0"/>
                </a:moveTo>
                <a:lnTo>
                  <a:pt x="1855727" y="0"/>
                </a:lnTo>
                <a:lnTo>
                  <a:pt x="1855727" y="868233"/>
                </a:lnTo>
                <a:lnTo>
                  <a:pt x="0" y="868233"/>
                </a:lnTo>
                <a:lnTo>
                  <a:pt x="0" y="0"/>
                </a:lnTo>
                <a:close/>
              </a:path>
            </a:pathLst>
          </a:custGeom>
          <a:blipFill>
            <a:blip>
              <a:alphaModFix amt="34999"/>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0" name="Freeform 10"/>
          <p:cNvSpPr/>
          <p:nvPr/>
        </p:nvSpPr>
        <p:spPr>
          <a:xfrm>
            <a:off x="8042253" y="1723177"/>
            <a:ext cx="1855727" cy="868232"/>
          </a:xfrm>
          <a:custGeom>
            <a:avLst/>
            <a:gdLst/>
            <a:ahLst/>
            <a:cxnLst/>
            <a:rect l="l" t="t" r="r" b="b"/>
            <a:pathLst>
              <a:path w="1855727" h="868232">
                <a:moveTo>
                  <a:pt x="0" y="0"/>
                </a:moveTo>
                <a:lnTo>
                  <a:pt x="1855727" y="0"/>
                </a:lnTo>
                <a:lnTo>
                  <a:pt x="1855727" y="868233"/>
                </a:lnTo>
                <a:lnTo>
                  <a:pt x="0" y="868233"/>
                </a:lnTo>
                <a:lnTo>
                  <a:pt x="0" y="0"/>
                </a:lnTo>
                <a:close/>
              </a:path>
            </a:pathLst>
          </a:custGeom>
          <a:blipFill>
            <a:blip>
              <a:alphaModFix amt="34999"/>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5" name="TextBox 75"/>
          <p:cNvSpPr txBox="1"/>
          <p:nvPr/>
        </p:nvSpPr>
        <p:spPr>
          <a:xfrm>
            <a:off x="3384004" y="256346"/>
            <a:ext cx="5528510" cy="604733"/>
          </a:xfrm>
          <a:prstGeom prst="rect">
            <a:avLst/>
          </a:prstGeom>
        </p:spPr>
        <p:txBody>
          <a:bodyPr lIns="0" tIns="0" rIns="0" bIns="0" rtlCol="0" anchor="t">
            <a:spAutoFit/>
          </a:bodyPr>
          <a:lstStyle/>
          <a:p>
            <a:pPr algn="l">
              <a:lnSpc>
                <a:spcPts val="5040"/>
              </a:lnSpc>
            </a:pPr>
            <a:r>
              <a:rPr lang="en-US" sz="3600" b="1" spc="-82" dirty="0">
                <a:solidFill>
                  <a:schemeClr val="accent1">
                    <a:lumMod val="75000"/>
                  </a:schemeClr>
                </a:solidFill>
                <a:latin typeface="Amasis MT Pro Black" panose="02040A04050005020304" pitchFamily="18" charset="0"/>
                <a:ea typeface="Montserrat Bold"/>
                <a:cs typeface="Montserrat Bold"/>
                <a:sym typeface="Montserrat Bold"/>
              </a:rPr>
              <a:t>TECHNICAL APPROACH</a:t>
            </a:r>
          </a:p>
        </p:txBody>
      </p:sp>
      <p:sp>
        <p:nvSpPr>
          <p:cNvPr id="76" name="TextBox 76"/>
          <p:cNvSpPr txBox="1"/>
          <p:nvPr/>
        </p:nvSpPr>
        <p:spPr>
          <a:xfrm>
            <a:off x="3651428" y="1056913"/>
            <a:ext cx="45558" cy="289846"/>
          </a:xfrm>
          <a:prstGeom prst="rect">
            <a:avLst/>
          </a:prstGeom>
        </p:spPr>
        <p:txBody>
          <a:bodyPr lIns="0" tIns="0" rIns="0" bIns="0" rtlCol="0" anchor="t">
            <a:spAutoFit/>
          </a:bodyPr>
          <a:lstStyle/>
          <a:p>
            <a:pPr algn="l">
              <a:lnSpc>
                <a:spcPts val="2238"/>
              </a:lnSpc>
            </a:pPr>
            <a:r>
              <a:rPr lang="en-US" sz="1598" b="1">
                <a:solidFill>
                  <a:srgbClr val="11140F"/>
                </a:solidFill>
                <a:latin typeface="Caladea Bold"/>
                <a:ea typeface="Caladea Bold"/>
                <a:cs typeface="Caladea Bold"/>
                <a:sym typeface="Caladea Bold"/>
              </a:rPr>
              <a:t> </a:t>
            </a:r>
          </a:p>
        </p:txBody>
      </p:sp>
      <p:sp>
        <p:nvSpPr>
          <p:cNvPr id="77" name="TextBox 77"/>
          <p:cNvSpPr txBox="1"/>
          <p:nvPr/>
        </p:nvSpPr>
        <p:spPr>
          <a:xfrm>
            <a:off x="11399406" y="6429670"/>
            <a:ext cx="93202"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a:ea typeface="Noto Sans"/>
                <a:cs typeface="Noto Sans"/>
                <a:sym typeface="Noto Sans"/>
              </a:rPr>
              <a:t>3</a:t>
            </a:r>
          </a:p>
        </p:txBody>
      </p:sp>
      <p:sp>
        <p:nvSpPr>
          <p:cNvPr id="78" name="TextBox 78"/>
          <p:cNvSpPr txBox="1"/>
          <p:nvPr/>
        </p:nvSpPr>
        <p:spPr>
          <a:xfrm>
            <a:off x="5077082" y="6441910"/>
            <a:ext cx="2389927"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Osage"/>
                <a:ea typeface="Noto Sans Osage"/>
                <a:cs typeface="Noto Sans Osage"/>
                <a:sym typeface="Noto Sans Osage"/>
              </a:rPr>
              <a:t>@SIH Idea submission- Template</a:t>
            </a:r>
          </a:p>
        </p:txBody>
      </p:sp>
      <p:sp>
        <p:nvSpPr>
          <p:cNvPr id="79" name="TextBox 79"/>
          <p:cNvSpPr txBox="1"/>
          <p:nvPr/>
        </p:nvSpPr>
        <p:spPr>
          <a:xfrm>
            <a:off x="654129" y="555231"/>
            <a:ext cx="615429" cy="193767"/>
          </a:xfrm>
          <a:prstGeom prst="rect">
            <a:avLst/>
          </a:prstGeom>
        </p:spPr>
        <p:txBody>
          <a:bodyPr lIns="0" tIns="0" rIns="0" bIns="0" rtlCol="0" anchor="t">
            <a:spAutoFit/>
          </a:bodyPr>
          <a:lstStyle/>
          <a:p>
            <a:pPr algn="l">
              <a:lnSpc>
                <a:spcPts val="1400"/>
              </a:lnSpc>
            </a:pPr>
            <a:r>
              <a:rPr lang="en-US" sz="1000">
                <a:solidFill>
                  <a:srgbClr val="000000"/>
                </a:solidFill>
                <a:latin typeface="Carlito"/>
                <a:ea typeface="Carlito"/>
                <a:cs typeface="Carlito"/>
                <a:sym typeface="Carlito"/>
              </a:rPr>
              <a:t>Logic_Lords</a:t>
            </a:r>
          </a:p>
        </p:txBody>
      </p:sp>
      <p:sp>
        <p:nvSpPr>
          <p:cNvPr id="81" name="TextBox 81"/>
          <p:cNvSpPr txBox="1"/>
          <p:nvPr/>
        </p:nvSpPr>
        <p:spPr>
          <a:xfrm>
            <a:off x="705822" y="1457801"/>
            <a:ext cx="30709" cy="200806"/>
          </a:xfrm>
          <a:prstGeom prst="rect">
            <a:avLst/>
          </a:prstGeom>
        </p:spPr>
        <p:txBody>
          <a:bodyPr lIns="0" tIns="0" rIns="0" bIns="0" rtlCol="0" anchor="t">
            <a:spAutoFit/>
          </a:bodyPr>
          <a:lstStyle/>
          <a:p>
            <a:pPr algn="l">
              <a:lnSpc>
                <a:spcPts val="1468"/>
              </a:lnSpc>
            </a:pPr>
            <a:r>
              <a:rPr lang="en-US" sz="1048">
                <a:solidFill>
                  <a:srgbClr val="657062"/>
                </a:solidFill>
                <a:latin typeface="Carlito"/>
                <a:ea typeface="Carlito"/>
                <a:cs typeface="Carlito"/>
                <a:sym typeface="Carlito"/>
              </a:rPr>
              <a:t> </a:t>
            </a:r>
          </a:p>
        </p:txBody>
      </p:sp>
      <p:sp>
        <p:nvSpPr>
          <p:cNvPr id="117" name="TextBox 117"/>
          <p:cNvSpPr txBox="1"/>
          <p:nvPr/>
        </p:nvSpPr>
        <p:spPr>
          <a:xfrm>
            <a:off x="502568" y="5952896"/>
            <a:ext cx="6561172" cy="152771"/>
          </a:xfrm>
          <a:prstGeom prst="rect">
            <a:avLst/>
          </a:prstGeom>
        </p:spPr>
        <p:txBody>
          <a:bodyPr lIns="0" tIns="0" rIns="0" bIns="0" rtlCol="0" anchor="t">
            <a:spAutoFit/>
          </a:bodyPr>
          <a:lstStyle/>
          <a:p>
            <a:pPr algn="l">
              <a:lnSpc>
                <a:spcPts val="1190"/>
              </a:lnSpc>
            </a:pPr>
            <a:r>
              <a:rPr lang="en-US" sz="850" i="1">
                <a:solidFill>
                  <a:srgbClr val="657062"/>
                </a:solidFill>
                <a:latin typeface="Carlito Italics"/>
                <a:ea typeface="Carlito Italics"/>
                <a:cs typeface="Carlito Italics"/>
                <a:sym typeface="Carlito Italics"/>
              </a:rPr>
              <a:t>Routing returns a feasible nearest-neighbour plan compared against a fixed-order baseline over the same stops. We do not claim a global optimum.</a:t>
            </a:r>
          </a:p>
        </p:txBody>
      </p:sp>
      <p:pic>
        <p:nvPicPr>
          <p:cNvPr id="119" name="Picture 118">
            <a:extLst>
              <a:ext uri="{FF2B5EF4-FFF2-40B4-BE49-F238E27FC236}">
                <a16:creationId xmlns:a16="http://schemas.microsoft.com/office/drawing/2014/main" id="{2D857EB5-CEA9-1DAE-4C07-20A2E2567EC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100" y="1453008"/>
            <a:ext cx="12084189" cy="1193500"/>
          </a:xfrm>
          <a:prstGeom prst="rect">
            <a:avLst/>
          </a:prstGeom>
        </p:spPr>
      </p:pic>
      <p:pic>
        <p:nvPicPr>
          <p:cNvPr id="125" name="Picture 124">
            <a:extLst>
              <a:ext uri="{FF2B5EF4-FFF2-40B4-BE49-F238E27FC236}">
                <a16:creationId xmlns:a16="http://schemas.microsoft.com/office/drawing/2014/main" id="{6BA7A71D-65EB-12E6-C53E-4C929D36F222}"/>
              </a:ext>
            </a:extLst>
          </p:cNvPr>
          <p:cNvPicPr>
            <a:picLocks noChangeAspect="1"/>
          </p:cNvPicPr>
          <p:nvPr/>
        </p:nvPicPr>
        <p:blipFill>
          <a:blip r:embed="rId11"/>
          <a:stretch>
            <a:fillRect/>
          </a:stretch>
        </p:blipFill>
        <p:spPr>
          <a:xfrm>
            <a:off x="51771" y="1058925"/>
            <a:ext cx="4944944" cy="550219"/>
          </a:xfrm>
          <a:prstGeom prst="rect">
            <a:avLst/>
          </a:prstGeom>
        </p:spPr>
      </p:pic>
      <p:pic>
        <p:nvPicPr>
          <p:cNvPr id="12" name="Picture 11">
            <a:extLst>
              <a:ext uri="{FF2B5EF4-FFF2-40B4-BE49-F238E27FC236}">
                <a16:creationId xmlns:a16="http://schemas.microsoft.com/office/drawing/2014/main" id="{CEBC4139-D464-8D02-DFC4-88188CDDE326}"/>
              </a:ext>
            </a:extLst>
          </p:cNvPr>
          <p:cNvPicPr>
            <a:picLocks noChangeAspect="1"/>
          </p:cNvPicPr>
          <p:nvPr/>
        </p:nvPicPr>
        <p:blipFill>
          <a:blip r:embed="rId12"/>
          <a:stretch>
            <a:fillRect/>
          </a:stretch>
        </p:blipFill>
        <p:spPr>
          <a:xfrm>
            <a:off x="654129" y="2655979"/>
            <a:ext cx="10838479" cy="33181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290853"/>
            <a:ext cx="12318759" cy="652958"/>
          </a:xfrm>
          <a:custGeom>
            <a:avLst/>
            <a:gdLst/>
            <a:ahLst/>
            <a:cxnLst/>
            <a:rect l="l" t="t" r="r" b="b"/>
            <a:pathLst>
              <a:path w="12318759" h="652958">
                <a:moveTo>
                  <a:pt x="0" y="0"/>
                </a:moveTo>
                <a:lnTo>
                  <a:pt x="12318759" y="0"/>
                </a:lnTo>
                <a:lnTo>
                  <a:pt x="12318759" y="652958"/>
                </a:lnTo>
                <a:lnTo>
                  <a:pt x="0" y="652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53479" y="175727"/>
            <a:ext cx="1404280" cy="960396"/>
          </a:xfrm>
          <a:custGeom>
            <a:avLst/>
            <a:gdLst/>
            <a:ahLst/>
            <a:cxnLst/>
            <a:rect l="l" t="t" r="r" b="b"/>
            <a:pathLst>
              <a:path w="1404280" h="960396">
                <a:moveTo>
                  <a:pt x="0" y="0"/>
                </a:moveTo>
                <a:lnTo>
                  <a:pt x="1404281" y="0"/>
                </a:lnTo>
                <a:lnTo>
                  <a:pt x="1404281" y="960396"/>
                </a:lnTo>
                <a:lnTo>
                  <a:pt x="0" y="9603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9780118" y="1076"/>
            <a:ext cx="2249643" cy="1061999"/>
            <a:chOff x="0" y="0"/>
            <a:chExt cx="2999524" cy="1415999"/>
          </a:xfrm>
        </p:grpSpPr>
        <p:sp>
          <p:nvSpPr>
            <p:cNvPr id="5" name="Freeform 5"/>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45" name="TextBox 45"/>
          <p:cNvSpPr txBox="1"/>
          <p:nvPr/>
        </p:nvSpPr>
        <p:spPr>
          <a:xfrm>
            <a:off x="2818076" y="256346"/>
            <a:ext cx="6680845" cy="604733"/>
          </a:xfrm>
          <a:prstGeom prst="rect">
            <a:avLst/>
          </a:prstGeom>
        </p:spPr>
        <p:txBody>
          <a:bodyPr lIns="0" tIns="0" rIns="0" bIns="0" rtlCol="0" anchor="t">
            <a:spAutoFit/>
          </a:bodyPr>
          <a:lstStyle/>
          <a:p>
            <a:pPr algn="l">
              <a:lnSpc>
                <a:spcPts val="5040"/>
              </a:lnSpc>
            </a:pPr>
            <a:r>
              <a:rPr lang="en-US" sz="3600" b="1" spc="-82" dirty="0">
                <a:solidFill>
                  <a:schemeClr val="accent1">
                    <a:lumMod val="75000"/>
                  </a:schemeClr>
                </a:solidFill>
                <a:latin typeface="Amasis MT Pro Black" panose="02040A04050005020304" pitchFamily="18" charset="0"/>
                <a:ea typeface="Montserrat Bold"/>
                <a:cs typeface="Montserrat Bold"/>
                <a:sym typeface="Montserrat Bold"/>
              </a:rPr>
              <a:t>FEASIBILITY AND VIABILITY</a:t>
            </a:r>
          </a:p>
        </p:txBody>
      </p:sp>
      <p:sp>
        <p:nvSpPr>
          <p:cNvPr id="46" name="TextBox 46"/>
          <p:cNvSpPr txBox="1"/>
          <p:nvPr/>
        </p:nvSpPr>
        <p:spPr>
          <a:xfrm>
            <a:off x="3307994" y="1066924"/>
            <a:ext cx="48473" cy="295789"/>
          </a:xfrm>
          <a:prstGeom prst="rect">
            <a:avLst/>
          </a:prstGeom>
        </p:spPr>
        <p:txBody>
          <a:bodyPr lIns="0" tIns="0" rIns="0" bIns="0" rtlCol="0" anchor="t">
            <a:spAutoFit/>
          </a:bodyPr>
          <a:lstStyle/>
          <a:p>
            <a:pPr algn="l">
              <a:lnSpc>
                <a:spcPts val="2381"/>
              </a:lnSpc>
            </a:pPr>
            <a:r>
              <a:rPr lang="en-US" sz="1700" b="1">
                <a:solidFill>
                  <a:srgbClr val="11140F"/>
                </a:solidFill>
                <a:latin typeface="Caladea Bold"/>
                <a:ea typeface="Caladea Bold"/>
                <a:cs typeface="Caladea Bold"/>
                <a:sym typeface="Caladea Bold"/>
              </a:rPr>
              <a:t> </a:t>
            </a:r>
          </a:p>
        </p:txBody>
      </p:sp>
      <p:sp>
        <p:nvSpPr>
          <p:cNvPr id="47" name="TextBox 47"/>
          <p:cNvSpPr txBox="1"/>
          <p:nvPr/>
        </p:nvSpPr>
        <p:spPr>
          <a:xfrm>
            <a:off x="11399406" y="6429670"/>
            <a:ext cx="93202"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a:ea typeface="Noto Sans"/>
                <a:cs typeface="Noto Sans"/>
                <a:sym typeface="Noto Sans"/>
              </a:rPr>
              <a:t>4</a:t>
            </a:r>
          </a:p>
        </p:txBody>
      </p:sp>
      <p:sp>
        <p:nvSpPr>
          <p:cNvPr id="48" name="TextBox 48"/>
          <p:cNvSpPr txBox="1"/>
          <p:nvPr/>
        </p:nvSpPr>
        <p:spPr>
          <a:xfrm>
            <a:off x="5077082" y="6441910"/>
            <a:ext cx="2389927"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Osage"/>
                <a:ea typeface="Noto Sans Osage"/>
                <a:cs typeface="Noto Sans Osage"/>
                <a:sym typeface="Noto Sans Osage"/>
              </a:rPr>
              <a:t>@SIH Idea submission- Template</a:t>
            </a:r>
          </a:p>
        </p:txBody>
      </p:sp>
      <p:sp>
        <p:nvSpPr>
          <p:cNvPr id="49" name="TextBox 49"/>
          <p:cNvSpPr txBox="1"/>
          <p:nvPr/>
        </p:nvSpPr>
        <p:spPr>
          <a:xfrm>
            <a:off x="654129" y="555231"/>
            <a:ext cx="615429" cy="193767"/>
          </a:xfrm>
          <a:prstGeom prst="rect">
            <a:avLst/>
          </a:prstGeom>
        </p:spPr>
        <p:txBody>
          <a:bodyPr lIns="0" tIns="0" rIns="0" bIns="0" rtlCol="0" anchor="t">
            <a:spAutoFit/>
          </a:bodyPr>
          <a:lstStyle/>
          <a:p>
            <a:pPr algn="l">
              <a:lnSpc>
                <a:spcPts val="1400"/>
              </a:lnSpc>
            </a:pPr>
            <a:r>
              <a:rPr lang="en-US" sz="1000">
                <a:solidFill>
                  <a:srgbClr val="000000"/>
                </a:solidFill>
                <a:latin typeface="Carlito"/>
                <a:ea typeface="Carlito"/>
                <a:cs typeface="Carlito"/>
                <a:sym typeface="Carlito"/>
              </a:rPr>
              <a:t>Logic_Lords</a:t>
            </a:r>
          </a:p>
        </p:txBody>
      </p:sp>
      <p:sp>
        <p:nvSpPr>
          <p:cNvPr id="88" name="TextBox 88"/>
          <p:cNvSpPr txBox="1"/>
          <p:nvPr/>
        </p:nvSpPr>
        <p:spPr>
          <a:xfrm>
            <a:off x="502568" y="5952896"/>
            <a:ext cx="5140100" cy="152771"/>
          </a:xfrm>
          <a:prstGeom prst="rect">
            <a:avLst/>
          </a:prstGeom>
        </p:spPr>
        <p:txBody>
          <a:bodyPr lIns="0" tIns="0" rIns="0" bIns="0" rtlCol="0" anchor="t">
            <a:spAutoFit/>
          </a:bodyPr>
          <a:lstStyle/>
          <a:p>
            <a:pPr algn="l">
              <a:lnSpc>
                <a:spcPts val="1190"/>
              </a:lnSpc>
            </a:pPr>
            <a:r>
              <a:rPr lang="en-US" sz="850" i="1">
                <a:solidFill>
                  <a:srgbClr val="657062"/>
                </a:solidFill>
                <a:latin typeface="Carlito Italics"/>
                <a:ea typeface="Carlito Italics"/>
                <a:cs typeface="Carlito Italics"/>
                <a:sym typeface="Carlito Italics"/>
              </a:rPr>
              <a:t>Return-load matching is designed and specified; it is deliberately after the core proof, and is not claimed as shipped.</a:t>
            </a:r>
          </a:p>
        </p:txBody>
      </p:sp>
      <p:pic>
        <p:nvPicPr>
          <p:cNvPr id="90" name="Picture 89">
            <a:extLst>
              <a:ext uri="{FF2B5EF4-FFF2-40B4-BE49-F238E27FC236}">
                <a16:creationId xmlns:a16="http://schemas.microsoft.com/office/drawing/2014/main" id="{65559086-D8A4-370C-F87C-376B74D2AB75}"/>
              </a:ext>
            </a:extLst>
          </p:cNvPr>
          <p:cNvPicPr>
            <a:picLocks noChangeAspect="1"/>
          </p:cNvPicPr>
          <p:nvPr/>
        </p:nvPicPr>
        <p:blipFill>
          <a:blip r:embed="rId5"/>
          <a:stretch>
            <a:fillRect/>
          </a:stretch>
        </p:blipFill>
        <p:spPr>
          <a:xfrm>
            <a:off x="250404" y="1165053"/>
            <a:ext cx="6026964" cy="3222345"/>
          </a:xfrm>
          <a:prstGeom prst="rect">
            <a:avLst/>
          </a:prstGeom>
        </p:spPr>
      </p:pic>
      <p:pic>
        <p:nvPicPr>
          <p:cNvPr id="92" name="Picture 91">
            <a:extLst>
              <a:ext uri="{FF2B5EF4-FFF2-40B4-BE49-F238E27FC236}">
                <a16:creationId xmlns:a16="http://schemas.microsoft.com/office/drawing/2014/main" id="{FA3F8F6D-608E-A6D9-7476-4AA7AA89C4E0}"/>
              </a:ext>
            </a:extLst>
          </p:cNvPr>
          <p:cNvPicPr>
            <a:picLocks noChangeAspect="1"/>
          </p:cNvPicPr>
          <p:nvPr/>
        </p:nvPicPr>
        <p:blipFill>
          <a:blip r:embed="rId6"/>
          <a:stretch>
            <a:fillRect/>
          </a:stretch>
        </p:blipFill>
        <p:spPr>
          <a:xfrm>
            <a:off x="255263" y="4462927"/>
            <a:ext cx="6019344" cy="1310754"/>
          </a:xfrm>
          <a:prstGeom prst="rect">
            <a:avLst/>
          </a:prstGeom>
        </p:spPr>
      </p:pic>
      <p:pic>
        <p:nvPicPr>
          <p:cNvPr id="7" name="Picture 6">
            <a:extLst>
              <a:ext uri="{FF2B5EF4-FFF2-40B4-BE49-F238E27FC236}">
                <a16:creationId xmlns:a16="http://schemas.microsoft.com/office/drawing/2014/main" id="{DFD6A7A4-46F5-0E5D-8978-E2D2E8957FD9}"/>
              </a:ext>
            </a:extLst>
          </p:cNvPr>
          <p:cNvPicPr>
            <a:picLocks noChangeAspect="1"/>
          </p:cNvPicPr>
          <p:nvPr/>
        </p:nvPicPr>
        <p:blipFill>
          <a:blip r:embed="rId7"/>
          <a:stretch>
            <a:fillRect/>
          </a:stretch>
        </p:blipFill>
        <p:spPr>
          <a:xfrm>
            <a:off x="6462532" y="1214170"/>
            <a:ext cx="5386306" cy="46794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290853"/>
            <a:ext cx="12318759" cy="652958"/>
          </a:xfrm>
          <a:custGeom>
            <a:avLst/>
            <a:gdLst/>
            <a:ahLst/>
            <a:cxnLst/>
            <a:rect l="l" t="t" r="r" b="b"/>
            <a:pathLst>
              <a:path w="12318759" h="652958">
                <a:moveTo>
                  <a:pt x="0" y="0"/>
                </a:moveTo>
                <a:lnTo>
                  <a:pt x="12318759" y="0"/>
                </a:lnTo>
                <a:lnTo>
                  <a:pt x="12318759" y="652958"/>
                </a:lnTo>
                <a:lnTo>
                  <a:pt x="0" y="652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75973" y="176255"/>
            <a:ext cx="1404280" cy="960396"/>
          </a:xfrm>
          <a:custGeom>
            <a:avLst/>
            <a:gdLst/>
            <a:ahLst/>
            <a:cxnLst/>
            <a:rect l="l" t="t" r="r" b="b"/>
            <a:pathLst>
              <a:path w="1404280" h="960396">
                <a:moveTo>
                  <a:pt x="0" y="0"/>
                </a:moveTo>
                <a:lnTo>
                  <a:pt x="1404281" y="0"/>
                </a:lnTo>
                <a:lnTo>
                  <a:pt x="1404281" y="960396"/>
                </a:lnTo>
                <a:lnTo>
                  <a:pt x="0" y="9603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9780118" y="1076"/>
            <a:ext cx="2249643" cy="1061999"/>
            <a:chOff x="0" y="0"/>
            <a:chExt cx="2999524" cy="1415999"/>
          </a:xfrm>
        </p:grpSpPr>
        <p:sp>
          <p:nvSpPr>
            <p:cNvPr id="5" name="Freeform 5"/>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34" name="TextBox 34"/>
          <p:cNvSpPr txBox="1"/>
          <p:nvPr/>
        </p:nvSpPr>
        <p:spPr>
          <a:xfrm>
            <a:off x="3459623" y="-124654"/>
            <a:ext cx="5372033" cy="1622239"/>
          </a:xfrm>
          <a:prstGeom prst="rect">
            <a:avLst/>
          </a:prstGeom>
        </p:spPr>
        <p:txBody>
          <a:bodyPr lIns="0" tIns="0" rIns="0" bIns="0" rtlCol="0" anchor="t">
            <a:spAutoFit/>
          </a:bodyPr>
          <a:lstStyle/>
          <a:p>
            <a:pPr algn="l">
              <a:lnSpc>
                <a:spcPts val="9000"/>
              </a:lnSpc>
            </a:pPr>
            <a:r>
              <a:rPr lang="en-US" sz="3600" b="1" spc="-82" dirty="0">
                <a:solidFill>
                  <a:schemeClr val="accent1">
                    <a:lumMod val="75000"/>
                  </a:schemeClr>
                </a:solidFill>
                <a:latin typeface="Amasis MT Pro Black" panose="020F0502020204030204" pitchFamily="18" charset="0"/>
                <a:ea typeface="Montserrat Bold"/>
                <a:cs typeface="Montserrat Bold"/>
                <a:sym typeface="Montserrat Bold"/>
              </a:rPr>
              <a:t>IMPACT AND BENEFITS</a:t>
            </a:r>
          </a:p>
          <a:p>
            <a:pPr algn="l">
              <a:lnSpc>
                <a:spcPts val="4251"/>
              </a:lnSpc>
            </a:pPr>
            <a:r>
              <a:rPr lang="en-US" sz="1700" b="1" dirty="0">
                <a:solidFill>
                  <a:srgbClr val="11140F"/>
                </a:solidFill>
                <a:latin typeface="Amasis MT Pro Black" panose="020F0502020204030204" pitchFamily="18" charset="0"/>
                <a:ea typeface="Caladea Bold"/>
                <a:cs typeface="Caladea Bold"/>
                <a:sym typeface="Caladea Bold"/>
              </a:rPr>
              <a:t> </a:t>
            </a:r>
          </a:p>
        </p:txBody>
      </p:sp>
      <p:sp>
        <p:nvSpPr>
          <p:cNvPr id="35" name="TextBox 35"/>
          <p:cNvSpPr txBox="1"/>
          <p:nvPr/>
        </p:nvSpPr>
        <p:spPr>
          <a:xfrm>
            <a:off x="11399406" y="6429670"/>
            <a:ext cx="93202"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a:ea typeface="Noto Sans"/>
                <a:cs typeface="Noto Sans"/>
                <a:sym typeface="Noto Sans"/>
              </a:rPr>
              <a:t>5</a:t>
            </a:r>
          </a:p>
        </p:txBody>
      </p:sp>
      <p:sp>
        <p:nvSpPr>
          <p:cNvPr id="36" name="TextBox 36"/>
          <p:cNvSpPr txBox="1"/>
          <p:nvPr/>
        </p:nvSpPr>
        <p:spPr>
          <a:xfrm>
            <a:off x="5077082" y="6441910"/>
            <a:ext cx="2389927"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Osage"/>
                <a:ea typeface="Noto Sans Osage"/>
                <a:cs typeface="Noto Sans Osage"/>
                <a:sym typeface="Noto Sans Osage"/>
              </a:rPr>
              <a:t>@SIH Idea submission- Template</a:t>
            </a:r>
          </a:p>
        </p:txBody>
      </p:sp>
      <p:sp>
        <p:nvSpPr>
          <p:cNvPr id="37" name="TextBox 37"/>
          <p:cNvSpPr txBox="1"/>
          <p:nvPr/>
        </p:nvSpPr>
        <p:spPr>
          <a:xfrm>
            <a:off x="654129" y="555231"/>
            <a:ext cx="615429" cy="193767"/>
          </a:xfrm>
          <a:prstGeom prst="rect">
            <a:avLst/>
          </a:prstGeom>
        </p:spPr>
        <p:txBody>
          <a:bodyPr lIns="0" tIns="0" rIns="0" bIns="0" rtlCol="0" anchor="t">
            <a:spAutoFit/>
          </a:bodyPr>
          <a:lstStyle/>
          <a:p>
            <a:pPr algn="l">
              <a:lnSpc>
                <a:spcPts val="1400"/>
              </a:lnSpc>
            </a:pPr>
            <a:r>
              <a:rPr lang="en-US" sz="1000">
                <a:solidFill>
                  <a:srgbClr val="000000"/>
                </a:solidFill>
                <a:latin typeface="Carlito"/>
                <a:ea typeface="Carlito"/>
                <a:cs typeface="Carlito"/>
                <a:sym typeface="Carlito"/>
              </a:rPr>
              <a:t>Logic_Lords</a:t>
            </a:r>
          </a:p>
        </p:txBody>
      </p:sp>
      <p:sp>
        <p:nvSpPr>
          <p:cNvPr id="64" name="TextBox 64"/>
          <p:cNvSpPr txBox="1"/>
          <p:nvPr/>
        </p:nvSpPr>
        <p:spPr>
          <a:xfrm>
            <a:off x="502568" y="5952896"/>
            <a:ext cx="8112681" cy="152771"/>
          </a:xfrm>
          <a:prstGeom prst="rect">
            <a:avLst/>
          </a:prstGeom>
        </p:spPr>
        <p:txBody>
          <a:bodyPr lIns="0" tIns="0" rIns="0" bIns="0" rtlCol="0" anchor="t">
            <a:spAutoFit/>
          </a:bodyPr>
          <a:lstStyle/>
          <a:p>
            <a:pPr algn="l">
              <a:lnSpc>
                <a:spcPts val="1190"/>
              </a:lnSpc>
            </a:pPr>
            <a:r>
              <a:rPr lang="en-US" sz="850" i="1">
                <a:solidFill>
                  <a:srgbClr val="657062"/>
                </a:solidFill>
                <a:latin typeface="Carlito Italics"/>
                <a:ea typeface="Carlito Italics"/>
                <a:cs typeface="Carlito Italics"/>
                <a:sym typeface="Carlito Italics"/>
              </a:rPr>
              <a:t>Figures are computed over synthetic demonstration orders, so they size the model rather than measure a business. No production cost is recorded, so no column here is farming profit.</a:t>
            </a:r>
          </a:p>
        </p:txBody>
      </p:sp>
      <p:pic>
        <p:nvPicPr>
          <p:cNvPr id="67" name="Picture 66">
            <a:extLst>
              <a:ext uri="{FF2B5EF4-FFF2-40B4-BE49-F238E27FC236}">
                <a16:creationId xmlns:a16="http://schemas.microsoft.com/office/drawing/2014/main" id="{628E836E-2E42-9D4A-87A7-25198B3C6D72}"/>
              </a:ext>
            </a:extLst>
          </p:cNvPr>
          <p:cNvPicPr>
            <a:picLocks noChangeAspect="1"/>
          </p:cNvPicPr>
          <p:nvPr/>
        </p:nvPicPr>
        <p:blipFill>
          <a:blip r:embed="rId5"/>
          <a:stretch>
            <a:fillRect/>
          </a:stretch>
        </p:blipFill>
        <p:spPr>
          <a:xfrm>
            <a:off x="107287" y="1257616"/>
            <a:ext cx="5903906" cy="3143873"/>
          </a:xfrm>
          <a:prstGeom prst="rect">
            <a:avLst/>
          </a:prstGeom>
        </p:spPr>
      </p:pic>
      <p:pic>
        <p:nvPicPr>
          <p:cNvPr id="69" name="Picture 68">
            <a:extLst>
              <a:ext uri="{FF2B5EF4-FFF2-40B4-BE49-F238E27FC236}">
                <a16:creationId xmlns:a16="http://schemas.microsoft.com/office/drawing/2014/main" id="{4AC0F862-DD73-AF0D-1CDD-BCC52B928C21}"/>
              </a:ext>
            </a:extLst>
          </p:cNvPr>
          <p:cNvPicPr>
            <a:picLocks noChangeAspect="1"/>
          </p:cNvPicPr>
          <p:nvPr/>
        </p:nvPicPr>
        <p:blipFill>
          <a:blip r:embed="rId6"/>
          <a:stretch>
            <a:fillRect/>
          </a:stretch>
        </p:blipFill>
        <p:spPr>
          <a:xfrm>
            <a:off x="372150" y="4327951"/>
            <a:ext cx="11515049" cy="1556181"/>
          </a:xfrm>
          <a:prstGeom prst="rect">
            <a:avLst/>
          </a:prstGeom>
        </p:spPr>
      </p:pic>
      <p:pic>
        <p:nvPicPr>
          <p:cNvPr id="71" name="Picture 70">
            <a:extLst>
              <a:ext uri="{FF2B5EF4-FFF2-40B4-BE49-F238E27FC236}">
                <a16:creationId xmlns:a16="http://schemas.microsoft.com/office/drawing/2014/main" id="{B2E7BE54-B913-C1DD-86AF-D4B9C8BBAA8A}"/>
              </a:ext>
            </a:extLst>
          </p:cNvPr>
          <p:cNvPicPr>
            <a:picLocks noChangeAspect="1"/>
          </p:cNvPicPr>
          <p:nvPr/>
        </p:nvPicPr>
        <p:blipFill>
          <a:blip r:embed="rId7"/>
          <a:stretch>
            <a:fillRect/>
          </a:stretch>
        </p:blipFill>
        <p:spPr>
          <a:xfrm>
            <a:off x="6145639" y="1162357"/>
            <a:ext cx="5557653" cy="31890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290853"/>
            <a:ext cx="12318759" cy="652958"/>
          </a:xfrm>
          <a:custGeom>
            <a:avLst/>
            <a:gdLst/>
            <a:ahLst/>
            <a:cxnLst/>
            <a:rect l="l" t="t" r="r" b="b"/>
            <a:pathLst>
              <a:path w="12318759" h="652958">
                <a:moveTo>
                  <a:pt x="0" y="0"/>
                </a:moveTo>
                <a:lnTo>
                  <a:pt x="12318759" y="0"/>
                </a:lnTo>
                <a:lnTo>
                  <a:pt x="12318759" y="652958"/>
                </a:lnTo>
                <a:lnTo>
                  <a:pt x="0" y="652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53479" y="175727"/>
            <a:ext cx="1404280" cy="960396"/>
          </a:xfrm>
          <a:custGeom>
            <a:avLst/>
            <a:gdLst/>
            <a:ahLst/>
            <a:cxnLst/>
            <a:rect l="l" t="t" r="r" b="b"/>
            <a:pathLst>
              <a:path w="1404280" h="960396">
                <a:moveTo>
                  <a:pt x="0" y="0"/>
                </a:moveTo>
                <a:lnTo>
                  <a:pt x="1404281" y="0"/>
                </a:lnTo>
                <a:lnTo>
                  <a:pt x="1404281" y="960396"/>
                </a:lnTo>
                <a:lnTo>
                  <a:pt x="0" y="9603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9780118" y="1076"/>
            <a:ext cx="2249643" cy="1061999"/>
            <a:chOff x="0" y="0"/>
            <a:chExt cx="2999524" cy="1415999"/>
          </a:xfrm>
        </p:grpSpPr>
        <p:sp>
          <p:nvSpPr>
            <p:cNvPr id="5" name="Freeform 5"/>
            <p:cNvSpPr/>
            <p:nvPr/>
          </p:nvSpPr>
          <p:spPr>
            <a:xfrm>
              <a:off x="0" y="0"/>
              <a:ext cx="2999486" cy="1416050"/>
            </a:xfrm>
            <a:custGeom>
              <a:avLst/>
              <a:gdLst/>
              <a:ahLst/>
              <a:cxnLst/>
              <a:rect l="l" t="t" r="r" b="b"/>
              <a:pathLst>
                <a:path w="2999486" h="1416050">
                  <a:moveTo>
                    <a:pt x="0" y="0"/>
                  </a:moveTo>
                  <a:lnTo>
                    <a:pt x="2999486" y="0"/>
                  </a:lnTo>
                  <a:lnTo>
                    <a:pt x="2999486" y="1416050"/>
                  </a:lnTo>
                  <a:lnTo>
                    <a:pt x="0" y="1416050"/>
                  </a:lnTo>
                  <a:lnTo>
                    <a:pt x="0" y="0"/>
                  </a:lnTo>
                  <a:close/>
                </a:path>
              </a:pathLst>
            </a:custGeom>
            <a:blipFill>
              <a:blip r:embed="rId4"/>
              <a:stretch>
                <a:fillRect r="-1" b="3"/>
              </a:stretch>
            </a:blipFill>
          </p:spPr>
          <p:txBody>
            <a:bodyPr/>
            <a:lstStyle/>
            <a:p>
              <a:endParaRPr lang="en-IN"/>
            </a:p>
          </p:txBody>
        </p:sp>
      </p:grpSp>
      <p:sp>
        <p:nvSpPr>
          <p:cNvPr id="12" name="Freeform 12"/>
          <p:cNvSpPr/>
          <p:nvPr/>
        </p:nvSpPr>
        <p:spPr>
          <a:xfrm>
            <a:off x="434016" y="4631265"/>
            <a:ext cx="5623131" cy="1087831"/>
          </a:xfrm>
          <a:custGeom>
            <a:avLst/>
            <a:gdLst/>
            <a:ahLst/>
            <a:cxnLst/>
            <a:rect l="l" t="t" r="r" b="b"/>
            <a:pathLst>
              <a:path w="5623131" h="1087831">
                <a:moveTo>
                  <a:pt x="0" y="0"/>
                </a:moveTo>
                <a:lnTo>
                  <a:pt x="5623132" y="0"/>
                </a:lnTo>
                <a:lnTo>
                  <a:pt x="5623132" y="1087831"/>
                </a:lnTo>
                <a:lnTo>
                  <a:pt x="0" y="1087831"/>
                </a:lnTo>
                <a:lnTo>
                  <a:pt x="0" y="0"/>
                </a:lnTo>
                <a:close/>
              </a:path>
            </a:pathLst>
          </a:custGeom>
          <a:blipFill>
            <a:blip>
              <a:alphaModFix amt="34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5" name="Freeform 15"/>
          <p:cNvSpPr/>
          <p:nvPr/>
        </p:nvSpPr>
        <p:spPr>
          <a:xfrm>
            <a:off x="6121660" y="4631265"/>
            <a:ext cx="5623112" cy="1087831"/>
          </a:xfrm>
          <a:custGeom>
            <a:avLst/>
            <a:gdLst/>
            <a:ahLst/>
            <a:cxnLst/>
            <a:rect l="l" t="t" r="r" b="b"/>
            <a:pathLst>
              <a:path w="5623112" h="1087831">
                <a:moveTo>
                  <a:pt x="0" y="0"/>
                </a:moveTo>
                <a:lnTo>
                  <a:pt x="5623113" y="0"/>
                </a:lnTo>
                <a:lnTo>
                  <a:pt x="5623113" y="1087831"/>
                </a:lnTo>
                <a:lnTo>
                  <a:pt x="0" y="10878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6" name="TextBox 16"/>
          <p:cNvSpPr txBox="1"/>
          <p:nvPr/>
        </p:nvSpPr>
        <p:spPr>
          <a:xfrm>
            <a:off x="2691717" y="256346"/>
            <a:ext cx="6940601" cy="604733"/>
          </a:xfrm>
          <a:prstGeom prst="rect">
            <a:avLst/>
          </a:prstGeom>
        </p:spPr>
        <p:txBody>
          <a:bodyPr lIns="0" tIns="0" rIns="0" bIns="0" rtlCol="0" anchor="t">
            <a:spAutoFit/>
          </a:bodyPr>
          <a:lstStyle/>
          <a:p>
            <a:pPr algn="l">
              <a:lnSpc>
                <a:spcPts val="5040"/>
              </a:lnSpc>
            </a:pPr>
            <a:r>
              <a:rPr lang="en-US" sz="3600" b="1" spc="-82" dirty="0">
                <a:solidFill>
                  <a:schemeClr val="accent1">
                    <a:lumMod val="75000"/>
                  </a:schemeClr>
                </a:solidFill>
                <a:latin typeface="Amasis MT Pro Black" panose="02040A04050005020304" pitchFamily="18" charset="0"/>
                <a:ea typeface="Montserrat Bold"/>
                <a:cs typeface="Montserrat Bold"/>
                <a:sym typeface="Montserrat Bold"/>
              </a:rPr>
              <a:t>RESEARCH AND REFERENCES</a:t>
            </a:r>
          </a:p>
        </p:txBody>
      </p:sp>
      <p:sp>
        <p:nvSpPr>
          <p:cNvPr id="18" name="TextBox 18"/>
          <p:cNvSpPr txBox="1"/>
          <p:nvPr/>
        </p:nvSpPr>
        <p:spPr>
          <a:xfrm>
            <a:off x="11399406" y="6429670"/>
            <a:ext cx="93202"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a:ea typeface="Noto Sans"/>
                <a:cs typeface="Noto Sans"/>
                <a:sym typeface="Noto Sans"/>
              </a:rPr>
              <a:t>6</a:t>
            </a:r>
          </a:p>
        </p:txBody>
      </p:sp>
      <p:sp>
        <p:nvSpPr>
          <p:cNvPr id="19" name="TextBox 19"/>
          <p:cNvSpPr txBox="1"/>
          <p:nvPr/>
        </p:nvSpPr>
        <p:spPr>
          <a:xfrm>
            <a:off x="5077082" y="6441910"/>
            <a:ext cx="2389927" cy="207959"/>
          </a:xfrm>
          <a:prstGeom prst="rect">
            <a:avLst/>
          </a:prstGeom>
        </p:spPr>
        <p:txBody>
          <a:bodyPr lIns="0" tIns="0" rIns="0" bIns="0" rtlCol="0" anchor="t">
            <a:spAutoFit/>
          </a:bodyPr>
          <a:lstStyle/>
          <a:p>
            <a:pPr algn="l">
              <a:lnSpc>
                <a:spcPts val="1678"/>
              </a:lnSpc>
            </a:pPr>
            <a:r>
              <a:rPr lang="en-US" sz="1199">
                <a:solidFill>
                  <a:srgbClr val="FFFFFF"/>
                </a:solidFill>
                <a:latin typeface="Noto Sans Osage"/>
                <a:ea typeface="Noto Sans Osage"/>
                <a:cs typeface="Noto Sans Osage"/>
                <a:sym typeface="Noto Sans Osage"/>
              </a:rPr>
              <a:t>@SIH Idea submission- Template</a:t>
            </a:r>
          </a:p>
        </p:txBody>
      </p:sp>
      <p:sp>
        <p:nvSpPr>
          <p:cNvPr id="20" name="TextBox 20"/>
          <p:cNvSpPr txBox="1"/>
          <p:nvPr/>
        </p:nvSpPr>
        <p:spPr>
          <a:xfrm>
            <a:off x="654129" y="555231"/>
            <a:ext cx="615429" cy="193767"/>
          </a:xfrm>
          <a:prstGeom prst="rect">
            <a:avLst/>
          </a:prstGeom>
        </p:spPr>
        <p:txBody>
          <a:bodyPr lIns="0" tIns="0" rIns="0" bIns="0" rtlCol="0" anchor="t">
            <a:spAutoFit/>
          </a:bodyPr>
          <a:lstStyle/>
          <a:p>
            <a:pPr algn="l">
              <a:lnSpc>
                <a:spcPts val="1400"/>
              </a:lnSpc>
            </a:pPr>
            <a:r>
              <a:rPr lang="en-US" sz="1000">
                <a:solidFill>
                  <a:srgbClr val="000000"/>
                </a:solidFill>
                <a:latin typeface="Carlito"/>
                <a:ea typeface="Carlito"/>
                <a:cs typeface="Carlito"/>
                <a:sym typeface="Carlito"/>
              </a:rPr>
              <a:t>Logic_Lords</a:t>
            </a:r>
          </a:p>
        </p:txBody>
      </p:sp>
      <p:sp>
        <p:nvSpPr>
          <p:cNvPr id="60" name="TextBox 60"/>
          <p:cNvSpPr txBox="1"/>
          <p:nvPr/>
        </p:nvSpPr>
        <p:spPr>
          <a:xfrm>
            <a:off x="227695" y="5848244"/>
            <a:ext cx="11438858" cy="272853"/>
          </a:xfrm>
          <a:prstGeom prst="rect">
            <a:avLst/>
          </a:prstGeom>
        </p:spPr>
        <p:txBody>
          <a:bodyPr lIns="0" tIns="0" rIns="0" bIns="0" rtlCol="0" anchor="t">
            <a:spAutoFit/>
          </a:bodyPr>
          <a:lstStyle/>
          <a:p>
            <a:pPr algn="l">
              <a:lnSpc>
                <a:spcPts val="1020"/>
              </a:lnSpc>
            </a:pPr>
            <a:r>
              <a:rPr lang="en-US" sz="850" i="1">
                <a:solidFill>
                  <a:srgbClr val="657062"/>
                </a:solidFill>
                <a:latin typeface="Carlito Italics"/>
                <a:ea typeface="Carlito Italics"/>
                <a:cs typeface="Carlito Italics"/>
                <a:sym typeface="Carlito Italics"/>
              </a:rPr>
              <a:t>What this does not prove: demand history and the fitted price series in the prototype are synthetic and labelled so on screen. An unmentioned capability on a competitor's public page is not evidence they lack it, and we claim no measured superiority without a comparable pilot.</a:t>
            </a:r>
          </a:p>
        </p:txBody>
      </p:sp>
      <p:pic>
        <p:nvPicPr>
          <p:cNvPr id="67" name="Picture 66">
            <a:extLst>
              <a:ext uri="{FF2B5EF4-FFF2-40B4-BE49-F238E27FC236}">
                <a16:creationId xmlns:a16="http://schemas.microsoft.com/office/drawing/2014/main" id="{F9429A09-CED2-B18C-C3C8-1D9336F2AE36}"/>
              </a:ext>
            </a:extLst>
          </p:cNvPr>
          <p:cNvPicPr>
            <a:picLocks noChangeAspect="1"/>
          </p:cNvPicPr>
          <p:nvPr/>
        </p:nvPicPr>
        <p:blipFill>
          <a:blip r:embed="rId7"/>
          <a:stretch>
            <a:fillRect/>
          </a:stretch>
        </p:blipFill>
        <p:spPr>
          <a:xfrm>
            <a:off x="573173" y="1199066"/>
            <a:ext cx="4237087" cy="304826"/>
          </a:xfrm>
          <a:prstGeom prst="rect">
            <a:avLst/>
          </a:prstGeom>
        </p:spPr>
      </p:pic>
      <p:pic>
        <p:nvPicPr>
          <p:cNvPr id="7" name="Picture 6">
            <a:extLst>
              <a:ext uri="{FF2B5EF4-FFF2-40B4-BE49-F238E27FC236}">
                <a16:creationId xmlns:a16="http://schemas.microsoft.com/office/drawing/2014/main" id="{55B6D770-0F87-358E-F542-DE974E5D95F1}"/>
              </a:ext>
            </a:extLst>
          </p:cNvPr>
          <p:cNvPicPr>
            <a:picLocks noChangeAspect="1"/>
          </p:cNvPicPr>
          <p:nvPr/>
        </p:nvPicPr>
        <p:blipFill>
          <a:blip r:embed="rId8"/>
          <a:stretch>
            <a:fillRect/>
          </a:stretch>
        </p:blipFill>
        <p:spPr>
          <a:xfrm>
            <a:off x="573173" y="1484614"/>
            <a:ext cx="10919435" cy="43570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TotalTime>
  <Words>307</Words>
  <Application>Microsoft Office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vt:i4>
      </vt:variant>
    </vt:vector>
  </HeadingPairs>
  <TitlesOfParts>
    <vt:vector size="18" baseType="lpstr">
      <vt:lpstr>Noto Sans</vt:lpstr>
      <vt:lpstr>Caladea</vt:lpstr>
      <vt:lpstr>Carlito</vt:lpstr>
      <vt:lpstr>Arial</vt:lpstr>
      <vt:lpstr>Noto Serif Bold</vt:lpstr>
      <vt:lpstr>Caladea Bold</vt:lpstr>
      <vt:lpstr>Calibri</vt:lpstr>
      <vt:lpstr>Carlito Bold</vt:lpstr>
      <vt:lpstr>Noto Sans Osage</vt:lpstr>
      <vt:lpstr>Amasis MT Pro Black</vt:lpstr>
      <vt:lpstr>Carlito Italics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KrishiSetu_SIH2026_Template_v5.pdf</dc:title>
  <dc:creator>Sneha Mudaliyar</dc:creator>
  <cp:lastModifiedBy>Sneha Mudaliyar</cp:lastModifiedBy>
  <cp:revision>4</cp:revision>
  <dcterms:created xsi:type="dcterms:W3CDTF">2006-08-16T00:00:00Z</dcterms:created>
  <dcterms:modified xsi:type="dcterms:W3CDTF">2026-09-18T11:11:57Z</dcterms:modified>
  <dc:identifier>DAHVduWHoLQ</dc:identifier>
</cp:coreProperties>
</file>