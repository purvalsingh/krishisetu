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bar is the whole argument. We do not start from a retail price and work down to whatever is left for the farmer; we start from the rate the farmer accepted and add the real shared costs on top. Sanjay Patil and Meena Bhoir are named because a pooled consignment must never hide whose produce it is: one buyer order can draw from two farms, and each farm's kilograms and rupees stay its own row. The six tiles on the right are what no competitor does together, and the last two are new: demand is forecast per neighbourhood, not just per crop, and an unsold lot is re-placed across the pickup points that can still take it inside its freshness limit. On delivery, note that the door drop is tier B, not the default. A weekly household basket is about six kilograms, so a dedicated rider would eat a tenth of the order value. Collection at a neighbourhood point is the default, the last 300 metres is free above a ₹500 basket, and ten-minute express is deliberately not offered because at this basket size it cannot pay for itself.</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D-COA stands for Decision and Coordination Optimisation Algorithm. Say the full form out loud: it is our working name for the decision layer in our own codebase, not a claim that we invented or published a new algorithm. Walk the chain left to right, then explain the chips: five of the eight considerations are hard feasibility conditions, so if any one fails the order cannot be on that run. Cost and priority only rank among options that are already feasible, and a cancellation or new order forces a replan before dispatch. The important part for a judge: when an order is left out, the engine says which of these eight rules rejected it, in plain English, on the operator's screen. Nothing is a black-box score. The same engine answers the second question a farmer asks — not only what is in demand, but where an unsold lot should now go, ranked by which pickup point can still absorb it inside the freshness limit.</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Return loads, in plain words: today a transporter brings vegetables into the city and drives back with an empty vehicle. He is already charging us for that empty half, because he has to. A return load — also called a backhaul — is any cargo he can carry on the journey home: seed, fertiliser, crates, an FPO's supplies. Because we already know his corridor, his time window and his spare capacity, we can offer him compatible work on the way back, which lowers the cost per kilogram of the outbound vegetable trip without anyone subsidising it. Two honest caveats: empty space does not automatically mean a cheaper or suitable trip, and the driver must accept the work with the payment covering the actual detour. It is specified but not yet shipped, and the slide says so. On the fill threshold: 123 orders filled a 750 kg tempo to 100 percent and brought transport down to ₹5.37 per kilogram. Below 70 percent we hold the run rather than deliver at a loss.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Three claims, in order. First, the farmer keeps far more of the buyer's rupee: 64 percent across all 126 orders in the system, 74 percent on the worked tomato example, against the quarter-to-a-third widely reported for fragmented vegetable trade. That estimate is labelled as an estimate on the slide. Second, the buyer still pays less than the quick-commerce reference, so nobody is being asked to pay extra out of sympathy. Third, and this is the question every judge asks, where does our money come from. It comes from one disclosed line on the buyer's bill, ₹19.89 per order. After gateway and support costs we keep ₹14.29, so at an assumed ₹60,000 monthly fixed cost we break even at about 4,199 orders a month, roughly four clusters running twice a week. Be honest about the limit: a single-cluster pilot covers its fulfilment cost but not that fixed cost, and our own operator screen shows the shortfall. What we will not do is close it from the farmer's side.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Keep this slide short. The first source is live in the product, not just cited: the daily mandi price feed from the Government of India open data portal refreshes on a cron and every price on our screens carries its source label and date. The four incumbents are the ones we studied for gaps, and our positioning page states, for each gap, both what we built and where it stops. The routing reference is a formulation we follow, not a library we claim to have beaten. Then read the closing caveat aloud — the synthetic demand history is the honest limit of this prototype, and saying it first is stronger than being asked.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line: a small farmer cannot fill a tempo alone, so hiring one eats the margin, and that is why the farmer keeps only a modest share of what the buyer finally pays. KrishiSetu pools the produce of several farmers all sending to the same neighbourhood, moves it once, and drops it at one pickup point a hundred households already live around. Close by saying this is a working application, not a mockup: every number in this deck is read out of the running system, and anything that is an estimate is labelled as one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 Id="rId9" Type="http://schemas.openxmlformats.org/officeDocument/2006/relationships/image" Target="../media/image9.jpg"/><Relationship Id="rId10" Type="http://schemas.openxmlformats.org/officeDocument/2006/relationships/image" Target="../media/image10.jpg"/><Relationship Id="rId11" Type="http://schemas.openxmlformats.org/officeDocument/2006/relationships/image" Target="../media/image11.jpg"/><Relationship Id="rId12" Type="http://schemas.openxmlformats.org/officeDocument/2006/relationships/image" Target="../media/image12.jpg"/><Relationship Id="rId13"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jpg"/><Relationship Id="rId5" Type="http://schemas.openxmlformats.org/officeDocument/2006/relationships/image" Target="../media/image14.jpg"/><Relationship Id="rId6" Type="http://schemas.openxmlformats.org/officeDocument/2006/relationships/image" Target="../media/image9.jpg"/><Relationship Id="rId7" Type="http://schemas.openxmlformats.org/officeDocument/2006/relationships/image" Target="../media/image15.jpg"/><Relationship Id="rId8" Type="http://schemas.openxmlformats.org/officeDocument/2006/relationships/image" Target="../media/image16.jpg"/><Relationship Id="rId9" Type="http://schemas.openxmlformats.org/officeDocument/2006/relationships/image" Target="../media/image6.jpg"/><Relationship Id="rId10"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15.jpg"/><Relationship Id="rId8" Type="http://schemas.openxmlformats.org/officeDocument/2006/relationships/image" Target="../media/image3.jpg"/><Relationship Id="rId9"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2.jpg"/><Relationship Id="rId5" Type="http://schemas.openxmlformats.org/officeDocument/2006/relationships/image" Target="../media/image5.jpg"/><Relationship Id="rId6" Type="http://schemas.openxmlformats.org/officeDocument/2006/relationships/image" Target="../media/image23.jpg"/><Relationship Id="rId7" Type="http://schemas.openxmlformats.org/officeDocument/2006/relationships/image" Target="../media/image24.jpg"/><Relationship Id="rId8"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5.jpg"/><Relationship Id="rId5" Type="http://schemas.openxmlformats.org/officeDocument/2006/relationships/image" Target="../media/image17.jpg"/><Relationship Id="rId6" Type="http://schemas.openxmlformats.org/officeDocument/2006/relationships/image" Target="../media/image6.jpg"/><Relationship Id="rId7" Type="http://schemas.openxmlformats.org/officeDocument/2006/relationships/image" Target="../media/image11.jpg"/><Relationship Id="rId8" Type="http://schemas.openxmlformats.org/officeDocument/2006/relationships/image" Target="../media/image22.jpg"/><Relationship Id="rId9" Type="http://schemas.openxmlformats.org/officeDocument/2006/relationships/image" Target="../media/image16.jpg"/><Relationship Id="rId10"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329184" y="1005840"/>
            <a:ext cx="5669280" cy="777240"/>
          </a:xfrm>
        </p:spPr>
        <p:txBody>
          <a:bodyPr/>
          <a:lstStyle/>
          <a:p>
            <a:pPr algn="l"/>
            <a:r>
              <a:rPr sz="4000" b="1">
                <a:solidFill>
                  <a:srgbClr val="11140F"/>
                </a:solidFill>
                <a:latin typeface="Cambria"/>
              </a:rPr>
              <a:t>KrishiSetu</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847088"/>
            <a:ext cx="5924550" cy="4703019"/>
          </a:xfrm>
          <a:prstGeom prst="rect">
            <a:avLst/>
          </a:prstGeom>
          <a:noFill/>
        </p:spPr>
        <p:txBody>
          <a:bodyPr wrap="square" rtlCol="0">
            <a:spAutoFit/>
          </a:bodyPr>
          <a:lstStyle/>
          <a:p>
            <a:pPr>
              <a:spcAft>
                <a:spcPts val="600"/>
              </a:spcAft>
            </a:pPr>
            <a:r>
              <a:rPr sz="1250">
                <a:solidFill>
                  <a:srgbClr val="657062"/>
                </a:solidFill>
                <a:latin typeface="Calibri"/>
              </a:rPr>
              <a:t>Problem Statement ID – </a:t>
            </a:r>
            <a:r>
              <a:rPr sz="1250" b="1">
                <a:solidFill>
                  <a:srgbClr val="11140F"/>
                </a:solidFill>
                <a:latin typeface="Calibri"/>
              </a:rPr>
              <a:t>SIH26033</a:t>
            </a:r>
            <a:endParaRPr lang="en-US" dirty="0"/>
          </a:p>
          <a:p>
            <a:pPr>
              <a:spcAft>
                <a:spcPts val="600"/>
              </a:spcAft>
            </a:pPr>
            <a:r>
              <a:rPr sz="1250">
                <a:solidFill>
                  <a:srgbClr val="657062"/>
                </a:solidFill>
                <a:latin typeface="Calibri"/>
              </a:rPr>
              <a:t>Problem Statement Title – </a:t>
            </a:r>
            <a:r>
              <a:rPr sz="1250" b="1">
                <a:solidFill>
                  <a:srgbClr val="11140F"/>
                </a:solidFill>
                <a:latin typeface="Calibri"/>
              </a:rPr>
              <a:t>Farmer-first agricultural trading platform with pooled delivery</a:t>
            </a:r>
          </a:p>
          <a:p>
            <a:pPr>
              <a:spcAft>
                <a:spcPts val="600"/>
              </a:spcAft>
            </a:pPr>
            <a:r>
              <a:rPr sz="1250">
                <a:solidFill>
                  <a:srgbClr val="657062"/>
                </a:solidFill>
                <a:latin typeface="Calibri"/>
              </a:rPr>
              <a:t>Theme – </a:t>
            </a:r>
            <a:r>
              <a:rPr sz="1250" b="1">
                <a:solidFill>
                  <a:srgbClr val="11140F"/>
                </a:solidFill>
                <a:latin typeface="Calibri"/>
              </a:rPr>
              <a:t>Agriculture, FoodTech &amp; Rural Development</a:t>
            </a:r>
          </a:p>
          <a:p>
            <a:pPr>
              <a:spcAft>
                <a:spcPts val="600"/>
              </a:spcAft>
            </a:pPr>
            <a:r>
              <a:rPr sz="1250">
                <a:solidFill>
                  <a:srgbClr val="657062"/>
                </a:solidFill>
                <a:latin typeface="Calibri"/>
              </a:rPr>
              <a:t>PS Category – </a:t>
            </a:r>
            <a:r>
              <a:rPr sz="1250" b="1">
                <a:solidFill>
                  <a:srgbClr val="11140F"/>
                </a:solidFill>
                <a:latin typeface="Calibri"/>
              </a:rPr>
              <a:t>Software</a:t>
            </a:r>
          </a:p>
          <a:p>
            <a:pPr>
              <a:spcAft>
                <a:spcPts val="600"/>
              </a:spcAft>
            </a:pPr>
            <a:r>
              <a:rPr sz="1250">
                <a:solidFill>
                  <a:srgbClr val="657062"/>
                </a:solidFill>
                <a:latin typeface="Calibri"/>
              </a:rPr>
              <a:t>Team ID – </a:t>
            </a:r>
            <a:r>
              <a:rPr sz="1250" b="1">
                <a:solidFill>
                  <a:srgbClr val="11140F"/>
                </a:solidFill>
                <a:latin typeface="Calibri"/>
              </a:rPr>
              <a:t>SIH26-SW059</a:t>
            </a:r>
          </a:p>
          <a:p>
            <a:pPr>
              <a:spcAft>
                <a:spcPts val="600"/>
              </a:spcAft>
            </a:pPr>
            <a:r>
              <a:rPr sz="1250">
                <a:solidFill>
                  <a:srgbClr val="657062"/>
                </a:solidFill>
                <a:latin typeface="Calibri"/>
              </a:rPr>
              <a:t>Team Name – </a:t>
            </a:r>
            <a:r>
              <a:rPr sz="1250" b="1">
                <a:solidFill>
                  <a:srgbClr val="11140F"/>
                </a:solidFill>
                <a:latin typeface="Calibri"/>
              </a:rPr>
              <a:t>Logic_Lords — Ramrao Adik Institute of Technology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8" name="Picture 37" descr="art_handshake.png"/>
          <p:cNvPicPr>
            <a:picLocks noChangeAspect="1"/>
          </p:cNvPicPr>
          <p:nvPr/>
        </p:nvPicPr>
        <p:blipFill>
          <a:blip r:embed="rId4"/>
          <a:stretch>
            <a:fillRect/>
          </a:stretch>
        </p:blipFill>
        <p:spPr>
          <a:xfrm>
            <a:off x="384048" y="4498848"/>
            <a:ext cx="1371600" cy="1371600"/>
          </a:xfrm>
          <a:prstGeom prst="rect">
            <a:avLst/>
          </a:prstGeom>
        </p:spPr>
      </p:pic>
      <p:sp>
        <p:nvSpPr>
          <p:cNvPr id="39" name="TextBox 38"/>
          <p:cNvSpPr txBox="1"/>
          <p:nvPr/>
        </p:nvSpPr>
        <p:spPr>
          <a:xfrm>
            <a:off x="1883664" y="4791456"/>
            <a:ext cx="4023360" cy="731520"/>
          </a:xfrm>
          <a:prstGeom prst="rect">
            <a:avLst/>
          </a:prstGeom>
          <a:noFill/>
        </p:spPr>
        <p:txBody>
          <a:bodyPr wrap="square" lIns="0" rIns="0" tIns="0" bIns="0" anchor="t">
            <a:spAutoFit/>
          </a:bodyPr>
          <a:lstStyle/>
          <a:p>
            <a:pPr algn="l">
              <a:lnSpc>
                <a:spcPts val="1700"/>
              </a:lnSpc>
            </a:pPr>
            <a:r>
              <a:rPr sz="1300" b="0" i="0">
                <a:solidFill>
                  <a:srgbClr val="2F6B3A"/>
                </a:solidFill>
                <a:latin typeface="Cambria"/>
              </a:rPr>
              <a:t>The farmer names the price.
Everything after it is shared transport.</a:t>
            </a:r>
          </a:p>
        </p:txBody>
      </p:sp>
      <p:sp>
        <p:nvSpPr>
          <p:cNvPr id="40" name="TextBox 39"/>
          <p:cNvSpPr txBox="1"/>
          <p:nvPr/>
        </p:nvSpPr>
        <p:spPr>
          <a:xfrm>
            <a:off x="1883664" y="5541264"/>
            <a:ext cx="4023360" cy="237744"/>
          </a:xfrm>
          <a:prstGeom prst="rect">
            <a:avLst/>
          </a:prstGeom>
          <a:noFill/>
        </p:spPr>
        <p:txBody>
          <a:bodyPr wrap="square" lIns="0" rIns="0" tIns="0" bIns="0" anchor="t">
            <a:spAutoFit/>
          </a:bodyPr>
          <a:lstStyle/>
          <a:p>
            <a:pPr algn="l"/>
            <a:r>
              <a:rPr sz="1000" b="0" i="0">
                <a:solidFill>
                  <a:srgbClr val="657062"/>
                </a:solidFill>
                <a:latin typeface="Calibri"/>
              </a:rPr>
              <a:t>Working prototype · krishisetu-weld.vercel.app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KRISHISETU — POOLED DELIVERY</a:t>
            </a:r>
            <a:br>
              <a:rPr lang="en-US" sz="3600" b="1" dirty="0">
                <a:latin typeface="Times New Roman" panose="02020603050405020304" pitchFamily="18" charset="0"/>
                <a:ea typeface="ＭＳ Ｐゴシック" pitchFamily="1" charset="-128"/>
                <a:cs typeface="Times New Roman" panose="02020603050405020304" pitchFamily="18" charset="0"/>
              </a:rPr>
            </a:b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02920" y="1078992"/>
            <a:ext cx="11247120" cy="329184"/>
          </a:xfrm>
          <a:prstGeom prst="rect">
            <a:avLst/>
          </a:prstGeom>
          <a:noFill/>
        </p:spPr>
        <p:txBody>
          <a:bodyPr wrap="square" lIns="0" rIns="0" tIns="0" bIns="0" anchor="t">
            <a:spAutoFit/>
          </a:bodyPr>
          <a:lstStyle/>
          <a:p>
            <a:pPr algn="l"/>
            <a:r>
              <a:rPr sz="1500" b="1" i="0">
                <a:solidFill>
                  <a:srgbClr val="11140F"/>
                </a:solidFill>
                <a:latin typeface="Cambria"/>
              </a:rPr>
              <a:t>The farmer's rate is an input to the price, never the leftover</a:t>
            </a:r>
          </a:p>
        </p:txBody>
      </p:sp>
      <p:sp>
        <p:nvSpPr>
          <p:cNvPr id="15363" name="TextBox 15362"/>
          <p:cNvSpPr txBox="1"/>
          <p:nvPr/>
        </p:nvSpPr>
        <p:spPr>
          <a:xfrm>
            <a:off x="502920" y="1517904"/>
            <a:ext cx="5486400" cy="182880"/>
          </a:xfrm>
          <a:prstGeom prst="rect">
            <a:avLst/>
          </a:prstGeom>
          <a:noFill/>
        </p:spPr>
        <p:txBody>
          <a:bodyPr wrap="square" lIns="0" rIns="0" tIns="0" bIns="0" anchor="t">
            <a:spAutoFit/>
          </a:bodyPr>
          <a:lstStyle/>
          <a:p>
            <a:pPr algn="l"/>
            <a:r>
              <a:rPr sz="850" b="1" i="0" spc="140">
                <a:solidFill>
                  <a:srgbClr val="657062"/>
                </a:solidFill>
                <a:latin typeface="Calibri"/>
              </a:rPr>
              <a:t>ONE KILOGRAM OF TOMATO, BUILT UPWARD</a:t>
            </a:r>
          </a:p>
        </p:txBody>
      </p:sp>
      <p:sp>
        <p:nvSpPr>
          <p:cNvPr id="15364" name="Rectangle 15363"/>
          <p:cNvSpPr/>
          <p:nvPr/>
        </p:nvSpPr>
        <p:spPr>
          <a:xfrm>
            <a:off x="502920" y="1773936"/>
            <a:ext cx="4017272" cy="365760"/>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ectangle 15364"/>
          <p:cNvSpPr/>
          <p:nvPr/>
        </p:nvSpPr>
        <p:spPr>
          <a:xfrm>
            <a:off x="4520192" y="1773936"/>
            <a:ext cx="555328" cy="365760"/>
          </a:xfrm>
          <a:prstGeom prst="rect">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6" name="Rectangle 15365"/>
          <p:cNvSpPr/>
          <p:nvPr/>
        </p:nvSpPr>
        <p:spPr>
          <a:xfrm>
            <a:off x="5075520" y="1773936"/>
            <a:ext cx="467894" cy="36576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ectangle 15366"/>
          <p:cNvSpPr/>
          <p:nvPr/>
        </p:nvSpPr>
        <p:spPr>
          <a:xfrm>
            <a:off x="5543414" y="1773936"/>
            <a:ext cx="354465" cy="365760"/>
          </a:xfrm>
          <a:prstGeom prst="rect">
            <a:avLst/>
          </a:prstGeom>
          <a:solidFill>
            <a:srgbClr val="8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8" name="Oval 15367"/>
          <p:cNvSpPr/>
          <p:nvPr/>
        </p:nvSpPr>
        <p:spPr>
          <a:xfrm>
            <a:off x="502920" y="2249424"/>
            <a:ext cx="91440" cy="9144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9" name="TextBox 15368"/>
          <p:cNvSpPr txBox="1"/>
          <p:nvPr/>
        </p:nvSpPr>
        <p:spPr>
          <a:xfrm>
            <a:off x="649224" y="2194560"/>
            <a:ext cx="822960" cy="201168"/>
          </a:xfrm>
          <a:prstGeom prst="rect">
            <a:avLst/>
          </a:prstGeom>
          <a:noFill/>
        </p:spPr>
        <p:txBody>
          <a:bodyPr wrap="square" lIns="0" rIns="0" tIns="0" bIns="0" anchor="t">
            <a:spAutoFit/>
          </a:bodyPr>
          <a:lstStyle/>
          <a:p>
            <a:pPr algn="l"/>
            <a:r>
              <a:rPr sz="900" b="0" i="0">
                <a:solidFill>
                  <a:srgbClr val="11140F"/>
                </a:solidFill>
                <a:latin typeface="Calibri"/>
              </a:rPr>
              <a:t>Farmer</a:t>
            </a:r>
          </a:p>
        </p:txBody>
      </p:sp>
      <p:sp>
        <p:nvSpPr>
          <p:cNvPr id="15370" name="TextBox 15369"/>
          <p:cNvSpPr txBox="1"/>
          <p:nvPr/>
        </p:nvSpPr>
        <p:spPr>
          <a:xfrm>
            <a:off x="649224" y="2395728"/>
            <a:ext cx="822960" cy="201168"/>
          </a:xfrm>
          <a:prstGeom prst="rect">
            <a:avLst/>
          </a:prstGeom>
          <a:noFill/>
        </p:spPr>
        <p:txBody>
          <a:bodyPr wrap="square" lIns="0" rIns="0" tIns="0" bIns="0" anchor="t">
            <a:spAutoFit/>
          </a:bodyPr>
          <a:lstStyle/>
          <a:p>
            <a:pPr algn="l"/>
            <a:r>
              <a:rPr sz="1050" b="1" i="0">
                <a:solidFill>
                  <a:srgbClr val="2F6B3A"/>
                </a:solidFill>
                <a:latin typeface="Calibri"/>
              </a:rPr>
              <a:t>₹34.00</a:t>
            </a:r>
          </a:p>
        </p:txBody>
      </p:sp>
      <p:sp>
        <p:nvSpPr>
          <p:cNvPr id="15371" name="Oval 15370"/>
          <p:cNvSpPr/>
          <p:nvPr/>
        </p:nvSpPr>
        <p:spPr>
          <a:xfrm>
            <a:off x="1856232" y="2249424"/>
            <a:ext cx="91440" cy="91440"/>
          </a:xfrm>
          <a:prstGeom prst="ellipse">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2" name="TextBox 15371"/>
          <p:cNvSpPr txBox="1"/>
          <p:nvPr/>
        </p:nvSpPr>
        <p:spPr>
          <a:xfrm>
            <a:off x="2002536" y="2194560"/>
            <a:ext cx="822960" cy="201168"/>
          </a:xfrm>
          <a:prstGeom prst="rect">
            <a:avLst/>
          </a:prstGeom>
          <a:noFill/>
        </p:spPr>
        <p:txBody>
          <a:bodyPr wrap="square" lIns="0" rIns="0" tIns="0" bIns="0" anchor="t">
            <a:spAutoFit/>
          </a:bodyPr>
          <a:lstStyle/>
          <a:p>
            <a:pPr algn="l"/>
            <a:r>
              <a:rPr sz="900" b="0" i="0">
                <a:solidFill>
                  <a:srgbClr val="11140F"/>
                </a:solidFill>
                <a:latin typeface="Calibri"/>
              </a:rPr>
              <a:t>Transport</a:t>
            </a:r>
          </a:p>
        </p:txBody>
      </p:sp>
      <p:sp>
        <p:nvSpPr>
          <p:cNvPr id="15373" name="TextBox 15372"/>
          <p:cNvSpPr txBox="1"/>
          <p:nvPr/>
        </p:nvSpPr>
        <p:spPr>
          <a:xfrm>
            <a:off x="2002536" y="2395728"/>
            <a:ext cx="822960" cy="201168"/>
          </a:xfrm>
          <a:prstGeom prst="rect">
            <a:avLst/>
          </a:prstGeom>
          <a:noFill/>
        </p:spPr>
        <p:txBody>
          <a:bodyPr wrap="square" lIns="0" rIns="0" tIns="0" bIns="0" anchor="t">
            <a:spAutoFit/>
          </a:bodyPr>
          <a:lstStyle/>
          <a:p>
            <a:pPr algn="l"/>
            <a:r>
              <a:rPr sz="1050" b="1" i="0">
                <a:solidFill>
                  <a:srgbClr val="6B8CAE"/>
                </a:solidFill>
                <a:latin typeface="Calibri"/>
              </a:rPr>
              <a:t>₹4.70</a:t>
            </a:r>
          </a:p>
        </p:txBody>
      </p:sp>
      <p:sp>
        <p:nvSpPr>
          <p:cNvPr id="15374" name="Oval 15373"/>
          <p:cNvSpPr/>
          <p:nvPr/>
        </p:nvSpPr>
        <p:spPr>
          <a:xfrm>
            <a:off x="3209544" y="2249424"/>
            <a:ext cx="91440" cy="9144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5" name="TextBox 15374"/>
          <p:cNvSpPr txBox="1"/>
          <p:nvPr/>
        </p:nvSpPr>
        <p:spPr>
          <a:xfrm>
            <a:off x="3355848" y="2194560"/>
            <a:ext cx="822960" cy="201168"/>
          </a:xfrm>
          <a:prstGeom prst="rect">
            <a:avLst/>
          </a:prstGeom>
          <a:noFill/>
        </p:spPr>
        <p:txBody>
          <a:bodyPr wrap="square" lIns="0" rIns="0" tIns="0" bIns="0" anchor="t">
            <a:spAutoFit/>
          </a:bodyPr>
          <a:lstStyle/>
          <a:p>
            <a:pPr algn="l"/>
            <a:r>
              <a:rPr sz="900" b="0" i="0">
                <a:solidFill>
                  <a:srgbClr val="11140F"/>
                </a:solidFill>
                <a:latin typeface="Calibri"/>
              </a:rPr>
              <a:t>Packing</a:t>
            </a:r>
          </a:p>
        </p:txBody>
      </p:sp>
      <p:sp>
        <p:nvSpPr>
          <p:cNvPr id="15376" name="TextBox 15375"/>
          <p:cNvSpPr txBox="1"/>
          <p:nvPr/>
        </p:nvSpPr>
        <p:spPr>
          <a:xfrm>
            <a:off x="3355848" y="2395728"/>
            <a:ext cx="822960" cy="201168"/>
          </a:xfrm>
          <a:prstGeom prst="rect">
            <a:avLst/>
          </a:prstGeom>
          <a:noFill/>
        </p:spPr>
        <p:txBody>
          <a:bodyPr wrap="square" lIns="0" rIns="0" tIns="0" bIns="0" anchor="t">
            <a:spAutoFit/>
          </a:bodyPr>
          <a:lstStyle/>
          <a:p>
            <a:pPr algn="l"/>
            <a:r>
              <a:rPr sz="1050" b="1" i="0">
                <a:solidFill>
                  <a:srgbClr val="B7791F"/>
                </a:solidFill>
                <a:latin typeface="Calibri"/>
              </a:rPr>
              <a:t>₹3.96</a:t>
            </a:r>
          </a:p>
        </p:txBody>
      </p:sp>
      <p:sp>
        <p:nvSpPr>
          <p:cNvPr id="15377" name="Oval 15376"/>
          <p:cNvSpPr/>
          <p:nvPr/>
        </p:nvSpPr>
        <p:spPr>
          <a:xfrm>
            <a:off x="4562855" y="2249424"/>
            <a:ext cx="91440" cy="91440"/>
          </a:xfrm>
          <a:prstGeom prst="ellipse">
            <a:avLst/>
          </a:prstGeom>
          <a:solidFill>
            <a:srgbClr val="8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8" name="TextBox 15377"/>
          <p:cNvSpPr txBox="1"/>
          <p:nvPr/>
        </p:nvSpPr>
        <p:spPr>
          <a:xfrm>
            <a:off x="4709159" y="2194560"/>
            <a:ext cx="822960" cy="201168"/>
          </a:xfrm>
          <a:prstGeom prst="rect">
            <a:avLst/>
          </a:prstGeom>
          <a:noFill/>
        </p:spPr>
        <p:txBody>
          <a:bodyPr wrap="square" lIns="0" rIns="0" tIns="0" bIns="0" anchor="t">
            <a:spAutoFit/>
          </a:bodyPr>
          <a:lstStyle/>
          <a:p>
            <a:pPr algn="l"/>
            <a:r>
              <a:rPr sz="900" b="0" i="0">
                <a:solidFill>
                  <a:srgbClr val="11140F"/>
                </a:solidFill>
                <a:latin typeface="Calibri"/>
              </a:rPr>
              <a:t>Site fee</a:t>
            </a:r>
          </a:p>
        </p:txBody>
      </p:sp>
      <p:sp>
        <p:nvSpPr>
          <p:cNvPr id="15379" name="TextBox 15378"/>
          <p:cNvSpPr txBox="1"/>
          <p:nvPr/>
        </p:nvSpPr>
        <p:spPr>
          <a:xfrm>
            <a:off x="4709159" y="2395728"/>
            <a:ext cx="822960" cy="201168"/>
          </a:xfrm>
          <a:prstGeom prst="rect">
            <a:avLst/>
          </a:prstGeom>
          <a:noFill/>
        </p:spPr>
        <p:txBody>
          <a:bodyPr wrap="square" lIns="0" rIns="0" tIns="0" bIns="0" anchor="t">
            <a:spAutoFit/>
          </a:bodyPr>
          <a:lstStyle/>
          <a:p>
            <a:pPr algn="l"/>
            <a:r>
              <a:rPr sz="1050" b="1" i="0">
                <a:solidFill>
                  <a:srgbClr val="8A7FAE"/>
                </a:solidFill>
                <a:latin typeface="Calibri"/>
              </a:rPr>
              <a:t>₹3.00</a:t>
            </a:r>
          </a:p>
        </p:txBody>
      </p:sp>
      <p:sp>
        <p:nvSpPr>
          <p:cNvPr id="15380" name="TextBox 15379"/>
          <p:cNvSpPr txBox="1"/>
          <p:nvPr/>
        </p:nvSpPr>
        <p:spPr>
          <a:xfrm>
            <a:off x="502920" y="2706624"/>
            <a:ext cx="5394960" cy="384048"/>
          </a:xfrm>
          <a:prstGeom prst="rect">
            <a:avLst/>
          </a:prstGeom>
          <a:noFill/>
        </p:spPr>
        <p:txBody>
          <a:bodyPr wrap="square" lIns="0" rIns="0" tIns="0" bIns="0">
            <a:spAutoFit/>
          </a:bodyPr>
          <a:lstStyle/>
          <a:p>
            <a:pPr algn="l"/>
            <a:r>
              <a:rPr sz="2600" b="1" i="0">
                <a:solidFill>
                  <a:srgbClr val="11140F"/>
                </a:solidFill>
                <a:latin typeface="Cambria"/>
              </a:rPr>
              <a:t>₹45.66</a:t>
            </a:r>
            <a:r>
              <a:rPr sz="1050" b="0" i="0">
                <a:solidFill>
                  <a:srgbClr val="657062"/>
                </a:solidFill>
                <a:latin typeface="Calibri"/>
              </a:rPr>
              <a:t>  buyer pays   </a:t>
            </a:r>
            <a:r>
              <a:rPr sz="1050" b="0" i="0">
                <a:solidFill>
                  <a:srgbClr val="B7791F"/>
                </a:solidFill>
                <a:latin typeface="Calibri"/>
              </a:rPr>
              <a:t>vs ₹55.00 quick-commerce</a:t>
            </a:r>
          </a:p>
        </p:txBody>
      </p:sp>
      <p:sp>
        <p:nvSpPr>
          <p:cNvPr id="15381" name="TextBox 15380"/>
          <p:cNvSpPr txBox="1"/>
          <p:nvPr/>
        </p:nvSpPr>
        <p:spPr>
          <a:xfrm>
            <a:off x="502920" y="3218688"/>
            <a:ext cx="5486400" cy="182880"/>
          </a:xfrm>
          <a:prstGeom prst="rect">
            <a:avLst/>
          </a:prstGeom>
          <a:noFill/>
        </p:spPr>
        <p:txBody>
          <a:bodyPr wrap="square" lIns="0" rIns="0" tIns="0" bIns="0" anchor="t">
            <a:spAutoFit/>
          </a:bodyPr>
          <a:lstStyle/>
          <a:p>
            <a:pPr algn="l"/>
            <a:r>
              <a:rPr sz="850" b="1" i="0" spc="140">
                <a:solidFill>
                  <a:srgbClr val="657062"/>
                </a:solidFill>
                <a:latin typeface="Calibri"/>
              </a:rPr>
              <a:t>ONE 5 KG ORDER · TWO NAMED FARMS</a:t>
            </a:r>
          </a:p>
        </p:txBody>
      </p:sp>
      <p:sp>
        <p:nvSpPr>
          <p:cNvPr id="15382" name="Rounded Rectangle 15381"/>
          <p:cNvSpPr/>
          <p:nvPr/>
        </p:nvSpPr>
        <p:spPr>
          <a:xfrm>
            <a:off x="502920" y="3456432"/>
            <a:ext cx="5394960" cy="71323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83" name="Picture 15382" descr="art_farmer_phone.png"/>
          <p:cNvPicPr>
            <a:picLocks noChangeAspect="1"/>
          </p:cNvPicPr>
          <p:nvPr/>
        </p:nvPicPr>
        <p:blipFill>
          <a:blip r:embed="rId4"/>
          <a:stretch>
            <a:fillRect/>
          </a:stretch>
        </p:blipFill>
        <p:spPr>
          <a:xfrm>
            <a:off x="585216" y="3483863"/>
            <a:ext cx="658368" cy="658368"/>
          </a:xfrm>
          <a:prstGeom prst="rect">
            <a:avLst/>
          </a:prstGeom>
        </p:spPr>
      </p:pic>
      <p:sp>
        <p:nvSpPr>
          <p:cNvPr id="15384" name="TextBox 15383"/>
          <p:cNvSpPr txBox="1"/>
          <p:nvPr/>
        </p:nvSpPr>
        <p:spPr>
          <a:xfrm>
            <a:off x="1335024" y="3584448"/>
            <a:ext cx="2103120" cy="219456"/>
          </a:xfrm>
          <a:prstGeom prst="rect">
            <a:avLst/>
          </a:prstGeom>
          <a:noFill/>
        </p:spPr>
        <p:txBody>
          <a:bodyPr wrap="square" lIns="0" rIns="0" tIns="0" bIns="0" anchor="t">
            <a:spAutoFit/>
          </a:bodyPr>
          <a:lstStyle/>
          <a:p>
            <a:pPr algn="l"/>
            <a:r>
              <a:rPr sz="1150" b="1" i="0">
                <a:solidFill>
                  <a:srgbClr val="11140F"/>
                </a:solidFill>
                <a:latin typeface="Calibri"/>
              </a:rPr>
              <a:t>Sanjay Patil</a:t>
            </a:r>
          </a:p>
        </p:txBody>
      </p:sp>
      <p:sp>
        <p:nvSpPr>
          <p:cNvPr id="15385" name="TextBox 15384"/>
          <p:cNvSpPr txBox="1"/>
          <p:nvPr/>
        </p:nvSpPr>
        <p:spPr>
          <a:xfrm>
            <a:off x="1335024" y="3822191"/>
            <a:ext cx="2103120" cy="201168"/>
          </a:xfrm>
          <a:prstGeom prst="rect">
            <a:avLst/>
          </a:prstGeom>
          <a:noFill/>
        </p:spPr>
        <p:txBody>
          <a:bodyPr wrap="square" lIns="0" rIns="0" tIns="0" bIns="0" anchor="t">
            <a:spAutoFit/>
          </a:bodyPr>
          <a:lstStyle/>
          <a:p>
            <a:pPr algn="l"/>
            <a:r>
              <a:rPr sz="900" b="0" i="0">
                <a:solidFill>
                  <a:srgbClr val="657062"/>
                </a:solidFill>
                <a:latin typeface="Calibri"/>
              </a:rPr>
              <a:t>Khalapur, Raigad</a:t>
            </a:r>
          </a:p>
        </p:txBody>
      </p:sp>
      <p:sp>
        <p:nvSpPr>
          <p:cNvPr id="15386" name="TextBox 15385"/>
          <p:cNvSpPr txBox="1"/>
          <p:nvPr/>
        </p:nvSpPr>
        <p:spPr>
          <a:xfrm>
            <a:off x="3474720" y="3694176"/>
            <a:ext cx="822960" cy="237744"/>
          </a:xfrm>
          <a:prstGeom prst="rect">
            <a:avLst/>
          </a:prstGeom>
          <a:noFill/>
        </p:spPr>
        <p:txBody>
          <a:bodyPr wrap="square" lIns="0" rIns="0" tIns="0" bIns="0" anchor="t">
            <a:spAutoFit/>
          </a:bodyPr>
          <a:lstStyle/>
          <a:p>
            <a:pPr algn="r"/>
            <a:r>
              <a:rPr sz="1100" b="0" i="0">
                <a:solidFill>
                  <a:srgbClr val="11140F"/>
                </a:solidFill>
                <a:latin typeface="Calibri"/>
              </a:rPr>
              <a:t>3.0 kg</a:t>
            </a:r>
          </a:p>
        </p:txBody>
      </p:sp>
      <p:sp>
        <p:nvSpPr>
          <p:cNvPr id="15387" name="TextBox 15386"/>
          <p:cNvSpPr txBox="1"/>
          <p:nvPr/>
        </p:nvSpPr>
        <p:spPr>
          <a:xfrm>
            <a:off x="4389120" y="3675887"/>
            <a:ext cx="1371600" cy="274320"/>
          </a:xfrm>
          <a:prstGeom prst="rect">
            <a:avLst/>
          </a:prstGeom>
          <a:noFill/>
        </p:spPr>
        <p:txBody>
          <a:bodyPr wrap="square" lIns="0" rIns="0" tIns="0" bIns="0" anchor="t">
            <a:spAutoFit/>
          </a:bodyPr>
          <a:lstStyle/>
          <a:p>
            <a:pPr algn="r"/>
            <a:r>
              <a:rPr sz="1300" b="1" i="0">
                <a:solidFill>
                  <a:srgbClr val="2F6B3A"/>
                </a:solidFill>
                <a:latin typeface="Calibri"/>
              </a:rPr>
              <a:t>₹102.00</a:t>
            </a:r>
          </a:p>
        </p:txBody>
      </p:sp>
      <p:sp>
        <p:nvSpPr>
          <p:cNvPr id="15388" name="Rounded Rectangle 15387"/>
          <p:cNvSpPr/>
          <p:nvPr/>
        </p:nvSpPr>
        <p:spPr>
          <a:xfrm>
            <a:off x="502920" y="4261104"/>
            <a:ext cx="5394960" cy="71323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89" name="Picture 15388" descr="art_farmer_woman.png"/>
          <p:cNvPicPr>
            <a:picLocks noChangeAspect="1"/>
          </p:cNvPicPr>
          <p:nvPr/>
        </p:nvPicPr>
        <p:blipFill>
          <a:blip r:embed="rId5"/>
          <a:stretch>
            <a:fillRect/>
          </a:stretch>
        </p:blipFill>
        <p:spPr>
          <a:xfrm>
            <a:off x="585216" y="4288536"/>
            <a:ext cx="658368" cy="658368"/>
          </a:xfrm>
          <a:prstGeom prst="rect">
            <a:avLst/>
          </a:prstGeom>
        </p:spPr>
      </p:pic>
      <p:sp>
        <p:nvSpPr>
          <p:cNvPr id="15390" name="TextBox 15389"/>
          <p:cNvSpPr txBox="1"/>
          <p:nvPr/>
        </p:nvSpPr>
        <p:spPr>
          <a:xfrm>
            <a:off x="1335024" y="4389120"/>
            <a:ext cx="2103120" cy="219456"/>
          </a:xfrm>
          <a:prstGeom prst="rect">
            <a:avLst/>
          </a:prstGeom>
          <a:noFill/>
        </p:spPr>
        <p:txBody>
          <a:bodyPr wrap="square" lIns="0" rIns="0" tIns="0" bIns="0" anchor="t">
            <a:spAutoFit/>
          </a:bodyPr>
          <a:lstStyle/>
          <a:p>
            <a:pPr algn="l"/>
            <a:r>
              <a:rPr sz="1150" b="1" i="0">
                <a:solidFill>
                  <a:srgbClr val="11140F"/>
                </a:solidFill>
                <a:latin typeface="Calibri"/>
              </a:rPr>
              <a:t>Meena Bhoir</a:t>
            </a:r>
          </a:p>
        </p:txBody>
      </p:sp>
      <p:sp>
        <p:nvSpPr>
          <p:cNvPr id="15391" name="TextBox 15390"/>
          <p:cNvSpPr txBox="1"/>
          <p:nvPr/>
        </p:nvSpPr>
        <p:spPr>
          <a:xfrm>
            <a:off x="1335024" y="4626864"/>
            <a:ext cx="2103120" cy="201168"/>
          </a:xfrm>
          <a:prstGeom prst="rect">
            <a:avLst/>
          </a:prstGeom>
          <a:noFill/>
        </p:spPr>
        <p:txBody>
          <a:bodyPr wrap="square" lIns="0" rIns="0" tIns="0" bIns="0" anchor="t">
            <a:spAutoFit/>
          </a:bodyPr>
          <a:lstStyle/>
          <a:p>
            <a:pPr algn="l"/>
            <a:r>
              <a:rPr sz="900" b="0" i="0">
                <a:solidFill>
                  <a:srgbClr val="657062"/>
                </a:solidFill>
                <a:latin typeface="Calibri"/>
              </a:rPr>
              <a:t>Panvel Rural, Raigad</a:t>
            </a:r>
          </a:p>
        </p:txBody>
      </p:sp>
      <p:sp>
        <p:nvSpPr>
          <p:cNvPr id="15392" name="TextBox 15391"/>
          <p:cNvSpPr txBox="1"/>
          <p:nvPr/>
        </p:nvSpPr>
        <p:spPr>
          <a:xfrm>
            <a:off x="3474720" y="4498848"/>
            <a:ext cx="822960" cy="237744"/>
          </a:xfrm>
          <a:prstGeom prst="rect">
            <a:avLst/>
          </a:prstGeom>
          <a:noFill/>
        </p:spPr>
        <p:txBody>
          <a:bodyPr wrap="square" lIns="0" rIns="0" tIns="0" bIns="0" anchor="t">
            <a:spAutoFit/>
          </a:bodyPr>
          <a:lstStyle/>
          <a:p>
            <a:pPr algn="r"/>
            <a:r>
              <a:rPr sz="1100" b="0" i="0">
                <a:solidFill>
                  <a:srgbClr val="11140F"/>
                </a:solidFill>
                <a:latin typeface="Calibri"/>
              </a:rPr>
              <a:t>2.0 kg</a:t>
            </a:r>
          </a:p>
        </p:txBody>
      </p:sp>
      <p:sp>
        <p:nvSpPr>
          <p:cNvPr id="15393" name="TextBox 15392"/>
          <p:cNvSpPr txBox="1"/>
          <p:nvPr/>
        </p:nvSpPr>
        <p:spPr>
          <a:xfrm>
            <a:off x="4389120" y="4480560"/>
            <a:ext cx="1371600" cy="274320"/>
          </a:xfrm>
          <a:prstGeom prst="rect">
            <a:avLst/>
          </a:prstGeom>
          <a:noFill/>
        </p:spPr>
        <p:txBody>
          <a:bodyPr wrap="square" lIns="0" rIns="0" tIns="0" bIns="0" anchor="t">
            <a:spAutoFit/>
          </a:bodyPr>
          <a:lstStyle/>
          <a:p>
            <a:pPr algn="r"/>
            <a:r>
              <a:rPr sz="1300" b="1" i="0">
                <a:solidFill>
                  <a:srgbClr val="2F6B3A"/>
                </a:solidFill>
                <a:latin typeface="Calibri"/>
              </a:rPr>
              <a:t>₹68.00</a:t>
            </a:r>
          </a:p>
        </p:txBody>
      </p:sp>
      <p:sp>
        <p:nvSpPr>
          <p:cNvPr id="15394" name="TextBox 15393"/>
          <p:cNvSpPr txBox="1"/>
          <p:nvPr/>
        </p:nvSpPr>
        <p:spPr>
          <a:xfrm>
            <a:off x="6172200" y="1517904"/>
            <a:ext cx="5486400" cy="182880"/>
          </a:xfrm>
          <a:prstGeom prst="rect">
            <a:avLst/>
          </a:prstGeom>
          <a:noFill/>
        </p:spPr>
        <p:txBody>
          <a:bodyPr wrap="square" lIns="0" rIns="0" tIns="0" bIns="0" anchor="t">
            <a:spAutoFit/>
          </a:bodyPr>
          <a:lstStyle/>
          <a:p>
            <a:pPr algn="l"/>
            <a:r>
              <a:rPr sz="850" b="1" i="0" spc="140">
                <a:solidFill>
                  <a:srgbClr val="657062"/>
                </a:solidFill>
                <a:latin typeface="Calibri"/>
              </a:rPr>
              <a:t>WHAT IS ACTUALLY DIFFERENT</a:t>
            </a:r>
          </a:p>
        </p:txBody>
      </p:sp>
      <p:sp>
        <p:nvSpPr>
          <p:cNvPr id="15395" name="Rounded Rectangle 15394"/>
          <p:cNvSpPr/>
          <p:nvPr/>
        </p:nvSpPr>
        <p:spPr>
          <a:xfrm>
            <a:off x="6172200" y="1755648"/>
            <a:ext cx="1755648" cy="1426464"/>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96" name="Picture 15395" descr="art_farmer_phone.png"/>
          <p:cNvPicPr>
            <a:picLocks noChangeAspect="1"/>
          </p:cNvPicPr>
          <p:nvPr/>
        </p:nvPicPr>
        <p:blipFill>
          <a:blip r:embed="rId4"/>
          <a:stretch>
            <a:fillRect/>
          </a:stretch>
        </p:blipFill>
        <p:spPr>
          <a:xfrm>
            <a:off x="6711696" y="1865376"/>
            <a:ext cx="676656" cy="676656"/>
          </a:xfrm>
          <a:prstGeom prst="rect">
            <a:avLst/>
          </a:prstGeom>
        </p:spPr>
      </p:pic>
      <p:sp>
        <p:nvSpPr>
          <p:cNvPr id="15397" name="TextBox 15396"/>
          <p:cNvSpPr txBox="1"/>
          <p:nvPr/>
        </p:nvSpPr>
        <p:spPr>
          <a:xfrm>
            <a:off x="6263640" y="2596896"/>
            <a:ext cx="1572768" cy="201168"/>
          </a:xfrm>
          <a:prstGeom prst="rect">
            <a:avLst/>
          </a:prstGeom>
          <a:noFill/>
        </p:spPr>
        <p:txBody>
          <a:bodyPr wrap="square" lIns="0" rIns="0" tIns="0" bIns="0" anchor="t">
            <a:spAutoFit/>
          </a:bodyPr>
          <a:lstStyle/>
          <a:p>
            <a:pPr algn="ctr"/>
            <a:r>
              <a:rPr sz="1050" b="1" i="0">
                <a:solidFill>
                  <a:srgbClr val="2F6B3A"/>
                </a:solidFill>
                <a:latin typeface="Calibri"/>
              </a:rPr>
              <a:t>Net rate</a:t>
            </a:r>
          </a:p>
        </p:txBody>
      </p:sp>
      <p:sp>
        <p:nvSpPr>
          <p:cNvPr id="15398" name="TextBox 15397"/>
          <p:cNvSpPr txBox="1"/>
          <p:nvPr/>
        </p:nvSpPr>
        <p:spPr>
          <a:xfrm>
            <a:off x="6263640" y="2816352"/>
            <a:ext cx="1572768" cy="365760"/>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nothing deducted, ever</a:t>
            </a:r>
          </a:p>
        </p:txBody>
      </p:sp>
      <p:sp>
        <p:nvSpPr>
          <p:cNvPr id="15399" name="Rounded Rectangle 15398"/>
          <p:cNvSpPr/>
          <p:nvPr/>
        </p:nvSpPr>
        <p:spPr>
          <a:xfrm>
            <a:off x="8028431" y="1755648"/>
            <a:ext cx="1755648" cy="1426464"/>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00" name="Picture 15399" descr="art_tempo_loaded.png"/>
          <p:cNvPicPr>
            <a:picLocks noChangeAspect="1"/>
          </p:cNvPicPr>
          <p:nvPr/>
        </p:nvPicPr>
        <p:blipFill>
          <a:blip r:embed="rId6"/>
          <a:stretch>
            <a:fillRect/>
          </a:stretch>
        </p:blipFill>
        <p:spPr>
          <a:xfrm>
            <a:off x="8567928" y="1865376"/>
            <a:ext cx="676656" cy="676656"/>
          </a:xfrm>
          <a:prstGeom prst="rect">
            <a:avLst/>
          </a:prstGeom>
        </p:spPr>
      </p:pic>
      <p:sp>
        <p:nvSpPr>
          <p:cNvPr id="15401" name="TextBox 15400"/>
          <p:cNvSpPr txBox="1"/>
          <p:nvPr/>
        </p:nvSpPr>
        <p:spPr>
          <a:xfrm>
            <a:off x="8119871" y="2596896"/>
            <a:ext cx="1572768" cy="201168"/>
          </a:xfrm>
          <a:prstGeom prst="rect">
            <a:avLst/>
          </a:prstGeom>
          <a:noFill/>
        </p:spPr>
        <p:txBody>
          <a:bodyPr wrap="square" lIns="0" rIns="0" tIns="0" bIns="0" anchor="t">
            <a:spAutoFit/>
          </a:bodyPr>
          <a:lstStyle/>
          <a:p>
            <a:pPr algn="ctr"/>
            <a:r>
              <a:rPr sz="1050" b="1" i="0">
                <a:solidFill>
                  <a:srgbClr val="6B8CAE"/>
                </a:solidFill>
                <a:latin typeface="Calibri"/>
              </a:rPr>
              <a:t>Pooled by place</a:t>
            </a:r>
          </a:p>
        </p:txBody>
      </p:sp>
      <p:sp>
        <p:nvSpPr>
          <p:cNvPr id="15402" name="TextBox 15401"/>
          <p:cNvSpPr txBox="1"/>
          <p:nvPr/>
        </p:nvSpPr>
        <p:spPr>
          <a:xfrm>
            <a:off x="8119871" y="2816352"/>
            <a:ext cx="1572768" cy="365760"/>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one neighbourhood, one vehicle</a:t>
            </a:r>
          </a:p>
        </p:txBody>
      </p:sp>
      <p:sp>
        <p:nvSpPr>
          <p:cNvPr id="15403" name="Rounded Rectangle 15402"/>
          <p:cNvSpPr/>
          <p:nvPr/>
        </p:nvSpPr>
        <p:spPr>
          <a:xfrm>
            <a:off x="9884663" y="1755648"/>
            <a:ext cx="1755648" cy="1426464"/>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04" name="Picture 15403" descr="art_clipboard_tick.png"/>
          <p:cNvPicPr>
            <a:picLocks noChangeAspect="1"/>
          </p:cNvPicPr>
          <p:nvPr/>
        </p:nvPicPr>
        <p:blipFill>
          <a:blip r:embed="rId7"/>
          <a:stretch>
            <a:fillRect/>
          </a:stretch>
        </p:blipFill>
        <p:spPr>
          <a:xfrm>
            <a:off x="10424159" y="1865376"/>
            <a:ext cx="676656" cy="676656"/>
          </a:xfrm>
          <a:prstGeom prst="rect">
            <a:avLst/>
          </a:prstGeom>
        </p:spPr>
      </p:pic>
      <p:sp>
        <p:nvSpPr>
          <p:cNvPr id="15405" name="TextBox 15404"/>
          <p:cNvSpPr txBox="1"/>
          <p:nvPr/>
        </p:nvSpPr>
        <p:spPr>
          <a:xfrm>
            <a:off x="9976103" y="2596896"/>
            <a:ext cx="1572768" cy="201168"/>
          </a:xfrm>
          <a:prstGeom prst="rect">
            <a:avLst/>
          </a:prstGeom>
          <a:noFill/>
        </p:spPr>
        <p:txBody>
          <a:bodyPr wrap="square" lIns="0" rIns="0" tIns="0" bIns="0" anchor="t">
            <a:spAutoFit/>
          </a:bodyPr>
          <a:lstStyle/>
          <a:p>
            <a:pPr algn="ctr"/>
            <a:r>
              <a:rPr sz="1050" b="1" i="0">
                <a:solidFill>
                  <a:srgbClr val="2F6B3A"/>
                </a:solidFill>
                <a:latin typeface="Calibri"/>
              </a:rPr>
              <a:t>Sold before loaded</a:t>
            </a:r>
          </a:p>
        </p:txBody>
      </p:sp>
      <p:sp>
        <p:nvSpPr>
          <p:cNvPr id="15406" name="TextBox 15405"/>
          <p:cNvSpPr txBox="1"/>
          <p:nvPr/>
        </p:nvSpPr>
        <p:spPr>
          <a:xfrm>
            <a:off x="9976103" y="2816352"/>
            <a:ext cx="1572768" cy="365760"/>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no stock written off</a:t>
            </a:r>
          </a:p>
        </p:txBody>
      </p:sp>
      <p:sp>
        <p:nvSpPr>
          <p:cNvPr id="15407" name="Rounded Rectangle 15406"/>
          <p:cNvSpPr/>
          <p:nvPr/>
        </p:nvSpPr>
        <p:spPr>
          <a:xfrm>
            <a:off x="6172200" y="3291839"/>
            <a:ext cx="1755648" cy="1426464"/>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08" name="Picture 15407" descr="art_basket.png"/>
          <p:cNvPicPr>
            <a:picLocks noChangeAspect="1"/>
          </p:cNvPicPr>
          <p:nvPr/>
        </p:nvPicPr>
        <p:blipFill>
          <a:blip r:embed="rId8"/>
          <a:stretch>
            <a:fillRect/>
          </a:stretch>
        </p:blipFill>
        <p:spPr>
          <a:xfrm>
            <a:off x="6711696" y="3401568"/>
            <a:ext cx="676656" cy="676656"/>
          </a:xfrm>
          <a:prstGeom prst="rect">
            <a:avLst/>
          </a:prstGeom>
        </p:spPr>
      </p:pic>
      <p:sp>
        <p:nvSpPr>
          <p:cNvPr id="15409" name="TextBox 15408"/>
          <p:cNvSpPr txBox="1"/>
          <p:nvPr/>
        </p:nvSpPr>
        <p:spPr>
          <a:xfrm>
            <a:off x="6263640" y="4133087"/>
            <a:ext cx="1572768" cy="201168"/>
          </a:xfrm>
          <a:prstGeom prst="rect">
            <a:avLst/>
          </a:prstGeom>
          <a:noFill/>
        </p:spPr>
        <p:txBody>
          <a:bodyPr wrap="square" lIns="0" rIns="0" tIns="0" bIns="0" anchor="t">
            <a:spAutoFit/>
          </a:bodyPr>
          <a:lstStyle/>
          <a:p>
            <a:pPr algn="ctr"/>
            <a:r>
              <a:rPr sz="1050" b="1" i="0">
                <a:solidFill>
                  <a:srgbClr val="2F6B3A"/>
                </a:solidFill>
                <a:latin typeface="Calibri"/>
              </a:rPr>
              <a:t>Fresher, cheaper</a:t>
            </a:r>
          </a:p>
        </p:txBody>
      </p:sp>
      <p:sp>
        <p:nvSpPr>
          <p:cNvPr id="15410" name="TextBox 15409"/>
          <p:cNvSpPr txBox="1"/>
          <p:nvPr/>
        </p:nvSpPr>
        <p:spPr>
          <a:xfrm>
            <a:off x="6263640" y="4352544"/>
            <a:ext cx="1572768" cy="365760"/>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shorter chain, lower price</a:t>
            </a:r>
          </a:p>
        </p:txBody>
      </p:sp>
      <p:sp>
        <p:nvSpPr>
          <p:cNvPr id="15411" name="Rounded Rectangle 15410"/>
          <p:cNvSpPr/>
          <p:nvPr/>
        </p:nvSpPr>
        <p:spPr>
          <a:xfrm>
            <a:off x="8028431" y="3291839"/>
            <a:ext cx="1755648" cy="1426464"/>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12" name="Picture 15411" descr="art_city_pins.png"/>
          <p:cNvPicPr>
            <a:picLocks noChangeAspect="1"/>
          </p:cNvPicPr>
          <p:nvPr/>
        </p:nvPicPr>
        <p:blipFill>
          <a:blip r:embed="rId9"/>
          <a:stretch>
            <a:fillRect/>
          </a:stretch>
        </p:blipFill>
        <p:spPr>
          <a:xfrm>
            <a:off x="8567928" y="3401568"/>
            <a:ext cx="676656" cy="676656"/>
          </a:xfrm>
          <a:prstGeom prst="rect">
            <a:avLst/>
          </a:prstGeom>
        </p:spPr>
      </p:pic>
      <p:sp>
        <p:nvSpPr>
          <p:cNvPr id="15413" name="TextBox 15412"/>
          <p:cNvSpPr txBox="1"/>
          <p:nvPr/>
        </p:nvSpPr>
        <p:spPr>
          <a:xfrm>
            <a:off x="8119871" y="4133087"/>
            <a:ext cx="1572768" cy="201168"/>
          </a:xfrm>
          <a:prstGeom prst="rect">
            <a:avLst/>
          </a:prstGeom>
          <a:noFill/>
        </p:spPr>
        <p:txBody>
          <a:bodyPr wrap="square" lIns="0" rIns="0" tIns="0" bIns="0" anchor="t">
            <a:spAutoFit/>
          </a:bodyPr>
          <a:lstStyle/>
          <a:p>
            <a:pPr algn="ctr"/>
            <a:r>
              <a:rPr sz="1050" b="1" i="0">
                <a:solidFill>
                  <a:srgbClr val="8A7FAE"/>
                </a:solidFill>
                <a:latin typeface="Calibri"/>
              </a:rPr>
              <a:t>Demand by place</a:t>
            </a:r>
          </a:p>
        </p:txBody>
      </p:sp>
      <p:sp>
        <p:nvSpPr>
          <p:cNvPr id="15414" name="TextBox 15413"/>
          <p:cNvSpPr txBox="1"/>
          <p:nvPr/>
        </p:nvSpPr>
        <p:spPr>
          <a:xfrm>
            <a:off x="8119871" y="4352544"/>
            <a:ext cx="1572768" cy="365760"/>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Nerul 246 · Kharghar 207</a:t>
            </a:r>
          </a:p>
        </p:txBody>
      </p:sp>
      <p:sp>
        <p:nvSpPr>
          <p:cNvPr id="15415" name="Rounded Rectangle 15414"/>
          <p:cNvSpPr/>
          <p:nvPr/>
        </p:nvSpPr>
        <p:spPr>
          <a:xfrm>
            <a:off x="9884663" y="3291839"/>
            <a:ext cx="1755648" cy="1426464"/>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16" name="Picture 15415" descr="art_tomato_crate.png"/>
          <p:cNvPicPr>
            <a:picLocks noChangeAspect="1"/>
          </p:cNvPicPr>
          <p:nvPr/>
        </p:nvPicPr>
        <p:blipFill>
          <a:blip r:embed="rId10"/>
          <a:stretch>
            <a:fillRect/>
          </a:stretch>
        </p:blipFill>
        <p:spPr>
          <a:xfrm>
            <a:off x="10424159" y="3401568"/>
            <a:ext cx="676656" cy="676656"/>
          </a:xfrm>
          <a:prstGeom prst="rect">
            <a:avLst/>
          </a:prstGeom>
        </p:spPr>
      </p:pic>
      <p:sp>
        <p:nvSpPr>
          <p:cNvPr id="15417" name="TextBox 15416"/>
          <p:cNvSpPr txBox="1"/>
          <p:nvPr/>
        </p:nvSpPr>
        <p:spPr>
          <a:xfrm>
            <a:off x="9976103" y="4133087"/>
            <a:ext cx="1572768" cy="201168"/>
          </a:xfrm>
          <a:prstGeom prst="rect">
            <a:avLst/>
          </a:prstGeom>
          <a:noFill/>
        </p:spPr>
        <p:txBody>
          <a:bodyPr wrap="square" lIns="0" rIns="0" tIns="0" bIns="0" anchor="t">
            <a:spAutoFit/>
          </a:bodyPr>
          <a:lstStyle/>
          <a:p>
            <a:pPr algn="ctr"/>
            <a:r>
              <a:rPr sz="1050" b="1" i="0">
                <a:solidFill>
                  <a:srgbClr val="B7791F"/>
                </a:solidFill>
                <a:latin typeface="Calibri"/>
              </a:rPr>
              <a:t>Surplus re-placed</a:t>
            </a:r>
          </a:p>
        </p:txBody>
      </p:sp>
      <p:sp>
        <p:nvSpPr>
          <p:cNvPr id="15418" name="TextBox 15417"/>
          <p:cNvSpPr txBox="1"/>
          <p:nvPr/>
        </p:nvSpPr>
        <p:spPr>
          <a:xfrm>
            <a:off x="9976103" y="4352544"/>
            <a:ext cx="1572768" cy="365760"/>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151 kg split across three</a:t>
            </a:r>
          </a:p>
        </p:txBody>
      </p:sp>
      <p:sp>
        <p:nvSpPr>
          <p:cNvPr id="15419" name="TextBox 15418"/>
          <p:cNvSpPr txBox="1"/>
          <p:nvPr/>
        </p:nvSpPr>
        <p:spPr>
          <a:xfrm>
            <a:off x="6172200" y="4846320"/>
            <a:ext cx="5486400" cy="182880"/>
          </a:xfrm>
          <a:prstGeom prst="rect">
            <a:avLst/>
          </a:prstGeom>
          <a:noFill/>
        </p:spPr>
        <p:txBody>
          <a:bodyPr wrap="square" lIns="0" rIns="0" tIns="0" bIns="0" anchor="t">
            <a:spAutoFit/>
          </a:bodyPr>
          <a:lstStyle/>
          <a:p>
            <a:pPr algn="l"/>
            <a:r>
              <a:rPr sz="850" b="1" i="0" spc="140">
                <a:solidFill>
                  <a:srgbClr val="657062"/>
                </a:solidFill>
                <a:latin typeface="Calibri"/>
              </a:rPr>
              <a:t>HOW THE BUYER RECEIVES IT</a:t>
            </a:r>
          </a:p>
        </p:txBody>
      </p:sp>
      <p:sp>
        <p:nvSpPr>
          <p:cNvPr id="15420" name="Rounded Rectangle 15419"/>
          <p:cNvSpPr/>
          <p:nvPr/>
        </p:nvSpPr>
        <p:spPr>
          <a:xfrm>
            <a:off x="6172200" y="5065776"/>
            <a:ext cx="1755648" cy="859536"/>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21" name="Picture 15420" descr="art_kirana.png"/>
          <p:cNvPicPr>
            <a:picLocks noChangeAspect="1"/>
          </p:cNvPicPr>
          <p:nvPr/>
        </p:nvPicPr>
        <p:blipFill>
          <a:blip r:embed="rId11"/>
          <a:stretch>
            <a:fillRect/>
          </a:stretch>
        </p:blipFill>
        <p:spPr>
          <a:xfrm>
            <a:off x="6245352" y="5120640"/>
            <a:ext cx="731520" cy="731520"/>
          </a:xfrm>
          <a:prstGeom prst="rect">
            <a:avLst/>
          </a:prstGeom>
        </p:spPr>
      </p:pic>
      <p:sp>
        <p:nvSpPr>
          <p:cNvPr id="15422" name="TextBox 15421"/>
          <p:cNvSpPr txBox="1"/>
          <p:nvPr/>
        </p:nvSpPr>
        <p:spPr>
          <a:xfrm>
            <a:off x="7031736" y="5248656"/>
            <a:ext cx="841248" cy="201168"/>
          </a:xfrm>
          <a:prstGeom prst="rect">
            <a:avLst/>
          </a:prstGeom>
          <a:noFill/>
        </p:spPr>
        <p:txBody>
          <a:bodyPr wrap="square" lIns="0" rIns="0" tIns="0" bIns="0" anchor="t">
            <a:spAutoFit/>
          </a:bodyPr>
          <a:lstStyle/>
          <a:p>
            <a:pPr algn="l"/>
            <a:r>
              <a:rPr sz="950" b="1" i="0">
                <a:solidFill>
                  <a:srgbClr val="11140F"/>
                </a:solidFill>
                <a:latin typeface="Calibri"/>
              </a:rPr>
              <a:t>Cluster pickup</a:t>
            </a:r>
          </a:p>
        </p:txBody>
      </p:sp>
      <p:sp>
        <p:nvSpPr>
          <p:cNvPr id="15423" name="TextBox 15422"/>
          <p:cNvSpPr txBox="1"/>
          <p:nvPr/>
        </p:nvSpPr>
        <p:spPr>
          <a:xfrm>
            <a:off x="7031736" y="5468112"/>
            <a:ext cx="841248" cy="237744"/>
          </a:xfrm>
          <a:prstGeom prst="rect">
            <a:avLst/>
          </a:prstGeom>
          <a:noFill/>
        </p:spPr>
        <p:txBody>
          <a:bodyPr wrap="square" lIns="0" rIns="0" tIns="0" bIns="0" anchor="t">
            <a:spAutoFit/>
          </a:bodyPr>
          <a:lstStyle/>
          <a:p>
            <a:pPr algn="l"/>
            <a:r>
              <a:rPr sz="1200" b="1" i="0">
                <a:solidFill>
                  <a:srgbClr val="2F6B3A"/>
                </a:solidFill>
                <a:latin typeface="Calibri"/>
              </a:rPr>
              <a:t>₹10</a:t>
            </a:r>
          </a:p>
        </p:txBody>
      </p:sp>
      <p:sp>
        <p:nvSpPr>
          <p:cNvPr id="15424" name="Rounded Rectangle 15423"/>
          <p:cNvSpPr/>
          <p:nvPr/>
        </p:nvSpPr>
        <p:spPr>
          <a:xfrm>
            <a:off x="8028431" y="5065776"/>
            <a:ext cx="1755648" cy="859536"/>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25" name="Picture 15424" descr="art_handcart.png"/>
          <p:cNvPicPr>
            <a:picLocks noChangeAspect="1"/>
          </p:cNvPicPr>
          <p:nvPr/>
        </p:nvPicPr>
        <p:blipFill>
          <a:blip r:embed="rId12"/>
          <a:stretch>
            <a:fillRect/>
          </a:stretch>
        </p:blipFill>
        <p:spPr>
          <a:xfrm>
            <a:off x="8101583" y="5120640"/>
            <a:ext cx="731520" cy="731520"/>
          </a:xfrm>
          <a:prstGeom prst="rect">
            <a:avLst/>
          </a:prstGeom>
        </p:spPr>
      </p:pic>
      <p:sp>
        <p:nvSpPr>
          <p:cNvPr id="15426" name="TextBox 15425"/>
          <p:cNvSpPr txBox="1"/>
          <p:nvPr/>
        </p:nvSpPr>
        <p:spPr>
          <a:xfrm>
            <a:off x="8887967" y="5248656"/>
            <a:ext cx="841248" cy="201168"/>
          </a:xfrm>
          <a:prstGeom prst="rect">
            <a:avLst/>
          </a:prstGeom>
          <a:noFill/>
        </p:spPr>
        <p:txBody>
          <a:bodyPr wrap="square" lIns="0" rIns="0" tIns="0" bIns="0" anchor="t">
            <a:spAutoFit/>
          </a:bodyPr>
          <a:lstStyle/>
          <a:p>
            <a:pPr algn="l"/>
            <a:r>
              <a:rPr sz="950" b="1" i="0">
                <a:solidFill>
                  <a:srgbClr val="11140F"/>
                </a:solidFill>
                <a:latin typeface="Calibri"/>
              </a:rPr>
              <a:t>Last 300 m</a:t>
            </a:r>
          </a:p>
        </p:txBody>
      </p:sp>
      <p:sp>
        <p:nvSpPr>
          <p:cNvPr id="15427" name="TextBox 15426"/>
          <p:cNvSpPr txBox="1"/>
          <p:nvPr/>
        </p:nvSpPr>
        <p:spPr>
          <a:xfrm>
            <a:off x="8887967" y="5468112"/>
            <a:ext cx="841248" cy="237744"/>
          </a:xfrm>
          <a:prstGeom prst="rect">
            <a:avLst/>
          </a:prstGeom>
          <a:noFill/>
        </p:spPr>
        <p:txBody>
          <a:bodyPr wrap="square" lIns="0" rIns="0" tIns="0" bIns="0" anchor="t">
            <a:spAutoFit/>
          </a:bodyPr>
          <a:lstStyle/>
          <a:p>
            <a:pPr algn="l"/>
            <a:r>
              <a:rPr sz="1200" b="1" i="0">
                <a:solidFill>
                  <a:srgbClr val="B7791F"/>
                </a:solidFill>
                <a:latin typeface="Calibri"/>
              </a:rPr>
              <a:t>₹20</a:t>
            </a:r>
          </a:p>
        </p:txBody>
      </p:sp>
      <p:sp>
        <p:nvSpPr>
          <p:cNvPr id="15428" name="Rounded Rectangle 15427"/>
          <p:cNvSpPr/>
          <p:nvPr/>
        </p:nvSpPr>
        <p:spPr>
          <a:xfrm>
            <a:off x="9884663" y="5065776"/>
            <a:ext cx="1755648" cy="859536"/>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29" name="Picture 15428" descr="art_scooter_crossed.png"/>
          <p:cNvPicPr>
            <a:picLocks noChangeAspect="1"/>
          </p:cNvPicPr>
          <p:nvPr/>
        </p:nvPicPr>
        <p:blipFill>
          <a:blip r:embed="rId13"/>
          <a:stretch>
            <a:fillRect/>
          </a:stretch>
        </p:blipFill>
        <p:spPr>
          <a:xfrm>
            <a:off x="9957815" y="5120640"/>
            <a:ext cx="731520" cy="731520"/>
          </a:xfrm>
          <a:prstGeom prst="rect">
            <a:avLst/>
          </a:prstGeom>
        </p:spPr>
      </p:pic>
      <p:sp>
        <p:nvSpPr>
          <p:cNvPr id="15430" name="TextBox 15429"/>
          <p:cNvSpPr txBox="1"/>
          <p:nvPr/>
        </p:nvSpPr>
        <p:spPr>
          <a:xfrm>
            <a:off x="10744199" y="5248656"/>
            <a:ext cx="841248" cy="201168"/>
          </a:xfrm>
          <a:prstGeom prst="rect">
            <a:avLst/>
          </a:prstGeom>
          <a:noFill/>
        </p:spPr>
        <p:txBody>
          <a:bodyPr wrap="square" lIns="0" rIns="0" tIns="0" bIns="0" anchor="t">
            <a:spAutoFit/>
          </a:bodyPr>
          <a:lstStyle/>
          <a:p>
            <a:pPr algn="l"/>
            <a:r>
              <a:rPr sz="950" b="1" i="0">
                <a:solidFill>
                  <a:srgbClr val="11140F"/>
                </a:solidFill>
                <a:latin typeface="Calibri"/>
              </a:rPr>
              <a:t>Express</a:t>
            </a:r>
          </a:p>
        </p:txBody>
      </p:sp>
      <p:sp>
        <p:nvSpPr>
          <p:cNvPr id="15431" name="TextBox 15430"/>
          <p:cNvSpPr txBox="1"/>
          <p:nvPr/>
        </p:nvSpPr>
        <p:spPr>
          <a:xfrm>
            <a:off x="10744199" y="5468112"/>
            <a:ext cx="841248" cy="237744"/>
          </a:xfrm>
          <a:prstGeom prst="rect">
            <a:avLst/>
          </a:prstGeom>
          <a:noFill/>
        </p:spPr>
        <p:txBody>
          <a:bodyPr wrap="square" lIns="0" rIns="0" tIns="0" bIns="0" anchor="t">
            <a:spAutoFit/>
          </a:bodyPr>
          <a:lstStyle/>
          <a:p>
            <a:pPr algn="l"/>
            <a:r>
              <a:rPr sz="1200" b="1" i="0">
                <a:solidFill>
                  <a:srgbClr val="657062"/>
                </a:solidFill>
                <a:latin typeface="Calibri"/>
              </a:rPr>
              <a:t>not offered</a:t>
            </a:r>
          </a:p>
        </p:txBody>
      </p:sp>
      <p:sp>
        <p:nvSpPr>
          <p:cNvPr id="15432" name="TextBox 15431"/>
          <p:cNvSpPr txBox="1"/>
          <p:nvPr/>
        </p:nvSpPr>
        <p:spPr>
          <a:xfrm>
            <a:off x="502920" y="6053328"/>
            <a:ext cx="11247120" cy="237744"/>
          </a:xfrm>
          <a:prstGeom prst="rect">
            <a:avLst/>
          </a:prstGeom>
          <a:noFill/>
        </p:spPr>
        <p:txBody>
          <a:bodyPr wrap="square" lIns="0" rIns="0" tIns="0" bIns="0" anchor="t">
            <a:spAutoFit/>
          </a:bodyPr>
          <a:lstStyle/>
          <a:p>
            <a:pPr algn="l"/>
            <a:r>
              <a:rPr sz="800" b="0" i="1">
                <a:solidFill>
                  <a:srgbClr val="657062"/>
                </a:solidFill>
                <a:latin typeface="Calibri"/>
              </a:rPr>
              <a:t>Free above a ₹500 basket on the last 300 m. ₹55/kg is an assumed quick-commerce reference, not a live scrape.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78992"/>
            <a:ext cx="11247120" cy="329184"/>
          </a:xfrm>
          <a:prstGeom prst="rect">
            <a:avLst/>
          </a:prstGeom>
          <a:noFill/>
        </p:spPr>
        <p:txBody>
          <a:bodyPr wrap="square" lIns="0" rIns="0" tIns="0" bIns="0" anchor="t">
            <a:spAutoFit/>
          </a:bodyPr>
          <a:lstStyle/>
          <a:p>
            <a:pPr algn="l"/>
            <a:r>
              <a:rPr sz="1500" b="1" i="0">
                <a:solidFill>
                  <a:srgbClr val="11140F"/>
                </a:solidFill>
                <a:latin typeface="Cambria"/>
              </a:rPr>
              <a:t>D-COA — Decision &amp; Coordination Optimisation Algorithm</a:t>
            </a:r>
          </a:p>
        </p:txBody>
      </p:sp>
      <p:sp>
        <p:nvSpPr>
          <p:cNvPr id="17411" name="TextBox 17410"/>
          <p:cNvSpPr txBox="1"/>
          <p:nvPr/>
        </p:nvSpPr>
        <p:spPr>
          <a:xfrm>
            <a:off x="502920" y="1408176"/>
            <a:ext cx="11247120" cy="219456"/>
          </a:xfrm>
          <a:prstGeom prst="rect">
            <a:avLst/>
          </a:prstGeom>
          <a:noFill/>
        </p:spPr>
        <p:txBody>
          <a:bodyPr wrap="square" lIns="0" rIns="0" tIns="0" bIns="0" anchor="t">
            <a:spAutoFit/>
          </a:bodyPr>
          <a:lstStyle/>
          <a:p>
            <a:pPr algn="l"/>
            <a:r>
              <a:rPr sz="950" b="0" i="0">
                <a:solidFill>
                  <a:srgbClr val="657062"/>
                </a:solidFill>
                <a:latin typeface="Calibri"/>
              </a:rPr>
              <a:t>Our own engine's working name, not a claim of a new published algorithm.</a:t>
            </a:r>
          </a:p>
        </p:txBody>
      </p:sp>
      <p:sp>
        <p:nvSpPr>
          <p:cNvPr id="17412" name="Rounded Rectangle 17411"/>
          <p:cNvSpPr/>
          <p:nvPr/>
        </p:nvSpPr>
        <p:spPr>
          <a:xfrm>
            <a:off x="502920" y="1682496"/>
            <a:ext cx="1700784" cy="126187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3" name="Picture 17412" descr="art_clipboard_tick.png"/>
          <p:cNvPicPr>
            <a:picLocks noChangeAspect="1"/>
          </p:cNvPicPr>
          <p:nvPr/>
        </p:nvPicPr>
        <p:blipFill>
          <a:blip r:embed="rId4"/>
          <a:stretch>
            <a:fillRect/>
          </a:stretch>
        </p:blipFill>
        <p:spPr>
          <a:xfrm>
            <a:off x="969264" y="1737360"/>
            <a:ext cx="768096" cy="768096"/>
          </a:xfrm>
          <a:prstGeom prst="rect">
            <a:avLst/>
          </a:prstGeom>
        </p:spPr>
      </p:pic>
      <p:sp>
        <p:nvSpPr>
          <p:cNvPr id="17414" name="TextBox 17413"/>
          <p:cNvSpPr txBox="1"/>
          <p:nvPr/>
        </p:nvSpPr>
        <p:spPr>
          <a:xfrm>
            <a:off x="576072" y="2578608"/>
            <a:ext cx="1554480" cy="274320"/>
          </a:xfrm>
          <a:prstGeom prst="rect">
            <a:avLst/>
          </a:prstGeom>
          <a:noFill/>
        </p:spPr>
        <p:txBody>
          <a:bodyPr wrap="square" lIns="0" rIns="0" tIns="0" bIns="0" anchor="t">
            <a:spAutoFit/>
          </a:bodyPr>
          <a:lstStyle/>
          <a:p>
            <a:pPr algn="ctr">
              <a:lnSpc>
                <a:spcPts val="1100"/>
              </a:lnSpc>
            </a:pPr>
            <a:r>
              <a:rPr sz="950" b="1" i="0">
                <a:solidFill>
                  <a:srgbClr val="11140F"/>
                </a:solidFill>
                <a:latin typeface="Calibri"/>
              </a:rPr>
              <a:t>Confirmed orders</a:t>
            </a:r>
          </a:p>
        </p:txBody>
      </p:sp>
      <p:sp>
        <p:nvSpPr>
          <p:cNvPr id="17415" name="TextBox 17414"/>
          <p:cNvSpPr txBox="1"/>
          <p:nvPr/>
        </p:nvSpPr>
        <p:spPr>
          <a:xfrm>
            <a:off x="2203704" y="2121408"/>
            <a:ext cx="219456" cy="274320"/>
          </a:xfrm>
          <a:prstGeom prst="rect">
            <a:avLst/>
          </a:prstGeom>
          <a:noFill/>
        </p:spPr>
        <p:txBody>
          <a:bodyPr wrap="square" lIns="0" rIns="0" tIns="0" bIns="0" anchor="t">
            <a:spAutoFit/>
          </a:bodyPr>
          <a:lstStyle/>
          <a:p>
            <a:pPr algn="ctr"/>
            <a:r>
              <a:rPr sz="1600" b="0" i="0">
                <a:solidFill>
                  <a:srgbClr val="2F6B3A"/>
                </a:solidFill>
                <a:latin typeface="Calibri"/>
              </a:rPr>
              <a:t>›</a:t>
            </a:r>
          </a:p>
        </p:txBody>
      </p:sp>
      <p:sp>
        <p:nvSpPr>
          <p:cNvPr id="17416" name="Rounded Rectangle 17415"/>
          <p:cNvSpPr/>
          <p:nvPr/>
        </p:nvSpPr>
        <p:spPr>
          <a:xfrm>
            <a:off x="2423160" y="1682496"/>
            <a:ext cx="1700784" cy="126187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7" name="Picture 17416" descr="art_puzzle.png"/>
          <p:cNvPicPr>
            <a:picLocks noChangeAspect="1"/>
          </p:cNvPicPr>
          <p:nvPr/>
        </p:nvPicPr>
        <p:blipFill>
          <a:blip r:embed="rId5"/>
          <a:stretch>
            <a:fillRect/>
          </a:stretch>
        </p:blipFill>
        <p:spPr>
          <a:xfrm>
            <a:off x="2889504" y="1737360"/>
            <a:ext cx="768096" cy="768096"/>
          </a:xfrm>
          <a:prstGeom prst="rect">
            <a:avLst/>
          </a:prstGeom>
        </p:spPr>
      </p:pic>
      <p:sp>
        <p:nvSpPr>
          <p:cNvPr id="17418" name="TextBox 17417"/>
          <p:cNvSpPr txBox="1"/>
          <p:nvPr/>
        </p:nvSpPr>
        <p:spPr>
          <a:xfrm>
            <a:off x="2496312" y="2578608"/>
            <a:ext cx="1554480" cy="274320"/>
          </a:xfrm>
          <a:prstGeom prst="rect">
            <a:avLst/>
          </a:prstGeom>
          <a:noFill/>
        </p:spPr>
        <p:txBody>
          <a:bodyPr wrap="square" lIns="0" rIns="0" tIns="0" bIns="0" anchor="t">
            <a:spAutoFit/>
          </a:bodyPr>
          <a:lstStyle/>
          <a:p>
            <a:pPr algn="ctr">
              <a:lnSpc>
                <a:spcPts val="1100"/>
              </a:lnSpc>
            </a:pPr>
            <a:r>
              <a:rPr sz="950" b="1" i="0">
                <a:solidFill>
                  <a:srgbClr val="11140F"/>
                </a:solidFill>
                <a:latin typeface="Calibri"/>
              </a:rPr>
              <a:t>Compatibility</a:t>
            </a:r>
          </a:p>
        </p:txBody>
      </p:sp>
      <p:sp>
        <p:nvSpPr>
          <p:cNvPr id="17419" name="TextBox 17418"/>
          <p:cNvSpPr txBox="1"/>
          <p:nvPr/>
        </p:nvSpPr>
        <p:spPr>
          <a:xfrm>
            <a:off x="4123944" y="2121408"/>
            <a:ext cx="219456" cy="274320"/>
          </a:xfrm>
          <a:prstGeom prst="rect">
            <a:avLst/>
          </a:prstGeom>
          <a:noFill/>
        </p:spPr>
        <p:txBody>
          <a:bodyPr wrap="square" lIns="0" rIns="0" tIns="0" bIns="0" anchor="t">
            <a:spAutoFit/>
          </a:bodyPr>
          <a:lstStyle/>
          <a:p>
            <a:pPr algn="ctr"/>
            <a:r>
              <a:rPr sz="1600" b="0" i="0">
                <a:solidFill>
                  <a:srgbClr val="2F6B3A"/>
                </a:solidFill>
                <a:latin typeface="Calibri"/>
              </a:rPr>
              <a:t>›</a:t>
            </a:r>
          </a:p>
        </p:txBody>
      </p:sp>
      <p:sp>
        <p:nvSpPr>
          <p:cNvPr id="17420" name="Rounded Rectangle 17419"/>
          <p:cNvSpPr/>
          <p:nvPr/>
        </p:nvSpPr>
        <p:spPr>
          <a:xfrm>
            <a:off x="4343400" y="1682496"/>
            <a:ext cx="1700784" cy="126187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1" name="Picture 17420" descr="art_city_pins.png"/>
          <p:cNvPicPr>
            <a:picLocks noChangeAspect="1"/>
          </p:cNvPicPr>
          <p:nvPr/>
        </p:nvPicPr>
        <p:blipFill>
          <a:blip r:embed="rId6"/>
          <a:stretch>
            <a:fillRect/>
          </a:stretch>
        </p:blipFill>
        <p:spPr>
          <a:xfrm>
            <a:off x="4809744" y="1737360"/>
            <a:ext cx="768096" cy="768096"/>
          </a:xfrm>
          <a:prstGeom prst="rect">
            <a:avLst/>
          </a:prstGeom>
        </p:spPr>
      </p:pic>
      <p:sp>
        <p:nvSpPr>
          <p:cNvPr id="17422" name="TextBox 17421"/>
          <p:cNvSpPr txBox="1"/>
          <p:nvPr/>
        </p:nvSpPr>
        <p:spPr>
          <a:xfrm>
            <a:off x="4416552" y="2578608"/>
            <a:ext cx="1554480" cy="274320"/>
          </a:xfrm>
          <a:prstGeom prst="rect">
            <a:avLst/>
          </a:prstGeom>
          <a:noFill/>
        </p:spPr>
        <p:txBody>
          <a:bodyPr wrap="square" lIns="0" rIns="0" tIns="0" bIns="0" anchor="t">
            <a:spAutoFit/>
          </a:bodyPr>
          <a:lstStyle/>
          <a:p>
            <a:pPr algn="ctr">
              <a:lnSpc>
                <a:spcPts val="1100"/>
              </a:lnSpc>
            </a:pPr>
            <a:r>
              <a:rPr sz="950" b="1" i="0">
                <a:solidFill>
                  <a:srgbClr val="11140F"/>
                </a:solidFill>
                <a:latin typeface="Calibri"/>
              </a:rPr>
              <a:t>Lot allocation</a:t>
            </a:r>
          </a:p>
        </p:txBody>
      </p:sp>
      <p:sp>
        <p:nvSpPr>
          <p:cNvPr id="17423" name="TextBox 17422"/>
          <p:cNvSpPr txBox="1"/>
          <p:nvPr/>
        </p:nvSpPr>
        <p:spPr>
          <a:xfrm>
            <a:off x="6044184" y="2121408"/>
            <a:ext cx="219456" cy="274320"/>
          </a:xfrm>
          <a:prstGeom prst="rect">
            <a:avLst/>
          </a:prstGeom>
          <a:noFill/>
        </p:spPr>
        <p:txBody>
          <a:bodyPr wrap="square" lIns="0" rIns="0" tIns="0" bIns="0" anchor="t">
            <a:spAutoFit/>
          </a:bodyPr>
          <a:lstStyle/>
          <a:p>
            <a:pPr algn="ctr"/>
            <a:r>
              <a:rPr sz="1600" b="0" i="0">
                <a:solidFill>
                  <a:srgbClr val="2F6B3A"/>
                </a:solidFill>
                <a:latin typeface="Calibri"/>
              </a:rPr>
              <a:t>›</a:t>
            </a:r>
          </a:p>
        </p:txBody>
      </p:sp>
      <p:sp>
        <p:nvSpPr>
          <p:cNvPr id="17424" name="Rounded Rectangle 17423"/>
          <p:cNvSpPr/>
          <p:nvPr/>
        </p:nvSpPr>
        <p:spPr>
          <a:xfrm>
            <a:off x="6263640" y="1682496"/>
            <a:ext cx="1700784" cy="126187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5" name="Picture 17424" descr="art_freshness.png"/>
          <p:cNvPicPr>
            <a:picLocks noChangeAspect="1"/>
          </p:cNvPicPr>
          <p:nvPr/>
        </p:nvPicPr>
        <p:blipFill>
          <a:blip r:embed="rId7"/>
          <a:stretch>
            <a:fillRect/>
          </a:stretch>
        </p:blipFill>
        <p:spPr>
          <a:xfrm>
            <a:off x="6729984" y="1737360"/>
            <a:ext cx="768096" cy="768096"/>
          </a:xfrm>
          <a:prstGeom prst="rect">
            <a:avLst/>
          </a:prstGeom>
        </p:spPr>
      </p:pic>
      <p:sp>
        <p:nvSpPr>
          <p:cNvPr id="17426" name="TextBox 17425"/>
          <p:cNvSpPr txBox="1"/>
          <p:nvPr/>
        </p:nvSpPr>
        <p:spPr>
          <a:xfrm>
            <a:off x="6336792" y="2578608"/>
            <a:ext cx="1554480" cy="274320"/>
          </a:xfrm>
          <a:prstGeom prst="rect">
            <a:avLst/>
          </a:prstGeom>
          <a:noFill/>
        </p:spPr>
        <p:txBody>
          <a:bodyPr wrap="square" lIns="0" rIns="0" tIns="0" bIns="0" anchor="t">
            <a:spAutoFit/>
          </a:bodyPr>
          <a:lstStyle/>
          <a:p>
            <a:pPr algn="ctr">
              <a:lnSpc>
                <a:spcPts val="1100"/>
              </a:lnSpc>
            </a:pPr>
            <a:r>
              <a:rPr sz="950" b="1" i="0">
                <a:solidFill>
                  <a:srgbClr val="11140F"/>
                </a:solidFill>
                <a:latin typeface="Calibri"/>
              </a:rPr>
              <a:t>Capacity &amp; freshness</a:t>
            </a:r>
          </a:p>
        </p:txBody>
      </p:sp>
      <p:sp>
        <p:nvSpPr>
          <p:cNvPr id="17427" name="TextBox 17426"/>
          <p:cNvSpPr txBox="1"/>
          <p:nvPr/>
        </p:nvSpPr>
        <p:spPr>
          <a:xfrm>
            <a:off x="7964424" y="2121408"/>
            <a:ext cx="219456" cy="274320"/>
          </a:xfrm>
          <a:prstGeom prst="rect">
            <a:avLst/>
          </a:prstGeom>
          <a:noFill/>
        </p:spPr>
        <p:txBody>
          <a:bodyPr wrap="square" lIns="0" rIns="0" tIns="0" bIns="0" anchor="t">
            <a:spAutoFit/>
          </a:bodyPr>
          <a:lstStyle/>
          <a:p>
            <a:pPr algn="ctr"/>
            <a:r>
              <a:rPr sz="1600" b="0" i="0">
                <a:solidFill>
                  <a:srgbClr val="2F6B3A"/>
                </a:solidFill>
                <a:latin typeface="Calibri"/>
              </a:rPr>
              <a:t>›</a:t>
            </a:r>
          </a:p>
        </p:txBody>
      </p:sp>
      <p:sp>
        <p:nvSpPr>
          <p:cNvPr id="17428" name="Rounded Rectangle 17427"/>
          <p:cNvSpPr/>
          <p:nvPr/>
        </p:nvSpPr>
        <p:spPr>
          <a:xfrm>
            <a:off x="8183880" y="1682496"/>
            <a:ext cx="1700784" cy="126187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9" name="Picture 17428" descr="art_route_pins.png"/>
          <p:cNvPicPr>
            <a:picLocks noChangeAspect="1"/>
          </p:cNvPicPr>
          <p:nvPr/>
        </p:nvPicPr>
        <p:blipFill>
          <a:blip r:embed="rId8"/>
          <a:stretch>
            <a:fillRect/>
          </a:stretch>
        </p:blipFill>
        <p:spPr>
          <a:xfrm>
            <a:off x="8650224" y="1737360"/>
            <a:ext cx="768096" cy="768096"/>
          </a:xfrm>
          <a:prstGeom prst="rect">
            <a:avLst/>
          </a:prstGeom>
        </p:spPr>
      </p:pic>
      <p:sp>
        <p:nvSpPr>
          <p:cNvPr id="17430" name="TextBox 17429"/>
          <p:cNvSpPr txBox="1"/>
          <p:nvPr/>
        </p:nvSpPr>
        <p:spPr>
          <a:xfrm>
            <a:off x="8257032" y="2578608"/>
            <a:ext cx="1554480" cy="274320"/>
          </a:xfrm>
          <a:prstGeom prst="rect">
            <a:avLst/>
          </a:prstGeom>
          <a:noFill/>
        </p:spPr>
        <p:txBody>
          <a:bodyPr wrap="square" lIns="0" rIns="0" tIns="0" bIns="0" anchor="t">
            <a:spAutoFit/>
          </a:bodyPr>
          <a:lstStyle/>
          <a:p>
            <a:pPr algn="ctr">
              <a:lnSpc>
                <a:spcPts val="1100"/>
              </a:lnSpc>
            </a:pPr>
            <a:r>
              <a:rPr sz="950" b="1" i="0">
                <a:solidFill>
                  <a:srgbClr val="11140F"/>
                </a:solidFill>
                <a:latin typeface="Calibri"/>
              </a:rPr>
              <a:t>Route plan</a:t>
            </a:r>
          </a:p>
        </p:txBody>
      </p:sp>
      <p:sp>
        <p:nvSpPr>
          <p:cNvPr id="17431" name="TextBox 17430"/>
          <p:cNvSpPr txBox="1"/>
          <p:nvPr/>
        </p:nvSpPr>
        <p:spPr>
          <a:xfrm>
            <a:off x="9884664" y="2121408"/>
            <a:ext cx="219456" cy="274320"/>
          </a:xfrm>
          <a:prstGeom prst="rect">
            <a:avLst/>
          </a:prstGeom>
          <a:noFill/>
        </p:spPr>
        <p:txBody>
          <a:bodyPr wrap="square" lIns="0" rIns="0" tIns="0" bIns="0" anchor="t">
            <a:spAutoFit/>
          </a:bodyPr>
          <a:lstStyle/>
          <a:p>
            <a:pPr algn="ctr"/>
            <a:r>
              <a:rPr sz="1600" b="0" i="0">
                <a:solidFill>
                  <a:srgbClr val="2F6B3A"/>
                </a:solidFill>
                <a:latin typeface="Calibri"/>
              </a:rPr>
              <a:t>›</a:t>
            </a:r>
          </a:p>
        </p:txBody>
      </p:sp>
      <p:sp>
        <p:nvSpPr>
          <p:cNvPr id="17432" name="Rounded Rectangle 17431"/>
          <p:cNvSpPr/>
          <p:nvPr/>
        </p:nvSpPr>
        <p:spPr>
          <a:xfrm>
            <a:off x="10104120" y="1682496"/>
            <a:ext cx="1700784" cy="1261872"/>
          </a:xfrm>
          <a:prstGeom prst="roundRect">
            <a:avLst>
              <a:gd name="adj" fmla="val 7000"/>
            </a:avLst>
          </a:prstGeom>
          <a:solidFill>
            <a:srgbClr val="F2F5EF"/>
          </a:solidFill>
          <a:ln w="9525">
            <a:solidFill>
              <a:srgbClr val="2F6B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3" name="Picture 17432" descr="art_tempo_loaded.png"/>
          <p:cNvPicPr>
            <a:picLocks noChangeAspect="1"/>
          </p:cNvPicPr>
          <p:nvPr/>
        </p:nvPicPr>
        <p:blipFill>
          <a:blip r:embed="rId9"/>
          <a:stretch>
            <a:fillRect/>
          </a:stretch>
        </p:blipFill>
        <p:spPr>
          <a:xfrm>
            <a:off x="10570464" y="1737360"/>
            <a:ext cx="768096" cy="768096"/>
          </a:xfrm>
          <a:prstGeom prst="rect">
            <a:avLst/>
          </a:prstGeom>
        </p:spPr>
      </p:pic>
      <p:sp>
        <p:nvSpPr>
          <p:cNvPr id="17434" name="TextBox 17433"/>
          <p:cNvSpPr txBox="1"/>
          <p:nvPr/>
        </p:nvSpPr>
        <p:spPr>
          <a:xfrm>
            <a:off x="10177272" y="2578608"/>
            <a:ext cx="1554480" cy="274320"/>
          </a:xfrm>
          <a:prstGeom prst="rect">
            <a:avLst/>
          </a:prstGeom>
          <a:noFill/>
        </p:spPr>
        <p:txBody>
          <a:bodyPr wrap="square" lIns="0" rIns="0" tIns="0" bIns="0" anchor="t">
            <a:spAutoFit/>
          </a:bodyPr>
          <a:lstStyle/>
          <a:p>
            <a:pPr algn="ctr">
              <a:lnSpc>
                <a:spcPts val="1100"/>
              </a:lnSpc>
            </a:pPr>
            <a:r>
              <a:rPr sz="950" b="1" i="0">
                <a:solidFill>
                  <a:srgbClr val="2F6B3A"/>
                </a:solidFill>
                <a:latin typeface="Calibri"/>
              </a:rPr>
              <a:t>Explained batch</a:t>
            </a:r>
          </a:p>
        </p:txBody>
      </p:sp>
      <p:sp>
        <p:nvSpPr>
          <p:cNvPr id="17435" name="TextBox 17434"/>
          <p:cNvSpPr txBox="1"/>
          <p:nvPr/>
        </p:nvSpPr>
        <p:spPr>
          <a:xfrm>
            <a:off x="502920" y="3127248"/>
            <a:ext cx="6949440" cy="182880"/>
          </a:xfrm>
          <a:prstGeom prst="rect">
            <a:avLst/>
          </a:prstGeom>
          <a:noFill/>
        </p:spPr>
        <p:txBody>
          <a:bodyPr wrap="square" lIns="0" rIns="0" tIns="0" bIns="0" anchor="t">
            <a:spAutoFit/>
          </a:bodyPr>
          <a:lstStyle/>
          <a:p>
            <a:pPr algn="l"/>
            <a:r>
              <a:rPr sz="850" b="1" i="0" spc="140">
                <a:solidFill>
                  <a:srgbClr val="657062"/>
                </a:solidFill>
                <a:latin typeface="Calibri"/>
              </a:rPr>
              <a:t>EIGHT CONSIDERATIONS, EVERY RUN</a:t>
            </a:r>
          </a:p>
        </p:txBody>
      </p:sp>
      <p:sp>
        <p:nvSpPr>
          <p:cNvPr id="17436" name="Rounded Rectangle 17435"/>
          <p:cNvSpPr/>
          <p:nvPr/>
        </p:nvSpPr>
        <p:spPr>
          <a:xfrm>
            <a:off x="502920" y="3364992"/>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Oval 17436"/>
          <p:cNvSpPr/>
          <p:nvPr/>
        </p:nvSpPr>
        <p:spPr>
          <a:xfrm>
            <a:off x="630936" y="3502152"/>
            <a:ext cx="91440" cy="9144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TextBox 17437"/>
          <p:cNvSpPr txBox="1"/>
          <p:nvPr/>
        </p:nvSpPr>
        <p:spPr>
          <a:xfrm>
            <a:off x="795528" y="3438144"/>
            <a:ext cx="2468880" cy="219456"/>
          </a:xfrm>
          <a:prstGeom prst="rect">
            <a:avLst/>
          </a:prstGeom>
          <a:noFill/>
        </p:spPr>
        <p:txBody>
          <a:bodyPr wrap="square" lIns="0" rIns="0" tIns="0" bIns="0" anchor="t">
            <a:spAutoFit/>
          </a:bodyPr>
          <a:lstStyle/>
          <a:p>
            <a:pPr algn="l"/>
            <a:r>
              <a:rPr sz="1000" b="0" i="0">
                <a:solidFill>
                  <a:srgbClr val="11140F"/>
                </a:solidFill>
                <a:latin typeface="Calibri"/>
              </a:rPr>
              <a:t>Product compatibility</a:t>
            </a:r>
          </a:p>
        </p:txBody>
      </p:sp>
      <p:sp>
        <p:nvSpPr>
          <p:cNvPr id="17439" name="TextBox 17438"/>
          <p:cNvSpPr txBox="1"/>
          <p:nvPr/>
        </p:nvSpPr>
        <p:spPr>
          <a:xfrm>
            <a:off x="3246120" y="3456432"/>
            <a:ext cx="566928" cy="201168"/>
          </a:xfrm>
          <a:prstGeom prst="rect">
            <a:avLst/>
          </a:prstGeom>
          <a:noFill/>
        </p:spPr>
        <p:txBody>
          <a:bodyPr wrap="square" lIns="0" rIns="0" tIns="0" bIns="0" anchor="t">
            <a:spAutoFit/>
          </a:bodyPr>
          <a:lstStyle/>
          <a:p>
            <a:pPr algn="r"/>
            <a:r>
              <a:rPr sz="800" b="1" i="0">
                <a:solidFill>
                  <a:srgbClr val="2F6B3A"/>
                </a:solidFill>
                <a:latin typeface="Calibri"/>
              </a:rPr>
              <a:t>hard</a:t>
            </a:r>
          </a:p>
        </p:txBody>
      </p:sp>
      <p:sp>
        <p:nvSpPr>
          <p:cNvPr id="17440" name="Rounded Rectangle 17439"/>
          <p:cNvSpPr/>
          <p:nvPr/>
        </p:nvSpPr>
        <p:spPr>
          <a:xfrm>
            <a:off x="4114800" y="3364992"/>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1" name="Oval 17440"/>
          <p:cNvSpPr/>
          <p:nvPr/>
        </p:nvSpPr>
        <p:spPr>
          <a:xfrm>
            <a:off x="4242816" y="3502152"/>
            <a:ext cx="91440" cy="9144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TextBox 17441"/>
          <p:cNvSpPr txBox="1"/>
          <p:nvPr/>
        </p:nvSpPr>
        <p:spPr>
          <a:xfrm>
            <a:off x="4407408" y="3438144"/>
            <a:ext cx="2468880" cy="219456"/>
          </a:xfrm>
          <a:prstGeom prst="rect">
            <a:avLst/>
          </a:prstGeom>
          <a:noFill/>
        </p:spPr>
        <p:txBody>
          <a:bodyPr wrap="square" lIns="0" rIns="0" tIns="0" bIns="0" anchor="t">
            <a:spAutoFit/>
          </a:bodyPr>
          <a:lstStyle/>
          <a:p>
            <a:pPr algn="l"/>
            <a:r>
              <a:rPr sz="1000" b="0" i="0">
                <a:solidFill>
                  <a:srgbClr val="11140F"/>
                </a:solidFill>
                <a:latin typeface="Calibri"/>
              </a:rPr>
              <a:t>Pickup &amp; delivery geography</a:t>
            </a:r>
          </a:p>
        </p:txBody>
      </p:sp>
      <p:sp>
        <p:nvSpPr>
          <p:cNvPr id="17443" name="TextBox 17442"/>
          <p:cNvSpPr txBox="1"/>
          <p:nvPr/>
        </p:nvSpPr>
        <p:spPr>
          <a:xfrm>
            <a:off x="6858000" y="3456432"/>
            <a:ext cx="566928" cy="201168"/>
          </a:xfrm>
          <a:prstGeom prst="rect">
            <a:avLst/>
          </a:prstGeom>
          <a:noFill/>
        </p:spPr>
        <p:txBody>
          <a:bodyPr wrap="square" lIns="0" rIns="0" tIns="0" bIns="0" anchor="t">
            <a:spAutoFit/>
          </a:bodyPr>
          <a:lstStyle/>
          <a:p>
            <a:pPr algn="r"/>
            <a:r>
              <a:rPr sz="800" b="1" i="0">
                <a:solidFill>
                  <a:srgbClr val="2F6B3A"/>
                </a:solidFill>
                <a:latin typeface="Calibri"/>
              </a:rPr>
              <a:t>hard</a:t>
            </a:r>
          </a:p>
        </p:txBody>
      </p:sp>
      <p:sp>
        <p:nvSpPr>
          <p:cNvPr id="17444" name="Rounded Rectangle 17443"/>
          <p:cNvSpPr/>
          <p:nvPr/>
        </p:nvSpPr>
        <p:spPr>
          <a:xfrm>
            <a:off x="502920" y="3822191"/>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5" name="Oval 17444"/>
          <p:cNvSpPr/>
          <p:nvPr/>
        </p:nvSpPr>
        <p:spPr>
          <a:xfrm>
            <a:off x="630936" y="3959352"/>
            <a:ext cx="91440" cy="9144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6" name="TextBox 17445"/>
          <p:cNvSpPr txBox="1"/>
          <p:nvPr/>
        </p:nvSpPr>
        <p:spPr>
          <a:xfrm>
            <a:off x="795528" y="3895344"/>
            <a:ext cx="2468880" cy="219456"/>
          </a:xfrm>
          <a:prstGeom prst="rect">
            <a:avLst/>
          </a:prstGeom>
          <a:noFill/>
        </p:spPr>
        <p:txBody>
          <a:bodyPr wrap="square" lIns="0" rIns="0" tIns="0" bIns="0" anchor="t">
            <a:spAutoFit/>
          </a:bodyPr>
          <a:lstStyle/>
          <a:p>
            <a:pPr algn="l"/>
            <a:r>
              <a:rPr sz="1000" b="0" i="0">
                <a:solidFill>
                  <a:srgbClr val="11140F"/>
                </a:solidFill>
                <a:latin typeface="Calibri"/>
              </a:rPr>
              <a:t>Quantity vs vehicle capacity</a:t>
            </a:r>
          </a:p>
        </p:txBody>
      </p:sp>
      <p:sp>
        <p:nvSpPr>
          <p:cNvPr id="17447" name="TextBox 17446"/>
          <p:cNvSpPr txBox="1"/>
          <p:nvPr/>
        </p:nvSpPr>
        <p:spPr>
          <a:xfrm>
            <a:off x="3246120" y="3913631"/>
            <a:ext cx="566928" cy="201168"/>
          </a:xfrm>
          <a:prstGeom prst="rect">
            <a:avLst/>
          </a:prstGeom>
          <a:noFill/>
        </p:spPr>
        <p:txBody>
          <a:bodyPr wrap="square" lIns="0" rIns="0" tIns="0" bIns="0" anchor="t">
            <a:spAutoFit/>
          </a:bodyPr>
          <a:lstStyle/>
          <a:p>
            <a:pPr algn="r"/>
            <a:r>
              <a:rPr sz="800" b="1" i="0">
                <a:solidFill>
                  <a:srgbClr val="2F6B3A"/>
                </a:solidFill>
                <a:latin typeface="Calibri"/>
              </a:rPr>
              <a:t>hard</a:t>
            </a:r>
          </a:p>
        </p:txBody>
      </p:sp>
      <p:sp>
        <p:nvSpPr>
          <p:cNvPr id="17448" name="Rounded Rectangle 17447"/>
          <p:cNvSpPr/>
          <p:nvPr/>
        </p:nvSpPr>
        <p:spPr>
          <a:xfrm>
            <a:off x="4114800" y="3822191"/>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9" name="Oval 17448"/>
          <p:cNvSpPr/>
          <p:nvPr/>
        </p:nvSpPr>
        <p:spPr>
          <a:xfrm>
            <a:off x="4242816" y="3959352"/>
            <a:ext cx="91440" cy="9144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TextBox 17449"/>
          <p:cNvSpPr txBox="1"/>
          <p:nvPr/>
        </p:nvSpPr>
        <p:spPr>
          <a:xfrm>
            <a:off x="4407408" y="3895344"/>
            <a:ext cx="2468880" cy="219456"/>
          </a:xfrm>
          <a:prstGeom prst="rect">
            <a:avLst/>
          </a:prstGeom>
          <a:noFill/>
        </p:spPr>
        <p:txBody>
          <a:bodyPr wrap="square" lIns="0" rIns="0" tIns="0" bIns="0" anchor="t">
            <a:spAutoFit/>
          </a:bodyPr>
          <a:lstStyle/>
          <a:p>
            <a:pPr algn="l"/>
            <a:r>
              <a:rPr sz="1000" b="0" i="0">
                <a:solidFill>
                  <a:srgbClr val="11140F"/>
                </a:solidFill>
                <a:latin typeface="Calibri"/>
              </a:rPr>
              <a:t>Delivery time windows</a:t>
            </a:r>
          </a:p>
        </p:txBody>
      </p:sp>
      <p:sp>
        <p:nvSpPr>
          <p:cNvPr id="17451" name="TextBox 17450"/>
          <p:cNvSpPr txBox="1"/>
          <p:nvPr/>
        </p:nvSpPr>
        <p:spPr>
          <a:xfrm>
            <a:off x="6858000" y="3913631"/>
            <a:ext cx="566928" cy="201168"/>
          </a:xfrm>
          <a:prstGeom prst="rect">
            <a:avLst/>
          </a:prstGeom>
          <a:noFill/>
        </p:spPr>
        <p:txBody>
          <a:bodyPr wrap="square" lIns="0" rIns="0" tIns="0" bIns="0" anchor="t">
            <a:spAutoFit/>
          </a:bodyPr>
          <a:lstStyle/>
          <a:p>
            <a:pPr algn="r"/>
            <a:r>
              <a:rPr sz="800" b="1" i="0">
                <a:solidFill>
                  <a:srgbClr val="2F6B3A"/>
                </a:solidFill>
                <a:latin typeface="Calibri"/>
              </a:rPr>
              <a:t>hard</a:t>
            </a:r>
          </a:p>
        </p:txBody>
      </p:sp>
      <p:sp>
        <p:nvSpPr>
          <p:cNvPr id="17452" name="Rounded Rectangle 17451"/>
          <p:cNvSpPr/>
          <p:nvPr/>
        </p:nvSpPr>
        <p:spPr>
          <a:xfrm>
            <a:off x="502920" y="4279392"/>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3" name="Oval 17452"/>
          <p:cNvSpPr/>
          <p:nvPr/>
        </p:nvSpPr>
        <p:spPr>
          <a:xfrm>
            <a:off x="630936" y="4416552"/>
            <a:ext cx="91440" cy="9144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4" name="TextBox 17453"/>
          <p:cNvSpPr txBox="1"/>
          <p:nvPr/>
        </p:nvSpPr>
        <p:spPr>
          <a:xfrm>
            <a:off x="795528" y="4352544"/>
            <a:ext cx="2468880" cy="219456"/>
          </a:xfrm>
          <a:prstGeom prst="rect">
            <a:avLst/>
          </a:prstGeom>
          <a:noFill/>
        </p:spPr>
        <p:txBody>
          <a:bodyPr wrap="square" lIns="0" rIns="0" tIns="0" bIns="0" anchor="t">
            <a:spAutoFit/>
          </a:bodyPr>
          <a:lstStyle/>
          <a:p>
            <a:pPr algn="l"/>
            <a:r>
              <a:rPr sz="1000" b="0" i="0">
                <a:solidFill>
                  <a:srgbClr val="11140F"/>
                </a:solidFill>
                <a:latin typeface="Calibri"/>
              </a:rPr>
              <a:t>Perishability &amp; freshness</a:t>
            </a:r>
          </a:p>
        </p:txBody>
      </p:sp>
      <p:sp>
        <p:nvSpPr>
          <p:cNvPr id="17455" name="TextBox 17454"/>
          <p:cNvSpPr txBox="1"/>
          <p:nvPr/>
        </p:nvSpPr>
        <p:spPr>
          <a:xfrm>
            <a:off x="3246120" y="4370831"/>
            <a:ext cx="566928" cy="201168"/>
          </a:xfrm>
          <a:prstGeom prst="rect">
            <a:avLst/>
          </a:prstGeom>
          <a:noFill/>
        </p:spPr>
        <p:txBody>
          <a:bodyPr wrap="square" lIns="0" rIns="0" tIns="0" bIns="0" anchor="t">
            <a:spAutoFit/>
          </a:bodyPr>
          <a:lstStyle/>
          <a:p>
            <a:pPr algn="r"/>
            <a:r>
              <a:rPr sz="800" b="1" i="0">
                <a:solidFill>
                  <a:srgbClr val="2F6B3A"/>
                </a:solidFill>
                <a:latin typeface="Calibri"/>
              </a:rPr>
              <a:t>hard</a:t>
            </a:r>
          </a:p>
        </p:txBody>
      </p:sp>
      <p:sp>
        <p:nvSpPr>
          <p:cNvPr id="17456" name="Rounded Rectangle 17455"/>
          <p:cNvSpPr/>
          <p:nvPr/>
        </p:nvSpPr>
        <p:spPr>
          <a:xfrm>
            <a:off x="4114800" y="4279392"/>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7" name="Oval 17456"/>
          <p:cNvSpPr/>
          <p:nvPr/>
        </p:nvSpPr>
        <p:spPr>
          <a:xfrm>
            <a:off x="4242816" y="4416552"/>
            <a:ext cx="91440" cy="9144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8" name="TextBox 17457"/>
          <p:cNvSpPr txBox="1"/>
          <p:nvPr/>
        </p:nvSpPr>
        <p:spPr>
          <a:xfrm>
            <a:off x="4407408" y="4352544"/>
            <a:ext cx="2468880" cy="219456"/>
          </a:xfrm>
          <a:prstGeom prst="rect">
            <a:avLst/>
          </a:prstGeom>
          <a:noFill/>
        </p:spPr>
        <p:txBody>
          <a:bodyPr wrap="square" lIns="0" rIns="0" tIns="0" bIns="0" anchor="t">
            <a:spAutoFit/>
          </a:bodyPr>
          <a:lstStyle/>
          <a:p>
            <a:pPr algn="l"/>
            <a:r>
              <a:rPr sz="1000" b="0" i="0">
                <a:solidFill>
                  <a:srgbClr val="11140F"/>
                </a:solidFill>
                <a:latin typeface="Calibri"/>
              </a:rPr>
              <a:t>Estimated transport cost</a:t>
            </a:r>
          </a:p>
        </p:txBody>
      </p:sp>
      <p:sp>
        <p:nvSpPr>
          <p:cNvPr id="17459" name="TextBox 17458"/>
          <p:cNvSpPr txBox="1"/>
          <p:nvPr/>
        </p:nvSpPr>
        <p:spPr>
          <a:xfrm>
            <a:off x="6858000" y="4370831"/>
            <a:ext cx="566928" cy="201168"/>
          </a:xfrm>
          <a:prstGeom prst="rect">
            <a:avLst/>
          </a:prstGeom>
          <a:noFill/>
        </p:spPr>
        <p:txBody>
          <a:bodyPr wrap="square" lIns="0" rIns="0" tIns="0" bIns="0" anchor="t">
            <a:spAutoFit/>
          </a:bodyPr>
          <a:lstStyle/>
          <a:p>
            <a:pPr algn="r"/>
            <a:r>
              <a:rPr sz="800" b="1" i="0">
                <a:solidFill>
                  <a:srgbClr val="B7791F"/>
                </a:solidFill>
                <a:latin typeface="Calibri"/>
              </a:rPr>
              <a:t>ranking</a:t>
            </a:r>
          </a:p>
        </p:txBody>
      </p:sp>
      <p:sp>
        <p:nvSpPr>
          <p:cNvPr id="17460" name="Rounded Rectangle 17459"/>
          <p:cNvSpPr/>
          <p:nvPr/>
        </p:nvSpPr>
        <p:spPr>
          <a:xfrm>
            <a:off x="502920" y="4736592"/>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1" name="Oval 17460"/>
          <p:cNvSpPr/>
          <p:nvPr/>
        </p:nvSpPr>
        <p:spPr>
          <a:xfrm>
            <a:off x="630936" y="4873752"/>
            <a:ext cx="91440" cy="9144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2" name="TextBox 17461"/>
          <p:cNvSpPr txBox="1"/>
          <p:nvPr/>
        </p:nvSpPr>
        <p:spPr>
          <a:xfrm>
            <a:off x="795528" y="4809744"/>
            <a:ext cx="2468880" cy="219456"/>
          </a:xfrm>
          <a:prstGeom prst="rect">
            <a:avLst/>
          </a:prstGeom>
          <a:noFill/>
        </p:spPr>
        <p:txBody>
          <a:bodyPr wrap="square" lIns="0" rIns="0" tIns="0" bIns="0" anchor="t">
            <a:spAutoFit/>
          </a:bodyPr>
          <a:lstStyle/>
          <a:p>
            <a:pPr algn="l"/>
            <a:r>
              <a:rPr sz="1000" b="0" i="0">
                <a:solidFill>
                  <a:srgbClr val="11140F"/>
                </a:solidFill>
                <a:latin typeface="Calibri"/>
              </a:rPr>
              <a:t>Order priority</a:t>
            </a:r>
          </a:p>
        </p:txBody>
      </p:sp>
      <p:sp>
        <p:nvSpPr>
          <p:cNvPr id="17463" name="TextBox 17462"/>
          <p:cNvSpPr txBox="1"/>
          <p:nvPr/>
        </p:nvSpPr>
        <p:spPr>
          <a:xfrm>
            <a:off x="3246120" y="4828031"/>
            <a:ext cx="566928" cy="201168"/>
          </a:xfrm>
          <a:prstGeom prst="rect">
            <a:avLst/>
          </a:prstGeom>
          <a:noFill/>
        </p:spPr>
        <p:txBody>
          <a:bodyPr wrap="square" lIns="0" rIns="0" tIns="0" bIns="0" anchor="t">
            <a:spAutoFit/>
          </a:bodyPr>
          <a:lstStyle/>
          <a:p>
            <a:pPr algn="r"/>
            <a:r>
              <a:rPr sz="800" b="1" i="0">
                <a:solidFill>
                  <a:srgbClr val="B7791F"/>
                </a:solidFill>
                <a:latin typeface="Calibri"/>
              </a:rPr>
              <a:t>ranking</a:t>
            </a:r>
          </a:p>
        </p:txBody>
      </p:sp>
      <p:sp>
        <p:nvSpPr>
          <p:cNvPr id="17464" name="Rounded Rectangle 17463"/>
          <p:cNvSpPr/>
          <p:nvPr/>
        </p:nvSpPr>
        <p:spPr>
          <a:xfrm>
            <a:off x="4114800" y="4736592"/>
            <a:ext cx="3429000" cy="36576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5" name="Oval 17464"/>
          <p:cNvSpPr/>
          <p:nvPr/>
        </p:nvSpPr>
        <p:spPr>
          <a:xfrm>
            <a:off x="4242816" y="4873752"/>
            <a:ext cx="91440" cy="91440"/>
          </a:xfrm>
          <a:prstGeom prst="ellipse">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6" name="TextBox 17465"/>
          <p:cNvSpPr txBox="1"/>
          <p:nvPr/>
        </p:nvSpPr>
        <p:spPr>
          <a:xfrm>
            <a:off x="4407408" y="4809744"/>
            <a:ext cx="2468880" cy="219456"/>
          </a:xfrm>
          <a:prstGeom prst="rect">
            <a:avLst/>
          </a:prstGeom>
          <a:noFill/>
        </p:spPr>
        <p:txBody>
          <a:bodyPr wrap="square" lIns="0" rIns="0" tIns="0" bIns="0" anchor="t">
            <a:spAutoFit/>
          </a:bodyPr>
          <a:lstStyle/>
          <a:p>
            <a:pPr algn="l"/>
            <a:r>
              <a:rPr sz="1000" b="0" i="0">
                <a:solidFill>
                  <a:srgbClr val="11140F"/>
                </a:solidFill>
                <a:latin typeface="Calibri"/>
              </a:rPr>
              <a:t>Cancellations &amp; new orders</a:t>
            </a:r>
          </a:p>
        </p:txBody>
      </p:sp>
      <p:sp>
        <p:nvSpPr>
          <p:cNvPr id="17467" name="TextBox 17466"/>
          <p:cNvSpPr txBox="1"/>
          <p:nvPr/>
        </p:nvSpPr>
        <p:spPr>
          <a:xfrm>
            <a:off x="6858000" y="4828031"/>
            <a:ext cx="566928" cy="201168"/>
          </a:xfrm>
          <a:prstGeom prst="rect">
            <a:avLst/>
          </a:prstGeom>
          <a:noFill/>
        </p:spPr>
        <p:txBody>
          <a:bodyPr wrap="square" lIns="0" rIns="0" tIns="0" bIns="0" anchor="t">
            <a:spAutoFit/>
          </a:bodyPr>
          <a:lstStyle/>
          <a:p>
            <a:pPr algn="r"/>
            <a:r>
              <a:rPr sz="800" b="1" i="0">
                <a:solidFill>
                  <a:srgbClr val="6B8CAE"/>
                </a:solidFill>
                <a:latin typeface="Calibri"/>
              </a:rPr>
              <a:t>replan</a:t>
            </a:r>
          </a:p>
        </p:txBody>
      </p:sp>
      <p:sp>
        <p:nvSpPr>
          <p:cNvPr id="17468" name="Rounded Rectangle 17467"/>
          <p:cNvSpPr/>
          <p:nvPr/>
        </p:nvSpPr>
        <p:spPr>
          <a:xfrm>
            <a:off x="8001000" y="3127248"/>
            <a:ext cx="3749039" cy="2761488"/>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9" name="Picture 17468" descr="art_dashboard.png"/>
          <p:cNvPicPr>
            <a:picLocks noChangeAspect="1"/>
          </p:cNvPicPr>
          <p:nvPr/>
        </p:nvPicPr>
        <p:blipFill>
          <a:blip r:embed="rId10"/>
          <a:stretch>
            <a:fillRect/>
          </a:stretch>
        </p:blipFill>
        <p:spPr>
          <a:xfrm>
            <a:off x="9418320" y="3200400"/>
            <a:ext cx="914400" cy="914400"/>
          </a:xfrm>
          <a:prstGeom prst="rect">
            <a:avLst/>
          </a:prstGeom>
        </p:spPr>
      </p:pic>
      <p:sp>
        <p:nvSpPr>
          <p:cNvPr id="17470" name="TextBox 17469"/>
          <p:cNvSpPr txBox="1"/>
          <p:nvPr/>
        </p:nvSpPr>
        <p:spPr>
          <a:xfrm>
            <a:off x="8202168" y="4169663"/>
            <a:ext cx="3346703" cy="457200"/>
          </a:xfrm>
          <a:prstGeom prst="rect">
            <a:avLst/>
          </a:prstGeom>
          <a:noFill/>
        </p:spPr>
        <p:txBody>
          <a:bodyPr wrap="square" lIns="0" rIns="0" tIns="0" bIns="0" anchor="t">
            <a:spAutoFit/>
          </a:bodyPr>
          <a:lstStyle/>
          <a:p>
            <a:pPr algn="ctr">
              <a:lnSpc>
                <a:spcPts val="1300"/>
              </a:lnSpc>
            </a:pPr>
            <a:r>
              <a:rPr sz="1000" b="0" i="0">
                <a:solidFill>
                  <a:srgbClr val="657062"/>
                </a:solidFill>
                <a:latin typeface="Calibri"/>
              </a:rPr>
              <a:t>Next.js 16 · PostgreSQL · Prisma
Vercel · live mandi prices, daily</a:t>
            </a:r>
          </a:p>
        </p:txBody>
      </p:sp>
      <p:sp>
        <p:nvSpPr>
          <p:cNvPr id="17471" name="TextBox 17470"/>
          <p:cNvSpPr txBox="1"/>
          <p:nvPr/>
        </p:nvSpPr>
        <p:spPr>
          <a:xfrm>
            <a:off x="8202168" y="4718304"/>
            <a:ext cx="3346703" cy="182880"/>
          </a:xfrm>
          <a:prstGeom prst="rect">
            <a:avLst/>
          </a:prstGeom>
          <a:noFill/>
        </p:spPr>
        <p:txBody>
          <a:bodyPr wrap="square" lIns="0" rIns="0" tIns="0" bIns="0" anchor="t">
            <a:spAutoFit/>
          </a:bodyPr>
          <a:lstStyle/>
          <a:p>
            <a:pPr algn="l"/>
            <a:r>
              <a:rPr sz="850" b="1" i="0" spc="140">
                <a:solidFill>
                  <a:srgbClr val="657062"/>
                </a:solidFill>
                <a:latin typeface="Calibri"/>
              </a:rPr>
              <a:t>RULES THE CODE ENFORCES</a:t>
            </a:r>
          </a:p>
        </p:txBody>
      </p:sp>
      <p:sp>
        <p:nvSpPr>
          <p:cNvPr id="17472" name="TextBox 17471"/>
          <p:cNvSpPr txBox="1"/>
          <p:nvPr/>
        </p:nvSpPr>
        <p:spPr>
          <a:xfrm>
            <a:off x="8202168" y="4956048"/>
            <a:ext cx="3346703" cy="274320"/>
          </a:xfrm>
          <a:prstGeom prst="rect">
            <a:avLst/>
          </a:prstGeom>
          <a:noFill/>
        </p:spPr>
        <p:txBody>
          <a:bodyPr wrap="square" lIns="0" rIns="0" tIns="0" bIns="0" anchor="t">
            <a:spAutoFit/>
          </a:bodyPr>
          <a:lstStyle/>
          <a:p>
            <a:pPr algn="l">
              <a:lnSpc>
                <a:spcPts val="1100"/>
              </a:lnSpc>
            </a:pPr>
            <a:r>
              <a:rPr sz="950" b="0" i="0">
                <a:solidFill>
                  <a:srgbClr val="11140F"/>
                </a:solidFill>
                <a:latin typeface="Calibri"/>
              </a:rPr>
              <a:t>•  Under 70% fill, the run is held</a:t>
            </a:r>
          </a:p>
        </p:txBody>
      </p:sp>
      <p:sp>
        <p:nvSpPr>
          <p:cNvPr id="17473" name="TextBox 17472"/>
          <p:cNvSpPr txBox="1"/>
          <p:nvPr/>
        </p:nvSpPr>
        <p:spPr>
          <a:xfrm>
            <a:off x="8202168" y="5248656"/>
            <a:ext cx="3346703" cy="274320"/>
          </a:xfrm>
          <a:prstGeom prst="rect">
            <a:avLst/>
          </a:prstGeom>
          <a:noFill/>
        </p:spPr>
        <p:txBody>
          <a:bodyPr wrap="square" lIns="0" rIns="0" tIns="0" bIns="0" anchor="t">
            <a:spAutoFit/>
          </a:bodyPr>
          <a:lstStyle/>
          <a:p>
            <a:pPr algn="l">
              <a:lnSpc>
                <a:spcPts val="1100"/>
              </a:lnSpc>
            </a:pPr>
            <a:r>
              <a:rPr sz="950" b="0" i="0">
                <a:solidFill>
                  <a:srgbClr val="11140F"/>
                </a:solidFill>
                <a:latin typeface="Calibri"/>
              </a:rPr>
              <a:t>•  Atomic reservations: no kilogram twice</a:t>
            </a:r>
          </a:p>
        </p:txBody>
      </p:sp>
      <p:sp>
        <p:nvSpPr>
          <p:cNvPr id="17474" name="TextBox 17473"/>
          <p:cNvSpPr txBox="1"/>
          <p:nvPr/>
        </p:nvSpPr>
        <p:spPr>
          <a:xfrm>
            <a:off x="8202168" y="5541264"/>
            <a:ext cx="3346703" cy="274320"/>
          </a:xfrm>
          <a:prstGeom prst="rect">
            <a:avLst/>
          </a:prstGeom>
          <a:noFill/>
        </p:spPr>
        <p:txBody>
          <a:bodyPr wrap="square" lIns="0" rIns="0" tIns="0" bIns="0" anchor="t">
            <a:spAutoFit/>
          </a:bodyPr>
          <a:lstStyle/>
          <a:p>
            <a:pPr algn="l">
              <a:lnSpc>
                <a:spcPts val="1100"/>
              </a:lnSpc>
            </a:pPr>
            <a:r>
              <a:rPr sz="950" b="0" i="0">
                <a:solidFill>
                  <a:srgbClr val="11140F"/>
                </a:solidFill>
                <a:latin typeface="Calibri"/>
              </a:rPr>
              <a:t>•  A forecast shows only if it beats the baseline</a:t>
            </a:r>
          </a:p>
        </p:txBody>
      </p:sp>
      <p:sp>
        <p:nvSpPr>
          <p:cNvPr id="17475" name="TextBox 17474"/>
          <p:cNvSpPr txBox="1"/>
          <p:nvPr/>
        </p:nvSpPr>
        <p:spPr>
          <a:xfrm>
            <a:off x="502920" y="6053328"/>
            <a:ext cx="11247120" cy="237744"/>
          </a:xfrm>
          <a:prstGeom prst="rect">
            <a:avLst/>
          </a:prstGeom>
          <a:noFill/>
        </p:spPr>
        <p:txBody>
          <a:bodyPr wrap="square" lIns="0" rIns="0" tIns="0" bIns="0" anchor="t">
            <a:spAutoFit/>
          </a:bodyPr>
          <a:lstStyle/>
          <a:p>
            <a:pPr algn="l"/>
            <a:r>
              <a:rPr sz="800" b="0" i="1">
                <a:solidFill>
                  <a:srgbClr val="657062"/>
                </a:solidFill>
                <a:latin typeface="Calibri"/>
              </a:rPr>
              <a:t>Routing returns a feasible nearest-neighbour plan measured against a fixed-order baseline. We claim no global optimum.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78992"/>
            <a:ext cx="11247120" cy="329184"/>
          </a:xfrm>
          <a:prstGeom prst="rect">
            <a:avLst/>
          </a:prstGeom>
          <a:noFill/>
        </p:spPr>
        <p:txBody>
          <a:bodyPr wrap="square" lIns="0" rIns="0" tIns="0" bIns="0" anchor="t">
            <a:spAutoFit/>
          </a:bodyPr>
          <a:lstStyle/>
          <a:p>
            <a:pPr algn="l"/>
            <a:r>
              <a:rPr sz="1500" b="1" i="0">
                <a:solidFill>
                  <a:srgbClr val="11140F"/>
                </a:solidFill>
                <a:latin typeface="Cambria"/>
              </a:rPr>
              <a:t>Return loads, the fill threshold, and what can go wrong</a:t>
            </a:r>
          </a:p>
        </p:txBody>
      </p:sp>
      <p:sp>
        <p:nvSpPr>
          <p:cNvPr id="17411" name="Rounded Rectangle 17410"/>
          <p:cNvSpPr/>
          <p:nvPr/>
        </p:nvSpPr>
        <p:spPr>
          <a:xfrm>
            <a:off x="502920" y="1481328"/>
            <a:ext cx="6583680" cy="2286000"/>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731520" y="1627632"/>
            <a:ext cx="6126480" cy="182880"/>
          </a:xfrm>
          <a:prstGeom prst="rect">
            <a:avLst/>
          </a:prstGeom>
          <a:noFill/>
        </p:spPr>
        <p:txBody>
          <a:bodyPr wrap="square" lIns="0" rIns="0" tIns="0" bIns="0" anchor="t">
            <a:spAutoFit/>
          </a:bodyPr>
          <a:lstStyle/>
          <a:p>
            <a:pPr algn="l"/>
            <a:r>
              <a:rPr sz="850" b="1" i="0" spc="140">
                <a:solidFill>
                  <a:srgbClr val="657062"/>
                </a:solidFill>
                <a:latin typeface="Calibri"/>
              </a:rPr>
              <a:t>RETURN LOADS — THE EMPTY HALF OF EVERY TRIP</a:t>
            </a:r>
          </a:p>
        </p:txBody>
      </p:sp>
      <p:pic>
        <p:nvPicPr>
          <p:cNvPr id="17413" name="Picture 17412" descr="art_farms.png"/>
          <p:cNvPicPr>
            <a:picLocks noChangeAspect="1"/>
          </p:cNvPicPr>
          <p:nvPr/>
        </p:nvPicPr>
        <p:blipFill>
          <a:blip r:embed="rId4"/>
          <a:stretch>
            <a:fillRect/>
          </a:stretch>
        </p:blipFill>
        <p:spPr>
          <a:xfrm>
            <a:off x="749808" y="1883664"/>
            <a:ext cx="1188720" cy="1188720"/>
          </a:xfrm>
          <a:prstGeom prst="rect">
            <a:avLst/>
          </a:prstGeom>
        </p:spPr>
      </p:pic>
      <p:pic>
        <p:nvPicPr>
          <p:cNvPr id="17414" name="Picture 17413" descr="art_society.png"/>
          <p:cNvPicPr>
            <a:picLocks noChangeAspect="1"/>
          </p:cNvPicPr>
          <p:nvPr/>
        </p:nvPicPr>
        <p:blipFill>
          <a:blip r:embed="rId5"/>
          <a:stretch>
            <a:fillRect/>
          </a:stretch>
        </p:blipFill>
        <p:spPr>
          <a:xfrm>
            <a:off x="5632704" y="1883664"/>
            <a:ext cx="1188720" cy="1188720"/>
          </a:xfrm>
          <a:prstGeom prst="rect">
            <a:avLst/>
          </a:prstGeom>
        </p:spPr>
      </p:pic>
      <p:sp>
        <p:nvSpPr>
          <p:cNvPr id="17415" name="Rectangle 17414"/>
          <p:cNvSpPr/>
          <p:nvPr/>
        </p:nvSpPr>
        <p:spPr>
          <a:xfrm>
            <a:off x="2157984" y="2157984"/>
            <a:ext cx="3291840" cy="274320"/>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loaded  747.7 kg  ›</a:t>
            </a:r>
          </a:p>
        </p:txBody>
      </p:sp>
      <p:sp>
        <p:nvSpPr>
          <p:cNvPr id="17416" name="Rectangle 17415"/>
          <p:cNvSpPr/>
          <p:nvPr/>
        </p:nvSpPr>
        <p:spPr>
          <a:xfrm>
            <a:off x="2157984" y="2670048"/>
            <a:ext cx="3291840" cy="274320"/>
          </a:xfrm>
          <a:prstGeom prst="rect">
            <a:avLst/>
          </a:prstGeom>
          <a:solidFill>
            <a:srgbClr val="D9E2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657062"/>
                </a:solidFill>
                <a:latin typeface="Calibri"/>
              </a:rPr>
              <a:t>‹  returns empty today</a:t>
            </a:r>
          </a:p>
        </p:txBody>
      </p:sp>
      <p:sp>
        <p:nvSpPr>
          <p:cNvPr id="17417" name="TextBox 17416"/>
          <p:cNvSpPr txBox="1"/>
          <p:nvPr/>
        </p:nvSpPr>
        <p:spPr>
          <a:xfrm>
            <a:off x="2157984" y="3072384"/>
            <a:ext cx="3291840" cy="274320"/>
          </a:xfrm>
          <a:prstGeom prst="rect">
            <a:avLst/>
          </a:prstGeom>
          <a:noFill/>
        </p:spPr>
        <p:txBody>
          <a:bodyPr wrap="square" lIns="0" rIns="0" tIns="0" bIns="0" anchor="t">
            <a:spAutoFit/>
          </a:bodyPr>
          <a:lstStyle/>
          <a:p>
            <a:pPr algn="ctr"/>
            <a:r>
              <a:rPr sz="950" b="0" i="0">
                <a:solidFill>
                  <a:srgbClr val="657062"/>
                </a:solidFill>
                <a:latin typeface="Calibri"/>
              </a:rPr>
              <a:t>The empty half is already priced into what he charges us.</a:t>
            </a:r>
          </a:p>
        </p:txBody>
      </p:sp>
      <p:sp>
        <p:nvSpPr>
          <p:cNvPr id="17418" name="Rounded Rectangle 17417"/>
          <p:cNvSpPr/>
          <p:nvPr/>
        </p:nvSpPr>
        <p:spPr>
          <a:xfrm>
            <a:off x="502920" y="3931920"/>
            <a:ext cx="1572768" cy="91440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TextBox 17418"/>
          <p:cNvSpPr txBox="1"/>
          <p:nvPr/>
        </p:nvSpPr>
        <p:spPr>
          <a:xfrm>
            <a:off x="502920" y="4059936"/>
            <a:ext cx="1572768" cy="365760"/>
          </a:xfrm>
          <a:prstGeom prst="rect">
            <a:avLst/>
          </a:prstGeom>
          <a:noFill/>
        </p:spPr>
        <p:txBody>
          <a:bodyPr wrap="square" lIns="0" rIns="0" tIns="0" bIns="0" anchor="t">
            <a:spAutoFit/>
          </a:bodyPr>
          <a:lstStyle/>
          <a:p>
            <a:pPr algn="ctr"/>
            <a:r>
              <a:rPr sz="1900" b="1" i="0">
                <a:solidFill>
                  <a:srgbClr val="2F6B3A"/>
                </a:solidFill>
                <a:latin typeface="Cambria"/>
              </a:rPr>
              <a:t>123</a:t>
            </a:r>
          </a:p>
        </p:txBody>
      </p:sp>
      <p:sp>
        <p:nvSpPr>
          <p:cNvPr id="17420" name="TextBox 17419"/>
          <p:cNvSpPr txBox="1"/>
          <p:nvPr/>
        </p:nvSpPr>
        <p:spPr>
          <a:xfrm>
            <a:off x="557784" y="4462272"/>
            <a:ext cx="1463040" cy="310896"/>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orders pooled</a:t>
            </a:r>
          </a:p>
        </p:txBody>
      </p:sp>
      <p:sp>
        <p:nvSpPr>
          <p:cNvPr id="17421" name="Rounded Rectangle 17420"/>
          <p:cNvSpPr/>
          <p:nvPr/>
        </p:nvSpPr>
        <p:spPr>
          <a:xfrm>
            <a:off x="2185416" y="3931920"/>
            <a:ext cx="1572768" cy="91440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TextBox 17421"/>
          <p:cNvSpPr txBox="1"/>
          <p:nvPr/>
        </p:nvSpPr>
        <p:spPr>
          <a:xfrm>
            <a:off x="2185416" y="4059936"/>
            <a:ext cx="1572768" cy="365760"/>
          </a:xfrm>
          <a:prstGeom prst="rect">
            <a:avLst/>
          </a:prstGeom>
          <a:noFill/>
        </p:spPr>
        <p:txBody>
          <a:bodyPr wrap="square" lIns="0" rIns="0" tIns="0" bIns="0" anchor="t">
            <a:spAutoFit/>
          </a:bodyPr>
          <a:lstStyle/>
          <a:p>
            <a:pPr algn="ctr"/>
            <a:r>
              <a:rPr sz="1900" b="1" i="0">
                <a:solidFill>
                  <a:srgbClr val="2F6B3A"/>
                </a:solidFill>
                <a:latin typeface="Cambria"/>
              </a:rPr>
              <a:t>747.7 kg</a:t>
            </a:r>
          </a:p>
        </p:txBody>
      </p:sp>
      <p:sp>
        <p:nvSpPr>
          <p:cNvPr id="17423" name="TextBox 17422"/>
          <p:cNvSpPr txBox="1"/>
          <p:nvPr/>
        </p:nvSpPr>
        <p:spPr>
          <a:xfrm>
            <a:off x="2240280" y="4462272"/>
            <a:ext cx="1463040" cy="310896"/>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on a 750 kg tempo</a:t>
            </a:r>
          </a:p>
        </p:txBody>
      </p:sp>
      <p:sp>
        <p:nvSpPr>
          <p:cNvPr id="17424" name="Rounded Rectangle 17423"/>
          <p:cNvSpPr/>
          <p:nvPr/>
        </p:nvSpPr>
        <p:spPr>
          <a:xfrm>
            <a:off x="3867912" y="3931920"/>
            <a:ext cx="1572768" cy="91440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TextBox 17424"/>
          <p:cNvSpPr txBox="1"/>
          <p:nvPr/>
        </p:nvSpPr>
        <p:spPr>
          <a:xfrm>
            <a:off x="3867912" y="4059936"/>
            <a:ext cx="1572768" cy="365760"/>
          </a:xfrm>
          <a:prstGeom prst="rect">
            <a:avLst/>
          </a:prstGeom>
          <a:noFill/>
        </p:spPr>
        <p:txBody>
          <a:bodyPr wrap="square" lIns="0" rIns="0" tIns="0" bIns="0" anchor="t">
            <a:spAutoFit/>
          </a:bodyPr>
          <a:lstStyle/>
          <a:p>
            <a:pPr algn="ctr"/>
            <a:r>
              <a:rPr sz="1900" b="1" i="0">
                <a:solidFill>
                  <a:srgbClr val="2F6B3A"/>
                </a:solidFill>
                <a:latin typeface="Cambria"/>
              </a:rPr>
              <a:t>5</a:t>
            </a:r>
          </a:p>
        </p:txBody>
      </p:sp>
      <p:sp>
        <p:nvSpPr>
          <p:cNvPr id="17426" name="TextBox 17425"/>
          <p:cNvSpPr txBox="1"/>
          <p:nvPr/>
        </p:nvSpPr>
        <p:spPr>
          <a:xfrm>
            <a:off x="3922776" y="4462272"/>
            <a:ext cx="1463040" cy="310896"/>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stops: 4 farms, 1 drop</a:t>
            </a:r>
          </a:p>
        </p:txBody>
      </p:sp>
      <p:sp>
        <p:nvSpPr>
          <p:cNvPr id="17427" name="Rounded Rectangle 17426"/>
          <p:cNvSpPr/>
          <p:nvPr/>
        </p:nvSpPr>
        <p:spPr>
          <a:xfrm>
            <a:off x="5550408" y="3931920"/>
            <a:ext cx="1572768" cy="91440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8" name="TextBox 17427"/>
          <p:cNvSpPr txBox="1"/>
          <p:nvPr/>
        </p:nvSpPr>
        <p:spPr>
          <a:xfrm>
            <a:off x="5550408" y="4059936"/>
            <a:ext cx="1572768" cy="365760"/>
          </a:xfrm>
          <a:prstGeom prst="rect">
            <a:avLst/>
          </a:prstGeom>
          <a:noFill/>
        </p:spPr>
        <p:txBody>
          <a:bodyPr wrap="square" lIns="0" rIns="0" tIns="0" bIns="0" anchor="t">
            <a:spAutoFit/>
          </a:bodyPr>
          <a:lstStyle/>
          <a:p>
            <a:pPr algn="ctr"/>
            <a:r>
              <a:rPr sz="1900" b="1" i="0">
                <a:solidFill>
                  <a:srgbClr val="2F6B3A"/>
                </a:solidFill>
                <a:latin typeface="Cambria"/>
              </a:rPr>
              <a:t>₹5.37</a:t>
            </a:r>
          </a:p>
        </p:txBody>
      </p:sp>
      <p:sp>
        <p:nvSpPr>
          <p:cNvPr id="17429" name="TextBox 17428"/>
          <p:cNvSpPr txBox="1"/>
          <p:nvPr/>
        </p:nvSpPr>
        <p:spPr>
          <a:xfrm>
            <a:off x="5605272" y="4462272"/>
            <a:ext cx="1463040" cy="310896"/>
          </a:xfrm>
          <a:prstGeom prst="rect">
            <a:avLst/>
          </a:prstGeom>
          <a:noFill/>
        </p:spPr>
        <p:txBody>
          <a:bodyPr wrap="square" lIns="0" rIns="0" tIns="0" bIns="0" anchor="t">
            <a:spAutoFit/>
          </a:bodyPr>
          <a:lstStyle/>
          <a:p>
            <a:pPr algn="ctr">
              <a:lnSpc>
                <a:spcPts val="1000"/>
              </a:lnSpc>
            </a:pPr>
            <a:r>
              <a:rPr sz="850" b="0" i="0">
                <a:solidFill>
                  <a:srgbClr val="657062"/>
                </a:solidFill>
                <a:latin typeface="Calibri"/>
              </a:rPr>
              <a:t>transport per kg</a:t>
            </a:r>
          </a:p>
        </p:txBody>
      </p:sp>
      <p:sp>
        <p:nvSpPr>
          <p:cNvPr id="17430" name="TextBox 17429"/>
          <p:cNvSpPr txBox="1"/>
          <p:nvPr/>
        </p:nvSpPr>
        <p:spPr>
          <a:xfrm>
            <a:off x="502920" y="4956048"/>
            <a:ext cx="6583680" cy="237744"/>
          </a:xfrm>
          <a:prstGeom prst="rect">
            <a:avLst/>
          </a:prstGeom>
          <a:noFill/>
        </p:spPr>
        <p:txBody>
          <a:bodyPr wrap="square" lIns="0" rIns="0" tIns="0" bIns="0" anchor="t">
            <a:spAutoFit/>
          </a:bodyPr>
          <a:lstStyle/>
          <a:p>
            <a:pPr algn="l"/>
            <a:r>
              <a:rPr sz="950" b="0" i="1">
                <a:solidFill>
                  <a:srgbClr val="657062"/>
                </a:solidFill>
                <a:latin typeface="Calibri"/>
              </a:rPr>
              <a:t>One real run, planned by the live system</a:t>
            </a:r>
          </a:p>
        </p:txBody>
      </p:sp>
      <p:sp>
        <p:nvSpPr>
          <p:cNvPr id="17431" name="TextBox 17430"/>
          <p:cNvSpPr txBox="1"/>
          <p:nvPr/>
        </p:nvSpPr>
        <p:spPr>
          <a:xfrm>
            <a:off x="7452360" y="1481328"/>
            <a:ext cx="4297680" cy="182880"/>
          </a:xfrm>
          <a:prstGeom prst="rect">
            <a:avLst/>
          </a:prstGeom>
          <a:noFill/>
        </p:spPr>
        <p:txBody>
          <a:bodyPr wrap="square" lIns="0" rIns="0" tIns="0" bIns="0" anchor="t">
            <a:spAutoFit/>
          </a:bodyPr>
          <a:lstStyle/>
          <a:p>
            <a:pPr algn="l"/>
            <a:r>
              <a:rPr sz="850" b="1" i="0" spc="140">
                <a:solidFill>
                  <a:srgbClr val="657062"/>
                </a:solidFill>
                <a:latin typeface="Calibri"/>
              </a:rPr>
              <a:t>RISK, AND WHAT IS BUILT AGAINST IT</a:t>
            </a:r>
          </a:p>
        </p:txBody>
      </p:sp>
      <p:sp>
        <p:nvSpPr>
          <p:cNvPr id="17432" name="Rounded Rectangle 17431"/>
          <p:cNvSpPr/>
          <p:nvPr/>
        </p:nvSpPr>
        <p:spPr>
          <a:xfrm>
            <a:off x="7452360" y="1719072"/>
            <a:ext cx="4297680" cy="969264"/>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3" name="Picture 17432" descr="art_warning.png"/>
          <p:cNvPicPr>
            <a:picLocks noChangeAspect="1"/>
          </p:cNvPicPr>
          <p:nvPr/>
        </p:nvPicPr>
        <p:blipFill>
          <a:blip r:embed="rId6"/>
          <a:stretch>
            <a:fillRect/>
          </a:stretch>
        </p:blipFill>
        <p:spPr>
          <a:xfrm>
            <a:off x="7543800" y="1837943"/>
            <a:ext cx="731520" cy="731520"/>
          </a:xfrm>
          <a:prstGeom prst="rect">
            <a:avLst/>
          </a:prstGeom>
        </p:spPr>
      </p:pic>
      <p:sp>
        <p:nvSpPr>
          <p:cNvPr id="17434" name="TextBox 17433"/>
          <p:cNvSpPr txBox="1"/>
          <p:nvPr/>
        </p:nvSpPr>
        <p:spPr>
          <a:xfrm>
            <a:off x="8366760" y="1938528"/>
            <a:ext cx="3246120" cy="237744"/>
          </a:xfrm>
          <a:prstGeom prst="rect">
            <a:avLst/>
          </a:prstGeom>
          <a:noFill/>
        </p:spPr>
        <p:txBody>
          <a:bodyPr wrap="square" lIns="0" rIns="0" tIns="0" bIns="0" anchor="t">
            <a:spAutoFit/>
          </a:bodyPr>
          <a:lstStyle/>
          <a:p>
            <a:pPr algn="l"/>
            <a:r>
              <a:rPr sz="1100" b="1" i="0">
                <a:solidFill>
                  <a:srgbClr val="11140F"/>
                </a:solidFill>
                <a:latin typeface="Calibri"/>
              </a:rPr>
              <a:t>Too few orders</a:t>
            </a:r>
          </a:p>
        </p:txBody>
      </p:sp>
      <p:sp>
        <p:nvSpPr>
          <p:cNvPr id="17435" name="TextBox 17434"/>
          <p:cNvSpPr txBox="1"/>
          <p:nvPr/>
        </p:nvSpPr>
        <p:spPr>
          <a:xfrm>
            <a:off x="8366760" y="2194560"/>
            <a:ext cx="3246120" cy="384048"/>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Held below 70% fill, rolls to the next window</a:t>
            </a:r>
          </a:p>
        </p:txBody>
      </p:sp>
      <p:sp>
        <p:nvSpPr>
          <p:cNvPr id="17436" name="Rounded Rectangle 17435"/>
          <p:cNvSpPr/>
          <p:nvPr/>
        </p:nvSpPr>
        <p:spPr>
          <a:xfrm>
            <a:off x="7452360" y="2798063"/>
            <a:ext cx="4297680" cy="969264"/>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7" name="Picture 17436" descr="art_freshness.png"/>
          <p:cNvPicPr>
            <a:picLocks noChangeAspect="1"/>
          </p:cNvPicPr>
          <p:nvPr/>
        </p:nvPicPr>
        <p:blipFill>
          <a:blip r:embed="rId7"/>
          <a:stretch>
            <a:fillRect/>
          </a:stretch>
        </p:blipFill>
        <p:spPr>
          <a:xfrm>
            <a:off x="7543800" y="2916935"/>
            <a:ext cx="731520" cy="731520"/>
          </a:xfrm>
          <a:prstGeom prst="rect">
            <a:avLst/>
          </a:prstGeom>
        </p:spPr>
      </p:pic>
      <p:sp>
        <p:nvSpPr>
          <p:cNvPr id="17438" name="TextBox 17437"/>
          <p:cNvSpPr txBox="1"/>
          <p:nvPr/>
        </p:nvSpPr>
        <p:spPr>
          <a:xfrm>
            <a:off x="8366760" y="3017520"/>
            <a:ext cx="3246120" cy="237744"/>
          </a:xfrm>
          <a:prstGeom prst="rect">
            <a:avLst/>
          </a:prstGeom>
          <a:noFill/>
        </p:spPr>
        <p:txBody>
          <a:bodyPr wrap="square" lIns="0" rIns="0" tIns="0" bIns="0" anchor="t">
            <a:spAutoFit/>
          </a:bodyPr>
          <a:lstStyle/>
          <a:p>
            <a:pPr algn="l"/>
            <a:r>
              <a:rPr sz="1100" b="1" i="0">
                <a:solidFill>
                  <a:srgbClr val="11140F"/>
                </a:solidFill>
                <a:latin typeface="Calibri"/>
              </a:rPr>
              <a:t>Spoilage in transit</a:t>
            </a:r>
          </a:p>
        </p:txBody>
      </p:sp>
      <p:sp>
        <p:nvSpPr>
          <p:cNvPr id="17439" name="TextBox 17438"/>
          <p:cNvSpPr txBox="1"/>
          <p:nvPr/>
        </p:nvSpPr>
        <p:spPr>
          <a:xfrm>
            <a:off x="8366760" y="3273551"/>
            <a:ext cx="3246120" cy="384048"/>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Freshness is a hard constraint, per commodity</a:t>
            </a:r>
          </a:p>
        </p:txBody>
      </p:sp>
      <p:sp>
        <p:nvSpPr>
          <p:cNvPr id="17440" name="Rounded Rectangle 17439"/>
          <p:cNvSpPr/>
          <p:nvPr/>
        </p:nvSpPr>
        <p:spPr>
          <a:xfrm>
            <a:off x="7452360" y="3877056"/>
            <a:ext cx="4297680" cy="969264"/>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1" name="Picture 17440" descr="art_handshake.png"/>
          <p:cNvPicPr>
            <a:picLocks noChangeAspect="1"/>
          </p:cNvPicPr>
          <p:nvPr/>
        </p:nvPicPr>
        <p:blipFill>
          <a:blip r:embed="rId8"/>
          <a:stretch>
            <a:fillRect/>
          </a:stretch>
        </p:blipFill>
        <p:spPr>
          <a:xfrm>
            <a:off x="7543800" y="3995928"/>
            <a:ext cx="731520" cy="731520"/>
          </a:xfrm>
          <a:prstGeom prst="rect">
            <a:avLst/>
          </a:prstGeom>
        </p:spPr>
      </p:pic>
      <p:sp>
        <p:nvSpPr>
          <p:cNvPr id="17442" name="TextBox 17441"/>
          <p:cNvSpPr txBox="1"/>
          <p:nvPr/>
        </p:nvSpPr>
        <p:spPr>
          <a:xfrm>
            <a:off x="8366760" y="4096512"/>
            <a:ext cx="3246120" cy="237744"/>
          </a:xfrm>
          <a:prstGeom prst="rect">
            <a:avLst/>
          </a:prstGeom>
          <a:noFill/>
        </p:spPr>
        <p:txBody>
          <a:bodyPr wrap="square" lIns="0" rIns="0" tIns="0" bIns="0" anchor="t">
            <a:spAutoFit/>
          </a:bodyPr>
          <a:lstStyle/>
          <a:p>
            <a:pPr algn="l"/>
            <a:r>
              <a:rPr sz="1100" b="1" i="0">
                <a:solidFill>
                  <a:srgbClr val="11140F"/>
                </a:solidFill>
                <a:latin typeface="Calibri"/>
              </a:rPr>
              <a:t>Quality disputes</a:t>
            </a:r>
          </a:p>
        </p:txBody>
      </p:sp>
      <p:sp>
        <p:nvSpPr>
          <p:cNvPr id="17443" name="TextBox 17442"/>
          <p:cNvSpPr txBox="1"/>
          <p:nvPr/>
        </p:nvSpPr>
        <p:spPr>
          <a:xfrm>
            <a:off x="8366760" y="4352544"/>
            <a:ext cx="3246120" cy="384048"/>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Graded, handover recorded, deduction by agreement</a:t>
            </a:r>
          </a:p>
        </p:txBody>
      </p:sp>
      <p:sp>
        <p:nvSpPr>
          <p:cNvPr id="17444" name="Rounded Rectangle 17443"/>
          <p:cNvSpPr/>
          <p:nvPr/>
        </p:nvSpPr>
        <p:spPr>
          <a:xfrm>
            <a:off x="7452360" y="4956048"/>
            <a:ext cx="4297680" cy="969264"/>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5" name="Picture 17444" descr="art_language.png"/>
          <p:cNvPicPr>
            <a:picLocks noChangeAspect="1"/>
          </p:cNvPicPr>
          <p:nvPr/>
        </p:nvPicPr>
        <p:blipFill>
          <a:blip r:embed="rId9"/>
          <a:stretch>
            <a:fillRect/>
          </a:stretch>
        </p:blipFill>
        <p:spPr>
          <a:xfrm>
            <a:off x="7543800" y="5074920"/>
            <a:ext cx="731520" cy="731520"/>
          </a:xfrm>
          <a:prstGeom prst="rect">
            <a:avLst/>
          </a:prstGeom>
        </p:spPr>
      </p:pic>
      <p:sp>
        <p:nvSpPr>
          <p:cNvPr id="17446" name="TextBox 17445"/>
          <p:cNvSpPr txBox="1"/>
          <p:nvPr/>
        </p:nvSpPr>
        <p:spPr>
          <a:xfrm>
            <a:off x="8366760" y="5175504"/>
            <a:ext cx="3246120" cy="237744"/>
          </a:xfrm>
          <a:prstGeom prst="rect">
            <a:avLst/>
          </a:prstGeom>
          <a:noFill/>
        </p:spPr>
        <p:txBody>
          <a:bodyPr wrap="square" lIns="0" rIns="0" tIns="0" bIns="0" anchor="t">
            <a:spAutoFit/>
          </a:bodyPr>
          <a:lstStyle/>
          <a:p>
            <a:pPr algn="l"/>
            <a:r>
              <a:rPr sz="1100" b="1" i="0">
                <a:solidFill>
                  <a:srgbClr val="11140F"/>
                </a:solidFill>
                <a:latin typeface="Calibri"/>
              </a:rPr>
              <a:t>Farmer cannot use an app</a:t>
            </a:r>
          </a:p>
        </p:txBody>
      </p:sp>
      <p:sp>
        <p:nvSpPr>
          <p:cNvPr id="17447" name="TextBox 17446"/>
          <p:cNvSpPr txBox="1"/>
          <p:nvPr/>
        </p:nvSpPr>
        <p:spPr>
          <a:xfrm>
            <a:off x="8366760" y="5431536"/>
            <a:ext cx="3246120" cy="384048"/>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Marathi, Hindi, English · one decision card</a:t>
            </a:r>
          </a:p>
        </p:txBody>
      </p:sp>
      <p:sp>
        <p:nvSpPr>
          <p:cNvPr id="17448" name="TextBox 17447"/>
          <p:cNvSpPr txBox="1"/>
          <p:nvPr/>
        </p:nvSpPr>
        <p:spPr>
          <a:xfrm>
            <a:off x="502920" y="6053328"/>
            <a:ext cx="11247120" cy="237744"/>
          </a:xfrm>
          <a:prstGeom prst="rect">
            <a:avLst/>
          </a:prstGeom>
          <a:noFill/>
        </p:spPr>
        <p:txBody>
          <a:bodyPr wrap="square" lIns="0" rIns="0" tIns="0" bIns="0" anchor="t">
            <a:spAutoFit/>
          </a:bodyPr>
          <a:lstStyle/>
          <a:p>
            <a:pPr algn="l"/>
            <a:r>
              <a:rPr sz="800" b="0" i="1">
                <a:solidFill>
                  <a:srgbClr val="657062"/>
                </a:solidFill>
                <a:latin typeface="Calibri"/>
              </a:rPr>
              <a:t>Return-load matching is designed and specified. It sits deliberately after the core proof and is not claimed as shipped.</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78992"/>
            <a:ext cx="11247120" cy="329184"/>
          </a:xfrm>
          <a:prstGeom prst="rect">
            <a:avLst/>
          </a:prstGeom>
          <a:noFill/>
        </p:spPr>
        <p:txBody>
          <a:bodyPr wrap="square" lIns="0" rIns="0" tIns="0" bIns="0" anchor="t">
            <a:spAutoFit/>
          </a:bodyPr>
          <a:lstStyle/>
          <a:p>
            <a:pPr algn="l"/>
            <a:r>
              <a:rPr sz="1500" b="1" i="0">
                <a:solidFill>
                  <a:srgbClr val="11140F"/>
                </a:solidFill>
                <a:latin typeface="Cambria"/>
              </a:rPr>
              <a:t>More for the farmer, less for the buyer, and still self-funding</a:t>
            </a:r>
          </a:p>
        </p:txBody>
      </p:sp>
      <p:sp>
        <p:nvSpPr>
          <p:cNvPr id="17411" name="TextBox 17410"/>
          <p:cNvSpPr txBox="1"/>
          <p:nvPr/>
        </p:nvSpPr>
        <p:spPr>
          <a:xfrm>
            <a:off x="502920" y="1481328"/>
            <a:ext cx="6400800" cy="182880"/>
          </a:xfrm>
          <a:prstGeom prst="rect">
            <a:avLst/>
          </a:prstGeom>
          <a:noFill/>
        </p:spPr>
        <p:txBody>
          <a:bodyPr wrap="square" lIns="0" rIns="0" tIns="0" bIns="0" anchor="t">
            <a:spAutoFit/>
          </a:bodyPr>
          <a:lstStyle/>
          <a:p>
            <a:pPr algn="l"/>
            <a:r>
              <a:rPr sz="850" b="1" i="0" spc="140">
                <a:solidFill>
                  <a:srgbClr val="657062"/>
                </a:solidFill>
                <a:latin typeface="Calibri"/>
              </a:rPr>
              <a:t>FARMER'S SHARE OF WHAT THE BUYER PAYS</a:t>
            </a:r>
          </a:p>
        </p:txBody>
      </p:sp>
      <p:sp>
        <p:nvSpPr>
          <p:cNvPr id="17412" name="TextBox 17411"/>
          <p:cNvSpPr txBox="1"/>
          <p:nvPr/>
        </p:nvSpPr>
        <p:spPr>
          <a:xfrm>
            <a:off x="502920" y="1773936"/>
            <a:ext cx="2286000" cy="237744"/>
          </a:xfrm>
          <a:prstGeom prst="rect">
            <a:avLst/>
          </a:prstGeom>
          <a:noFill/>
        </p:spPr>
        <p:txBody>
          <a:bodyPr wrap="square" lIns="0" rIns="0" tIns="0" bIns="0" anchor="t">
            <a:spAutoFit/>
          </a:bodyPr>
          <a:lstStyle/>
          <a:p>
            <a:pPr algn="l"/>
            <a:r>
              <a:rPr sz="1000" b="0" i="0">
                <a:solidFill>
                  <a:srgbClr val="11140F"/>
                </a:solidFill>
                <a:latin typeface="Calibri"/>
              </a:rPr>
              <a:t>Fragmented mandi chain</a:t>
            </a:r>
          </a:p>
        </p:txBody>
      </p:sp>
      <p:sp>
        <p:nvSpPr>
          <p:cNvPr id="17413" name="Rectangle 17412"/>
          <p:cNvSpPr/>
          <p:nvPr/>
        </p:nvSpPr>
        <p:spPr>
          <a:xfrm>
            <a:off x="2880360" y="1755648"/>
            <a:ext cx="905256" cy="274320"/>
          </a:xfrm>
          <a:prstGeom prst="rect">
            <a:avLst/>
          </a:prstGeom>
          <a:solidFill>
            <a:srgbClr val="A8B7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TextBox 17413"/>
          <p:cNvSpPr txBox="1"/>
          <p:nvPr/>
        </p:nvSpPr>
        <p:spPr>
          <a:xfrm>
            <a:off x="5998464" y="1755648"/>
            <a:ext cx="731520" cy="274320"/>
          </a:xfrm>
          <a:prstGeom prst="rect">
            <a:avLst/>
          </a:prstGeom>
          <a:noFill/>
        </p:spPr>
        <p:txBody>
          <a:bodyPr wrap="square" lIns="0" rIns="0" tIns="0" bIns="0" anchor="t">
            <a:spAutoFit/>
          </a:bodyPr>
          <a:lstStyle/>
          <a:p>
            <a:pPr algn="l"/>
            <a:r>
              <a:rPr sz="1200" b="1" i="0">
                <a:solidFill>
                  <a:srgbClr val="A8B7A2"/>
                </a:solidFill>
                <a:latin typeface="Calibri"/>
              </a:rPr>
              <a:t>30.0%</a:t>
            </a:r>
          </a:p>
        </p:txBody>
      </p:sp>
      <p:sp>
        <p:nvSpPr>
          <p:cNvPr id="17415" name="TextBox 17414"/>
          <p:cNvSpPr txBox="1"/>
          <p:nvPr/>
        </p:nvSpPr>
        <p:spPr>
          <a:xfrm>
            <a:off x="502920" y="2377440"/>
            <a:ext cx="2286000" cy="237744"/>
          </a:xfrm>
          <a:prstGeom prst="rect">
            <a:avLst/>
          </a:prstGeom>
          <a:noFill/>
        </p:spPr>
        <p:txBody>
          <a:bodyPr wrap="square" lIns="0" rIns="0" tIns="0" bIns="0" anchor="t">
            <a:spAutoFit/>
          </a:bodyPr>
          <a:lstStyle/>
          <a:p>
            <a:pPr algn="l"/>
            <a:r>
              <a:rPr sz="1000" b="0" i="0">
                <a:solidFill>
                  <a:srgbClr val="11140F"/>
                </a:solidFill>
                <a:latin typeface="Calibri"/>
              </a:rPr>
              <a:t>KrishiSetu · 126 orders</a:t>
            </a:r>
          </a:p>
        </p:txBody>
      </p:sp>
      <p:sp>
        <p:nvSpPr>
          <p:cNvPr id="17416" name="Rectangle 17415"/>
          <p:cNvSpPr/>
          <p:nvPr/>
        </p:nvSpPr>
        <p:spPr>
          <a:xfrm>
            <a:off x="2880360" y="2359152"/>
            <a:ext cx="1937247" cy="274320"/>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5998464" y="2359152"/>
            <a:ext cx="731520" cy="274320"/>
          </a:xfrm>
          <a:prstGeom prst="rect">
            <a:avLst/>
          </a:prstGeom>
          <a:noFill/>
        </p:spPr>
        <p:txBody>
          <a:bodyPr wrap="square" lIns="0" rIns="0" tIns="0" bIns="0" anchor="t">
            <a:spAutoFit/>
          </a:bodyPr>
          <a:lstStyle/>
          <a:p>
            <a:pPr algn="l"/>
            <a:r>
              <a:rPr sz="1200" b="1" i="0">
                <a:solidFill>
                  <a:srgbClr val="2F6B3A"/>
                </a:solidFill>
                <a:latin typeface="Calibri"/>
              </a:rPr>
              <a:t>64.2%</a:t>
            </a:r>
          </a:p>
        </p:txBody>
      </p:sp>
      <p:sp>
        <p:nvSpPr>
          <p:cNvPr id="17418" name="TextBox 17417"/>
          <p:cNvSpPr txBox="1"/>
          <p:nvPr/>
        </p:nvSpPr>
        <p:spPr>
          <a:xfrm>
            <a:off x="502920" y="2980944"/>
            <a:ext cx="2286000" cy="237744"/>
          </a:xfrm>
          <a:prstGeom prst="rect">
            <a:avLst/>
          </a:prstGeom>
          <a:noFill/>
        </p:spPr>
        <p:txBody>
          <a:bodyPr wrap="square" lIns="0" rIns="0" tIns="0" bIns="0" anchor="t">
            <a:spAutoFit/>
          </a:bodyPr>
          <a:lstStyle/>
          <a:p>
            <a:pPr algn="l"/>
            <a:r>
              <a:rPr sz="1000" b="0" i="0">
                <a:solidFill>
                  <a:srgbClr val="11140F"/>
                </a:solidFill>
                <a:latin typeface="Calibri"/>
              </a:rPr>
              <a:t>KrishiSetu · tomato example</a:t>
            </a:r>
          </a:p>
        </p:txBody>
      </p:sp>
      <p:sp>
        <p:nvSpPr>
          <p:cNvPr id="17419" name="Rectangle 17418"/>
          <p:cNvSpPr/>
          <p:nvPr/>
        </p:nvSpPr>
        <p:spPr>
          <a:xfrm>
            <a:off x="2880360" y="2962656"/>
            <a:ext cx="2232964" cy="274320"/>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5998464" y="2962656"/>
            <a:ext cx="731520" cy="274320"/>
          </a:xfrm>
          <a:prstGeom prst="rect">
            <a:avLst/>
          </a:prstGeom>
          <a:noFill/>
        </p:spPr>
        <p:txBody>
          <a:bodyPr wrap="square" lIns="0" rIns="0" tIns="0" bIns="0" anchor="t">
            <a:spAutoFit/>
          </a:bodyPr>
          <a:lstStyle/>
          <a:p>
            <a:pPr algn="l"/>
            <a:r>
              <a:rPr sz="1200" b="1" i="0">
                <a:solidFill>
                  <a:srgbClr val="2F6B3A"/>
                </a:solidFill>
                <a:latin typeface="Calibri"/>
              </a:rPr>
              <a:t>74.0%</a:t>
            </a:r>
          </a:p>
        </p:txBody>
      </p:sp>
      <p:sp>
        <p:nvSpPr>
          <p:cNvPr id="17421" name="TextBox 17420"/>
          <p:cNvSpPr txBox="1"/>
          <p:nvPr/>
        </p:nvSpPr>
        <p:spPr>
          <a:xfrm>
            <a:off x="502920" y="3621024"/>
            <a:ext cx="6309360" cy="402336"/>
          </a:xfrm>
          <a:prstGeom prst="rect">
            <a:avLst/>
          </a:prstGeom>
          <a:noFill/>
        </p:spPr>
        <p:txBody>
          <a:bodyPr wrap="square" lIns="0" rIns="0" tIns="0" bIns="0" anchor="t">
            <a:spAutoFit/>
          </a:bodyPr>
          <a:lstStyle/>
          <a:p>
            <a:pPr algn="l">
              <a:lnSpc>
                <a:spcPts val="1000"/>
              </a:lnSpc>
            </a:pPr>
            <a:r>
              <a:rPr sz="850" b="0" i="1">
                <a:solidFill>
                  <a:srgbClr val="657062"/>
                </a:solidFill>
                <a:latin typeface="Calibri"/>
              </a:rPr>
              <a:t>The fragmented-chain figure is a widely reported estimate. The two KrishiSetu bars are computed from orders in the running system.</a:t>
            </a:r>
          </a:p>
        </p:txBody>
      </p:sp>
      <p:sp>
        <p:nvSpPr>
          <p:cNvPr id="17422" name="Rounded Rectangle 17421"/>
          <p:cNvSpPr/>
          <p:nvPr/>
        </p:nvSpPr>
        <p:spPr>
          <a:xfrm>
            <a:off x="7040880" y="1481328"/>
            <a:ext cx="4709160" cy="2578608"/>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3" name="Picture 17422" descr="art_coins.png"/>
          <p:cNvPicPr>
            <a:picLocks noChangeAspect="1"/>
          </p:cNvPicPr>
          <p:nvPr/>
        </p:nvPicPr>
        <p:blipFill>
          <a:blip r:embed="rId4"/>
          <a:stretch>
            <a:fillRect/>
          </a:stretch>
        </p:blipFill>
        <p:spPr>
          <a:xfrm>
            <a:off x="7187184" y="1572768"/>
            <a:ext cx="777240" cy="777240"/>
          </a:xfrm>
          <a:prstGeom prst="rect">
            <a:avLst/>
          </a:prstGeom>
        </p:spPr>
      </p:pic>
      <p:sp>
        <p:nvSpPr>
          <p:cNvPr id="17424" name="TextBox 17423"/>
          <p:cNvSpPr txBox="1"/>
          <p:nvPr/>
        </p:nvSpPr>
        <p:spPr>
          <a:xfrm>
            <a:off x="8028432" y="1792224"/>
            <a:ext cx="3520440" cy="219456"/>
          </a:xfrm>
          <a:prstGeom prst="rect">
            <a:avLst/>
          </a:prstGeom>
          <a:noFill/>
        </p:spPr>
        <p:txBody>
          <a:bodyPr wrap="square" lIns="0" rIns="0" tIns="0" bIns="0" anchor="t">
            <a:spAutoFit/>
          </a:bodyPr>
          <a:lstStyle/>
          <a:p>
            <a:pPr algn="l"/>
            <a:r>
              <a:rPr sz="900" b="1" i="0" spc="140">
                <a:solidFill>
                  <a:srgbClr val="657062"/>
                </a:solidFill>
                <a:latin typeface="Calibri"/>
              </a:rPr>
              <a:t>WHERE OUR OWN MONEY COMES FROM</a:t>
            </a:r>
          </a:p>
        </p:txBody>
      </p:sp>
      <p:sp>
        <p:nvSpPr>
          <p:cNvPr id="17425" name="TextBox 17424"/>
          <p:cNvSpPr txBox="1"/>
          <p:nvPr/>
        </p:nvSpPr>
        <p:spPr>
          <a:xfrm>
            <a:off x="7242048" y="2432304"/>
            <a:ext cx="3246120" cy="237744"/>
          </a:xfrm>
          <a:prstGeom prst="rect">
            <a:avLst/>
          </a:prstGeom>
          <a:noFill/>
        </p:spPr>
        <p:txBody>
          <a:bodyPr wrap="square" lIns="0" rIns="0" tIns="0" bIns="0" anchor="t">
            <a:spAutoFit/>
          </a:bodyPr>
          <a:lstStyle/>
          <a:p>
            <a:pPr algn="l"/>
            <a:r>
              <a:rPr sz="1000" b="0" i="0">
                <a:solidFill>
                  <a:srgbClr val="657062"/>
                </a:solidFill>
                <a:latin typeface="Calibri"/>
              </a:rPr>
              <a:t>Disclosed buyer-side fee, per order</a:t>
            </a:r>
          </a:p>
        </p:txBody>
      </p:sp>
      <p:sp>
        <p:nvSpPr>
          <p:cNvPr id="17426" name="TextBox 17425"/>
          <p:cNvSpPr txBox="1"/>
          <p:nvPr/>
        </p:nvSpPr>
        <p:spPr>
          <a:xfrm>
            <a:off x="10451592" y="2414016"/>
            <a:ext cx="1097280" cy="256032"/>
          </a:xfrm>
          <a:prstGeom prst="rect">
            <a:avLst/>
          </a:prstGeom>
          <a:noFill/>
        </p:spPr>
        <p:txBody>
          <a:bodyPr wrap="square" lIns="0" rIns="0" tIns="0" bIns="0" anchor="t">
            <a:spAutoFit/>
          </a:bodyPr>
          <a:lstStyle/>
          <a:p>
            <a:pPr algn="r"/>
            <a:r>
              <a:rPr sz="1050" b="1" i="0">
                <a:solidFill>
                  <a:srgbClr val="11140F"/>
                </a:solidFill>
                <a:latin typeface="Calibri"/>
              </a:rPr>
              <a:t>₹19.89</a:t>
            </a:r>
          </a:p>
        </p:txBody>
      </p:sp>
      <p:sp>
        <p:nvSpPr>
          <p:cNvPr id="17427" name="TextBox 17426"/>
          <p:cNvSpPr txBox="1"/>
          <p:nvPr/>
        </p:nvSpPr>
        <p:spPr>
          <a:xfrm>
            <a:off x="7242048" y="2743200"/>
            <a:ext cx="3246120" cy="237744"/>
          </a:xfrm>
          <a:prstGeom prst="rect">
            <a:avLst/>
          </a:prstGeom>
          <a:noFill/>
        </p:spPr>
        <p:txBody>
          <a:bodyPr wrap="square" lIns="0" rIns="0" tIns="0" bIns="0" anchor="t">
            <a:spAutoFit/>
          </a:bodyPr>
          <a:lstStyle/>
          <a:p>
            <a:pPr algn="l"/>
            <a:r>
              <a:rPr sz="1000" b="0" i="0">
                <a:solidFill>
                  <a:srgbClr val="657062"/>
                </a:solidFill>
                <a:latin typeface="Calibri"/>
              </a:rPr>
              <a:t>Gateway, messaging, support</a:t>
            </a:r>
          </a:p>
        </p:txBody>
      </p:sp>
      <p:sp>
        <p:nvSpPr>
          <p:cNvPr id="17428" name="TextBox 17427"/>
          <p:cNvSpPr txBox="1"/>
          <p:nvPr/>
        </p:nvSpPr>
        <p:spPr>
          <a:xfrm>
            <a:off x="10451592" y="2724912"/>
            <a:ext cx="1097280" cy="256032"/>
          </a:xfrm>
          <a:prstGeom prst="rect">
            <a:avLst/>
          </a:prstGeom>
          <a:noFill/>
        </p:spPr>
        <p:txBody>
          <a:bodyPr wrap="square" lIns="0" rIns="0" tIns="0" bIns="0" anchor="t">
            <a:spAutoFit/>
          </a:bodyPr>
          <a:lstStyle/>
          <a:p>
            <a:pPr algn="r"/>
            <a:r>
              <a:rPr sz="1050" b="1" i="0">
                <a:solidFill>
                  <a:srgbClr val="657062"/>
                </a:solidFill>
                <a:latin typeface="Calibri"/>
              </a:rPr>
              <a:t>− ₹5.60</a:t>
            </a:r>
          </a:p>
        </p:txBody>
      </p:sp>
      <p:sp>
        <p:nvSpPr>
          <p:cNvPr id="17429" name="TextBox 17428"/>
          <p:cNvSpPr txBox="1"/>
          <p:nvPr/>
        </p:nvSpPr>
        <p:spPr>
          <a:xfrm>
            <a:off x="7242048" y="3054096"/>
            <a:ext cx="3246120" cy="237744"/>
          </a:xfrm>
          <a:prstGeom prst="rect">
            <a:avLst/>
          </a:prstGeom>
          <a:noFill/>
        </p:spPr>
        <p:txBody>
          <a:bodyPr wrap="square" lIns="0" rIns="0" tIns="0" bIns="0" anchor="t">
            <a:spAutoFit/>
          </a:bodyPr>
          <a:lstStyle/>
          <a:p>
            <a:pPr algn="l"/>
            <a:r>
              <a:rPr sz="1000" b="1" i="0">
                <a:solidFill>
                  <a:srgbClr val="11140F"/>
                </a:solidFill>
                <a:latin typeface="Calibri"/>
              </a:rPr>
              <a:t>Contribution per order</a:t>
            </a:r>
          </a:p>
        </p:txBody>
      </p:sp>
      <p:sp>
        <p:nvSpPr>
          <p:cNvPr id="17430" name="TextBox 17429"/>
          <p:cNvSpPr txBox="1"/>
          <p:nvPr/>
        </p:nvSpPr>
        <p:spPr>
          <a:xfrm>
            <a:off x="10451592" y="3035808"/>
            <a:ext cx="1097280" cy="256032"/>
          </a:xfrm>
          <a:prstGeom prst="rect">
            <a:avLst/>
          </a:prstGeom>
          <a:noFill/>
        </p:spPr>
        <p:txBody>
          <a:bodyPr wrap="square" lIns="0" rIns="0" tIns="0" bIns="0" anchor="t">
            <a:spAutoFit/>
          </a:bodyPr>
          <a:lstStyle/>
          <a:p>
            <a:pPr algn="r"/>
            <a:r>
              <a:rPr sz="1200" b="1" i="0">
                <a:solidFill>
                  <a:srgbClr val="2F6B3A"/>
                </a:solidFill>
                <a:latin typeface="Calibri"/>
              </a:rPr>
              <a:t>₹14.29</a:t>
            </a:r>
          </a:p>
        </p:txBody>
      </p:sp>
      <p:sp>
        <p:nvSpPr>
          <p:cNvPr id="17431" name="TextBox 17430"/>
          <p:cNvSpPr txBox="1"/>
          <p:nvPr/>
        </p:nvSpPr>
        <p:spPr>
          <a:xfrm>
            <a:off x="7242048" y="3364992"/>
            <a:ext cx="3246120" cy="237744"/>
          </a:xfrm>
          <a:prstGeom prst="rect">
            <a:avLst/>
          </a:prstGeom>
          <a:noFill/>
        </p:spPr>
        <p:txBody>
          <a:bodyPr wrap="square" lIns="0" rIns="0" tIns="0" bIns="0" anchor="t">
            <a:spAutoFit/>
          </a:bodyPr>
          <a:lstStyle/>
          <a:p>
            <a:pPr algn="l"/>
            <a:r>
              <a:rPr sz="1000" b="0" i="0">
                <a:solidFill>
                  <a:srgbClr val="657062"/>
                </a:solidFill>
                <a:latin typeface="Calibri"/>
              </a:rPr>
              <a:t>Assumed monthly fixed cost</a:t>
            </a:r>
          </a:p>
        </p:txBody>
      </p:sp>
      <p:sp>
        <p:nvSpPr>
          <p:cNvPr id="17432" name="TextBox 17431"/>
          <p:cNvSpPr txBox="1"/>
          <p:nvPr/>
        </p:nvSpPr>
        <p:spPr>
          <a:xfrm>
            <a:off x="10451592" y="3346704"/>
            <a:ext cx="1097280" cy="256032"/>
          </a:xfrm>
          <a:prstGeom prst="rect">
            <a:avLst/>
          </a:prstGeom>
          <a:noFill/>
        </p:spPr>
        <p:txBody>
          <a:bodyPr wrap="square" lIns="0" rIns="0" tIns="0" bIns="0" anchor="t">
            <a:spAutoFit/>
          </a:bodyPr>
          <a:lstStyle/>
          <a:p>
            <a:pPr algn="r"/>
            <a:r>
              <a:rPr sz="1050" b="1" i="0">
                <a:solidFill>
                  <a:srgbClr val="11140F"/>
                </a:solidFill>
                <a:latin typeface="Calibri"/>
              </a:rPr>
              <a:t>₹60,000</a:t>
            </a:r>
          </a:p>
        </p:txBody>
      </p:sp>
      <p:sp>
        <p:nvSpPr>
          <p:cNvPr id="17433" name="TextBox 17432"/>
          <p:cNvSpPr txBox="1"/>
          <p:nvPr/>
        </p:nvSpPr>
        <p:spPr>
          <a:xfrm>
            <a:off x="7242048" y="3675888"/>
            <a:ext cx="3246120" cy="237744"/>
          </a:xfrm>
          <a:prstGeom prst="rect">
            <a:avLst/>
          </a:prstGeom>
          <a:noFill/>
        </p:spPr>
        <p:txBody>
          <a:bodyPr wrap="square" lIns="0" rIns="0" tIns="0" bIns="0" anchor="t">
            <a:spAutoFit/>
          </a:bodyPr>
          <a:lstStyle/>
          <a:p>
            <a:pPr algn="l"/>
            <a:r>
              <a:rPr sz="1000" b="1" i="0">
                <a:solidFill>
                  <a:srgbClr val="11140F"/>
                </a:solidFill>
                <a:latin typeface="Calibri"/>
              </a:rPr>
              <a:t>Orders a month to break even</a:t>
            </a:r>
          </a:p>
        </p:txBody>
      </p:sp>
      <p:sp>
        <p:nvSpPr>
          <p:cNvPr id="17434" name="TextBox 17433"/>
          <p:cNvSpPr txBox="1"/>
          <p:nvPr/>
        </p:nvSpPr>
        <p:spPr>
          <a:xfrm>
            <a:off x="10451592" y="3657600"/>
            <a:ext cx="1097280" cy="256032"/>
          </a:xfrm>
          <a:prstGeom prst="rect">
            <a:avLst/>
          </a:prstGeom>
          <a:noFill/>
        </p:spPr>
        <p:txBody>
          <a:bodyPr wrap="square" lIns="0" rIns="0" tIns="0" bIns="0" anchor="t">
            <a:spAutoFit/>
          </a:bodyPr>
          <a:lstStyle/>
          <a:p>
            <a:pPr algn="r"/>
            <a:r>
              <a:rPr sz="1200" b="1" i="0">
                <a:solidFill>
                  <a:srgbClr val="2F6B3A"/>
                </a:solidFill>
                <a:latin typeface="Calibri"/>
              </a:rPr>
              <a:t>4,199</a:t>
            </a:r>
          </a:p>
        </p:txBody>
      </p:sp>
      <p:sp>
        <p:nvSpPr>
          <p:cNvPr id="17435" name="TextBox 17434"/>
          <p:cNvSpPr txBox="1"/>
          <p:nvPr/>
        </p:nvSpPr>
        <p:spPr>
          <a:xfrm>
            <a:off x="7040880" y="4114800"/>
            <a:ext cx="4709160" cy="365760"/>
          </a:xfrm>
          <a:prstGeom prst="rect">
            <a:avLst/>
          </a:prstGeom>
          <a:noFill/>
        </p:spPr>
        <p:txBody>
          <a:bodyPr wrap="square" lIns="0" rIns="0" tIns="0" bIns="0" anchor="t">
            <a:spAutoFit/>
          </a:bodyPr>
          <a:lstStyle/>
          <a:p>
            <a:pPr algn="l">
              <a:lnSpc>
                <a:spcPts val="1000"/>
              </a:lnSpc>
            </a:pPr>
            <a:r>
              <a:rPr sz="850" b="0" i="0">
                <a:solidFill>
                  <a:srgbClr val="11140F"/>
                </a:solidFill>
                <a:latin typeface="Calibri"/>
              </a:rPr>
              <a:t>No listing fee. No commission. To hold a price, our fee is cut to zero first — never the farmer's amount.</a:t>
            </a:r>
          </a:p>
        </p:txBody>
      </p:sp>
      <p:sp>
        <p:nvSpPr>
          <p:cNvPr id="17436" name="Rounded Rectangle 17435"/>
          <p:cNvSpPr/>
          <p:nvPr/>
        </p:nvSpPr>
        <p:spPr>
          <a:xfrm>
            <a:off x="502920" y="4663440"/>
            <a:ext cx="2724912" cy="118872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7" name="Picture 17436" descr="art_farmer_woman.png"/>
          <p:cNvPicPr>
            <a:picLocks noChangeAspect="1"/>
          </p:cNvPicPr>
          <p:nvPr/>
        </p:nvPicPr>
        <p:blipFill>
          <a:blip r:embed="rId5"/>
          <a:stretch>
            <a:fillRect/>
          </a:stretch>
        </p:blipFill>
        <p:spPr>
          <a:xfrm>
            <a:off x="612648" y="4828032"/>
            <a:ext cx="822960" cy="822960"/>
          </a:xfrm>
          <a:prstGeom prst="rect">
            <a:avLst/>
          </a:prstGeom>
        </p:spPr>
      </p:pic>
      <p:sp>
        <p:nvSpPr>
          <p:cNvPr id="17438" name="TextBox 17437"/>
          <p:cNvSpPr txBox="1"/>
          <p:nvPr/>
        </p:nvSpPr>
        <p:spPr>
          <a:xfrm>
            <a:off x="1545336" y="4956048"/>
            <a:ext cx="1554480" cy="237744"/>
          </a:xfrm>
          <a:prstGeom prst="rect">
            <a:avLst/>
          </a:prstGeom>
          <a:noFill/>
        </p:spPr>
        <p:txBody>
          <a:bodyPr wrap="square" lIns="0" rIns="0" tIns="0" bIns="0" anchor="t">
            <a:spAutoFit/>
          </a:bodyPr>
          <a:lstStyle/>
          <a:p>
            <a:pPr algn="l"/>
            <a:r>
              <a:rPr sz="1150" b="1" i="0">
                <a:solidFill>
                  <a:srgbClr val="2F6B3A"/>
                </a:solidFill>
                <a:latin typeface="Calibri"/>
              </a:rPr>
              <a:t>Farmer</a:t>
            </a:r>
          </a:p>
        </p:txBody>
      </p:sp>
      <p:sp>
        <p:nvSpPr>
          <p:cNvPr id="17439" name="TextBox 17438"/>
          <p:cNvSpPr txBox="1"/>
          <p:nvPr/>
        </p:nvSpPr>
        <p:spPr>
          <a:xfrm>
            <a:off x="1545336" y="5193792"/>
            <a:ext cx="1600200" cy="45720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₹34.00/kg, paid in full</a:t>
            </a:r>
          </a:p>
        </p:txBody>
      </p:sp>
      <p:sp>
        <p:nvSpPr>
          <p:cNvPr id="17440" name="Rounded Rectangle 17439"/>
          <p:cNvSpPr/>
          <p:nvPr/>
        </p:nvSpPr>
        <p:spPr>
          <a:xfrm>
            <a:off x="3374136" y="4663440"/>
            <a:ext cx="2724912" cy="118872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1" name="Picture 17440" descr="art_buyer_bag.png"/>
          <p:cNvPicPr>
            <a:picLocks noChangeAspect="1"/>
          </p:cNvPicPr>
          <p:nvPr/>
        </p:nvPicPr>
        <p:blipFill>
          <a:blip r:embed="rId6"/>
          <a:stretch>
            <a:fillRect/>
          </a:stretch>
        </p:blipFill>
        <p:spPr>
          <a:xfrm>
            <a:off x="3483864" y="4828032"/>
            <a:ext cx="822960" cy="822960"/>
          </a:xfrm>
          <a:prstGeom prst="rect">
            <a:avLst/>
          </a:prstGeom>
        </p:spPr>
      </p:pic>
      <p:sp>
        <p:nvSpPr>
          <p:cNvPr id="17442" name="TextBox 17441"/>
          <p:cNvSpPr txBox="1"/>
          <p:nvPr/>
        </p:nvSpPr>
        <p:spPr>
          <a:xfrm>
            <a:off x="4416552" y="4956048"/>
            <a:ext cx="1554480" cy="237744"/>
          </a:xfrm>
          <a:prstGeom prst="rect">
            <a:avLst/>
          </a:prstGeom>
          <a:noFill/>
        </p:spPr>
        <p:txBody>
          <a:bodyPr wrap="square" lIns="0" rIns="0" tIns="0" bIns="0" anchor="t">
            <a:spAutoFit/>
          </a:bodyPr>
          <a:lstStyle/>
          <a:p>
            <a:pPr algn="l"/>
            <a:r>
              <a:rPr sz="1150" b="1" i="0">
                <a:solidFill>
                  <a:srgbClr val="6B8CAE"/>
                </a:solidFill>
                <a:latin typeface="Calibri"/>
              </a:rPr>
              <a:t>Buyer</a:t>
            </a:r>
          </a:p>
        </p:txBody>
      </p:sp>
      <p:sp>
        <p:nvSpPr>
          <p:cNvPr id="17443" name="TextBox 17442"/>
          <p:cNvSpPr txBox="1"/>
          <p:nvPr/>
        </p:nvSpPr>
        <p:spPr>
          <a:xfrm>
            <a:off x="4416552" y="5193792"/>
            <a:ext cx="1600200" cy="45720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₹45.66/kg vs ₹55 reference</a:t>
            </a:r>
          </a:p>
        </p:txBody>
      </p:sp>
      <p:sp>
        <p:nvSpPr>
          <p:cNvPr id="17444" name="Rounded Rectangle 17443"/>
          <p:cNvSpPr/>
          <p:nvPr/>
        </p:nvSpPr>
        <p:spPr>
          <a:xfrm>
            <a:off x="6245352" y="4663440"/>
            <a:ext cx="2724912" cy="118872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5" name="Picture 17444" descr="art_tempo_empty.png"/>
          <p:cNvPicPr>
            <a:picLocks noChangeAspect="1"/>
          </p:cNvPicPr>
          <p:nvPr/>
        </p:nvPicPr>
        <p:blipFill>
          <a:blip r:embed="rId7"/>
          <a:stretch>
            <a:fillRect/>
          </a:stretch>
        </p:blipFill>
        <p:spPr>
          <a:xfrm>
            <a:off x="6355080" y="4828032"/>
            <a:ext cx="822960" cy="822960"/>
          </a:xfrm>
          <a:prstGeom prst="rect">
            <a:avLst/>
          </a:prstGeom>
        </p:spPr>
      </p:pic>
      <p:sp>
        <p:nvSpPr>
          <p:cNvPr id="17446" name="TextBox 17445"/>
          <p:cNvSpPr txBox="1"/>
          <p:nvPr/>
        </p:nvSpPr>
        <p:spPr>
          <a:xfrm>
            <a:off x="7287768" y="4956048"/>
            <a:ext cx="1554480" cy="237744"/>
          </a:xfrm>
          <a:prstGeom prst="rect">
            <a:avLst/>
          </a:prstGeom>
          <a:noFill/>
        </p:spPr>
        <p:txBody>
          <a:bodyPr wrap="square" lIns="0" rIns="0" tIns="0" bIns="0" anchor="t">
            <a:spAutoFit/>
          </a:bodyPr>
          <a:lstStyle/>
          <a:p>
            <a:pPr algn="l"/>
            <a:r>
              <a:rPr sz="1150" b="1" i="0">
                <a:solidFill>
                  <a:srgbClr val="B7791F"/>
                </a:solidFill>
                <a:latin typeface="Calibri"/>
              </a:rPr>
              <a:t>Transporter</a:t>
            </a:r>
          </a:p>
        </p:txBody>
      </p:sp>
      <p:sp>
        <p:nvSpPr>
          <p:cNvPr id="17447" name="TextBox 17446"/>
          <p:cNvSpPr txBox="1"/>
          <p:nvPr/>
        </p:nvSpPr>
        <p:spPr>
          <a:xfrm>
            <a:off x="7287768" y="5193792"/>
            <a:ext cx="1600200" cy="45720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₹4,016 a run, agreed first</a:t>
            </a:r>
          </a:p>
        </p:txBody>
      </p:sp>
      <p:sp>
        <p:nvSpPr>
          <p:cNvPr id="17448" name="Rounded Rectangle 17447"/>
          <p:cNvSpPr/>
          <p:nvPr/>
        </p:nvSpPr>
        <p:spPr>
          <a:xfrm>
            <a:off x="9116568" y="4663440"/>
            <a:ext cx="2724912" cy="1188720"/>
          </a:xfrm>
          <a:prstGeom prst="roundRect">
            <a:avLst>
              <a:gd name="adj" fmla="val 7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9" name="Picture 17448" descr="art_dashboard.png"/>
          <p:cNvPicPr>
            <a:picLocks noChangeAspect="1"/>
          </p:cNvPicPr>
          <p:nvPr/>
        </p:nvPicPr>
        <p:blipFill>
          <a:blip r:embed="rId8"/>
          <a:stretch>
            <a:fillRect/>
          </a:stretch>
        </p:blipFill>
        <p:spPr>
          <a:xfrm>
            <a:off x="9226296" y="4828032"/>
            <a:ext cx="822960" cy="822960"/>
          </a:xfrm>
          <a:prstGeom prst="rect">
            <a:avLst/>
          </a:prstGeom>
        </p:spPr>
      </p:pic>
      <p:sp>
        <p:nvSpPr>
          <p:cNvPr id="17450" name="TextBox 17449"/>
          <p:cNvSpPr txBox="1"/>
          <p:nvPr/>
        </p:nvSpPr>
        <p:spPr>
          <a:xfrm>
            <a:off x="10158984" y="4956048"/>
            <a:ext cx="1554480" cy="237744"/>
          </a:xfrm>
          <a:prstGeom prst="rect">
            <a:avLst/>
          </a:prstGeom>
          <a:noFill/>
        </p:spPr>
        <p:txBody>
          <a:bodyPr wrap="square" lIns="0" rIns="0" tIns="0" bIns="0" anchor="t">
            <a:spAutoFit/>
          </a:bodyPr>
          <a:lstStyle/>
          <a:p>
            <a:pPr algn="l"/>
            <a:r>
              <a:rPr sz="1150" b="1" i="0">
                <a:solidFill>
                  <a:srgbClr val="8A7FAE"/>
                </a:solidFill>
                <a:latin typeface="Calibri"/>
              </a:rPr>
              <a:t>Platform</a:t>
            </a:r>
          </a:p>
        </p:txBody>
      </p:sp>
      <p:sp>
        <p:nvSpPr>
          <p:cNvPr id="17451" name="TextBox 17450"/>
          <p:cNvSpPr txBox="1"/>
          <p:nvPr/>
        </p:nvSpPr>
        <p:spPr>
          <a:xfrm>
            <a:off x="10158984" y="5193792"/>
            <a:ext cx="1600200" cy="45720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₹14.29, one disclosed fee</a:t>
            </a:r>
          </a:p>
        </p:txBody>
      </p:sp>
      <p:sp>
        <p:nvSpPr>
          <p:cNvPr id="17452" name="TextBox 17451"/>
          <p:cNvSpPr txBox="1"/>
          <p:nvPr/>
        </p:nvSpPr>
        <p:spPr>
          <a:xfrm>
            <a:off x="502920" y="6053328"/>
            <a:ext cx="11247120" cy="237744"/>
          </a:xfrm>
          <a:prstGeom prst="rect">
            <a:avLst/>
          </a:prstGeom>
          <a:noFill/>
        </p:spPr>
        <p:txBody>
          <a:bodyPr wrap="square" lIns="0" rIns="0" tIns="0" bIns="0" anchor="t">
            <a:spAutoFit/>
          </a:bodyPr>
          <a:lstStyle/>
          <a:p>
            <a:pPr algn="l"/>
            <a:r>
              <a:rPr sz="800" b="0" i="1">
                <a:solidFill>
                  <a:srgbClr val="657062"/>
                </a:solidFill>
                <a:latin typeface="Calibri"/>
              </a:rPr>
              <a:t>Figures are computed over synthetic demonstration orders: they size the model rather than measure a business. No column here is farming profit.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78992"/>
            <a:ext cx="11247120" cy="329184"/>
          </a:xfrm>
          <a:prstGeom prst="rect">
            <a:avLst/>
          </a:prstGeom>
          <a:noFill/>
        </p:spPr>
        <p:txBody>
          <a:bodyPr wrap="square" lIns="0" rIns="0" tIns="0" bIns="0" anchor="t">
            <a:spAutoFit/>
          </a:bodyPr>
          <a:lstStyle/>
          <a:p>
            <a:pPr algn="l"/>
            <a:r>
              <a:rPr sz="1500" b="1" i="0">
                <a:solidFill>
                  <a:srgbClr val="11140F"/>
                </a:solidFill>
                <a:latin typeface="Cambria"/>
              </a:rPr>
              <a:t>Sources, and what they do and do not prove</a:t>
            </a:r>
          </a:p>
        </p:txBody>
      </p:sp>
      <p:sp>
        <p:nvSpPr>
          <p:cNvPr id="17411" name="Rounded Rectangle 17410"/>
          <p:cNvSpPr/>
          <p:nvPr/>
        </p:nvSpPr>
        <p:spPr>
          <a:xfrm>
            <a:off x="502920" y="1481328"/>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2" name="Picture 17411" descr="art_govt_building.png"/>
          <p:cNvPicPr>
            <a:picLocks noChangeAspect="1"/>
          </p:cNvPicPr>
          <p:nvPr/>
        </p:nvPicPr>
        <p:blipFill>
          <a:blip r:embed="rId4"/>
          <a:stretch>
            <a:fillRect/>
          </a:stretch>
        </p:blipFill>
        <p:spPr>
          <a:xfrm>
            <a:off x="612648" y="1609344"/>
            <a:ext cx="731520" cy="731520"/>
          </a:xfrm>
          <a:prstGeom prst="rect">
            <a:avLst/>
          </a:prstGeom>
        </p:spPr>
      </p:pic>
      <p:sp>
        <p:nvSpPr>
          <p:cNvPr id="17413" name="TextBox 17412"/>
          <p:cNvSpPr txBox="1"/>
          <p:nvPr/>
        </p:nvSpPr>
        <p:spPr>
          <a:xfrm>
            <a:off x="1453896" y="1664208"/>
            <a:ext cx="3200400" cy="237744"/>
          </a:xfrm>
          <a:prstGeom prst="rect">
            <a:avLst/>
          </a:prstGeom>
          <a:noFill/>
        </p:spPr>
        <p:txBody>
          <a:bodyPr wrap="square" lIns="0" rIns="0" tIns="0" bIns="0" anchor="t">
            <a:spAutoFit/>
          </a:bodyPr>
          <a:lstStyle/>
          <a:p>
            <a:pPr algn="l"/>
            <a:r>
              <a:rPr sz="1050" b="1" i="0">
                <a:solidFill>
                  <a:srgbClr val="11140F"/>
                </a:solidFill>
                <a:latin typeface="Calibri"/>
              </a:rPr>
              <a:t>Government of India open data portal</a:t>
            </a:r>
          </a:p>
        </p:txBody>
      </p:sp>
      <p:sp>
        <p:nvSpPr>
          <p:cNvPr id="17414" name="TextBox 17413"/>
          <p:cNvSpPr txBox="1"/>
          <p:nvPr/>
        </p:nvSpPr>
        <p:spPr>
          <a:xfrm>
            <a:off x="4617720" y="1682496"/>
            <a:ext cx="1234440" cy="201168"/>
          </a:xfrm>
          <a:prstGeom prst="rect">
            <a:avLst/>
          </a:prstGeom>
          <a:noFill/>
        </p:spPr>
        <p:txBody>
          <a:bodyPr wrap="square" lIns="0" rIns="0" tIns="0" bIns="0" anchor="t">
            <a:spAutoFit/>
          </a:bodyPr>
          <a:lstStyle/>
          <a:p>
            <a:pPr algn="r"/>
            <a:r>
              <a:rPr sz="800" b="1" i="0" spc="110">
                <a:solidFill>
                  <a:srgbClr val="2F6B3A"/>
                </a:solidFill>
                <a:latin typeface="Calibri"/>
              </a:rPr>
              <a:t>LIVE IN APP</a:t>
            </a:r>
          </a:p>
        </p:txBody>
      </p:sp>
      <p:sp>
        <p:nvSpPr>
          <p:cNvPr id="17415" name="TextBox 17414"/>
          <p:cNvSpPr txBox="1"/>
          <p:nvPr/>
        </p:nvSpPr>
        <p:spPr>
          <a:xfrm>
            <a:off x="1453896" y="1993392"/>
            <a:ext cx="4389120" cy="237744"/>
          </a:xfrm>
          <a:prstGeom prst="rect">
            <a:avLst/>
          </a:prstGeom>
          <a:noFill/>
        </p:spPr>
        <p:txBody>
          <a:bodyPr wrap="square" lIns="0" rIns="0" tIns="0" bIns="0" anchor="t">
            <a:spAutoFit/>
          </a:bodyPr>
          <a:lstStyle/>
          <a:p>
            <a:pPr algn="l"/>
            <a:r>
              <a:rPr sz="850" b="0" i="0">
                <a:solidFill>
                  <a:srgbClr val="2F6B3A"/>
                </a:solidFill>
                <a:latin typeface="Calibri"/>
              </a:rPr>
              <a:t>data.gov.in — daily mandi prices</a:t>
            </a:r>
          </a:p>
        </p:txBody>
      </p:sp>
      <p:sp>
        <p:nvSpPr>
          <p:cNvPr id="17416" name="Rounded Rectangle 17415"/>
          <p:cNvSpPr/>
          <p:nvPr/>
        </p:nvSpPr>
        <p:spPr>
          <a:xfrm>
            <a:off x="6190488" y="1481328"/>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7" name="Picture 17416" descr="art_dashboard.png"/>
          <p:cNvPicPr>
            <a:picLocks noChangeAspect="1"/>
          </p:cNvPicPr>
          <p:nvPr/>
        </p:nvPicPr>
        <p:blipFill>
          <a:blip r:embed="rId5"/>
          <a:stretch>
            <a:fillRect/>
          </a:stretch>
        </p:blipFill>
        <p:spPr>
          <a:xfrm>
            <a:off x="6300216" y="1609344"/>
            <a:ext cx="731520" cy="731520"/>
          </a:xfrm>
          <a:prstGeom prst="rect">
            <a:avLst/>
          </a:prstGeom>
        </p:spPr>
      </p:pic>
      <p:sp>
        <p:nvSpPr>
          <p:cNvPr id="17418" name="TextBox 17417"/>
          <p:cNvSpPr txBox="1"/>
          <p:nvPr/>
        </p:nvSpPr>
        <p:spPr>
          <a:xfrm>
            <a:off x="7141464" y="1664208"/>
            <a:ext cx="3200400" cy="237744"/>
          </a:xfrm>
          <a:prstGeom prst="rect">
            <a:avLst/>
          </a:prstGeom>
          <a:noFill/>
        </p:spPr>
        <p:txBody>
          <a:bodyPr wrap="square" lIns="0" rIns="0" tIns="0" bIns="0" anchor="t">
            <a:spAutoFit/>
          </a:bodyPr>
          <a:lstStyle/>
          <a:p>
            <a:pPr algn="l"/>
            <a:r>
              <a:rPr sz="1050" b="1" i="0">
                <a:solidFill>
                  <a:srgbClr val="11140F"/>
                </a:solidFill>
                <a:latin typeface="Calibri"/>
              </a:rPr>
              <a:t>eNAM — trading and FPO pages</a:t>
            </a:r>
          </a:p>
        </p:txBody>
      </p:sp>
      <p:sp>
        <p:nvSpPr>
          <p:cNvPr id="17419" name="TextBox 17418"/>
          <p:cNvSpPr txBox="1"/>
          <p:nvPr/>
        </p:nvSpPr>
        <p:spPr>
          <a:xfrm>
            <a:off x="10305288" y="1682496"/>
            <a:ext cx="123444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20" name="TextBox 17419"/>
          <p:cNvSpPr txBox="1"/>
          <p:nvPr/>
        </p:nvSpPr>
        <p:spPr>
          <a:xfrm>
            <a:off x="7141464" y="1993392"/>
            <a:ext cx="4389120" cy="237744"/>
          </a:xfrm>
          <a:prstGeom prst="rect">
            <a:avLst/>
          </a:prstGeom>
          <a:noFill/>
        </p:spPr>
        <p:txBody>
          <a:bodyPr wrap="square" lIns="0" rIns="0" tIns="0" bIns="0" anchor="t">
            <a:spAutoFit/>
          </a:bodyPr>
          <a:lstStyle/>
          <a:p>
            <a:pPr algn="l"/>
            <a:r>
              <a:rPr sz="850" b="0" i="0">
                <a:solidFill>
                  <a:srgbClr val="2F6B3A"/>
                </a:solidFill>
                <a:latin typeface="Calibri"/>
              </a:rPr>
              <a:t>enam.gov.in/web/trading-details</a:t>
            </a:r>
          </a:p>
        </p:txBody>
      </p:sp>
      <p:sp>
        <p:nvSpPr>
          <p:cNvPr id="17421" name="Rounded Rectangle 17420"/>
          <p:cNvSpPr/>
          <p:nvPr/>
        </p:nvSpPr>
        <p:spPr>
          <a:xfrm>
            <a:off x="502920" y="2578608"/>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2" name="Picture 17421" descr="art_tempo_loaded.png"/>
          <p:cNvPicPr>
            <a:picLocks noChangeAspect="1"/>
          </p:cNvPicPr>
          <p:nvPr/>
        </p:nvPicPr>
        <p:blipFill>
          <a:blip r:embed="rId6"/>
          <a:stretch>
            <a:fillRect/>
          </a:stretch>
        </p:blipFill>
        <p:spPr>
          <a:xfrm>
            <a:off x="612648" y="2706624"/>
            <a:ext cx="731520" cy="731520"/>
          </a:xfrm>
          <a:prstGeom prst="rect">
            <a:avLst/>
          </a:prstGeom>
        </p:spPr>
      </p:pic>
      <p:sp>
        <p:nvSpPr>
          <p:cNvPr id="17423" name="TextBox 17422"/>
          <p:cNvSpPr txBox="1"/>
          <p:nvPr/>
        </p:nvSpPr>
        <p:spPr>
          <a:xfrm>
            <a:off x="1453896" y="2761488"/>
            <a:ext cx="3200400" cy="237744"/>
          </a:xfrm>
          <a:prstGeom prst="rect">
            <a:avLst/>
          </a:prstGeom>
          <a:noFill/>
        </p:spPr>
        <p:txBody>
          <a:bodyPr wrap="square" lIns="0" rIns="0" tIns="0" bIns="0" anchor="t">
            <a:spAutoFit/>
          </a:bodyPr>
          <a:lstStyle/>
          <a:p>
            <a:pPr algn="l"/>
            <a:r>
              <a:rPr sz="1050" b="1" i="0">
                <a:solidFill>
                  <a:srgbClr val="11140F"/>
                </a:solidFill>
                <a:latin typeface="Calibri"/>
              </a:rPr>
              <a:t>Ninjacart and Ninja Mandi</a:t>
            </a:r>
          </a:p>
        </p:txBody>
      </p:sp>
      <p:sp>
        <p:nvSpPr>
          <p:cNvPr id="17424" name="TextBox 17423"/>
          <p:cNvSpPr txBox="1"/>
          <p:nvPr/>
        </p:nvSpPr>
        <p:spPr>
          <a:xfrm>
            <a:off x="4617720" y="2779776"/>
            <a:ext cx="123444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25" name="TextBox 17424"/>
          <p:cNvSpPr txBox="1"/>
          <p:nvPr/>
        </p:nvSpPr>
        <p:spPr>
          <a:xfrm>
            <a:off x="1453896" y="3090672"/>
            <a:ext cx="4389120" cy="237744"/>
          </a:xfrm>
          <a:prstGeom prst="rect">
            <a:avLst/>
          </a:prstGeom>
          <a:noFill/>
        </p:spPr>
        <p:txBody>
          <a:bodyPr wrap="square" lIns="0" rIns="0" tIns="0" bIns="0" anchor="t">
            <a:spAutoFit/>
          </a:bodyPr>
          <a:lstStyle/>
          <a:p>
            <a:pPr algn="l"/>
            <a:r>
              <a:rPr sz="850" b="0" i="0">
                <a:solidFill>
                  <a:srgbClr val="2F6B3A"/>
                </a:solidFill>
                <a:latin typeface="Calibri"/>
              </a:rPr>
              <a:t>ninjacart.com/ninja-mandi</a:t>
            </a:r>
          </a:p>
        </p:txBody>
      </p:sp>
      <p:sp>
        <p:nvSpPr>
          <p:cNvPr id="17426" name="Rounded Rectangle 17425"/>
          <p:cNvSpPr/>
          <p:nvPr/>
        </p:nvSpPr>
        <p:spPr>
          <a:xfrm>
            <a:off x="6190488" y="2578608"/>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7" name="Picture 17426" descr="art_kirana.png"/>
          <p:cNvPicPr>
            <a:picLocks noChangeAspect="1"/>
          </p:cNvPicPr>
          <p:nvPr/>
        </p:nvPicPr>
        <p:blipFill>
          <a:blip r:embed="rId7"/>
          <a:stretch>
            <a:fillRect/>
          </a:stretch>
        </p:blipFill>
        <p:spPr>
          <a:xfrm>
            <a:off x="6300216" y="2706624"/>
            <a:ext cx="731520" cy="731520"/>
          </a:xfrm>
          <a:prstGeom prst="rect">
            <a:avLst/>
          </a:prstGeom>
        </p:spPr>
      </p:pic>
      <p:sp>
        <p:nvSpPr>
          <p:cNvPr id="17428" name="TextBox 17427"/>
          <p:cNvSpPr txBox="1"/>
          <p:nvPr/>
        </p:nvSpPr>
        <p:spPr>
          <a:xfrm>
            <a:off x="7141464" y="2761488"/>
            <a:ext cx="3200400" cy="237744"/>
          </a:xfrm>
          <a:prstGeom prst="rect">
            <a:avLst/>
          </a:prstGeom>
          <a:noFill/>
        </p:spPr>
        <p:txBody>
          <a:bodyPr wrap="square" lIns="0" rIns="0" tIns="0" bIns="0" anchor="t">
            <a:spAutoFit/>
          </a:bodyPr>
          <a:lstStyle/>
          <a:p>
            <a:pPr algn="l"/>
            <a:r>
              <a:rPr sz="1050" b="1" i="0">
                <a:solidFill>
                  <a:srgbClr val="11140F"/>
                </a:solidFill>
                <a:latin typeface="Calibri"/>
              </a:rPr>
              <a:t>agribazaar</a:t>
            </a:r>
          </a:p>
        </p:txBody>
      </p:sp>
      <p:sp>
        <p:nvSpPr>
          <p:cNvPr id="17429" name="TextBox 17428"/>
          <p:cNvSpPr txBox="1"/>
          <p:nvPr/>
        </p:nvSpPr>
        <p:spPr>
          <a:xfrm>
            <a:off x="10305288" y="2779776"/>
            <a:ext cx="123444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30" name="TextBox 17429"/>
          <p:cNvSpPr txBox="1"/>
          <p:nvPr/>
        </p:nvSpPr>
        <p:spPr>
          <a:xfrm>
            <a:off x="7141464" y="3090672"/>
            <a:ext cx="4389120" cy="237744"/>
          </a:xfrm>
          <a:prstGeom prst="rect">
            <a:avLst/>
          </a:prstGeom>
          <a:noFill/>
        </p:spPr>
        <p:txBody>
          <a:bodyPr wrap="square" lIns="0" rIns="0" tIns="0" bIns="0" anchor="t">
            <a:spAutoFit/>
          </a:bodyPr>
          <a:lstStyle/>
          <a:p>
            <a:pPr algn="l"/>
            <a:r>
              <a:rPr sz="850" b="0" i="0">
                <a:solidFill>
                  <a:srgbClr val="2F6B3A"/>
                </a:solidFill>
                <a:latin typeface="Calibri"/>
              </a:rPr>
              <a:t>agribazaar.com/quick-links/steps</a:t>
            </a:r>
          </a:p>
        </p:txBody>
      </p:sp>
      <p:sp>
        <p:nvSpPr>
          <p:cNvPr id="17431" name="Rounded Rectangle 17430"/>
          <p:cNvSpPr/>
          <p:nvPr/>
        </p:nvSpPr>
        <p:spPr>
          <a:xfrm>
            <a:off x="502920" y="3675887"/>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2" name="Picture 17431" descr="art_coins.png"/>
          <p:cNvPicPr>
            <a:picLocks noChangeAspect="1"/>
          </p:cNvPicPr>
          <p:nvPr/>
        </p:nvPicPr>
        <p:blipFill>
          <a:blip r:embed="rId8"/>
          <a:stretch>
            <a:fillRect/>
          </a:stretch>
        </p:blipFill>
        <p:spPr>
          <a:xfrm>
            <a:off x="612648" y="3803903"/>
            <a:ext cx="731520" cy="731520"/>
          </a:xfrm>
          <a:prstGeom prst="rect">
            <a:avLst/>
          </a:prstGeom>
        </p:spPr>
      </p:pic>
      <p:sp>
        <p:nvSpPr>
          <p:cNvPr id="17433" name="TextBox 17432"/>
          <p:cNvSpPr txBox="1"/>
          <p:nvPr/>
        </p:nvSpPr>
        <p:spPr>
          <a:xfrm>
            <a:off x="1453896" y="3858768"/>
            <a:ext cx="3200400" cy="237744"/>
          </a:xfrm>
          <a:prstGeom prst="rect">
            <a:avLst/>
          </a:prstGeom>
          <a:noFill/>
        </p:spPr>
        <p:txBody>
          <a:bodyPr wrap="square" lIns="0" rIns="0" tIns="0" bIns="0" anchor="t">
            <a:spAutoFit/>
          </a:bodyPr>
          <a:lstStyle/>
          <a:p>
            <a:pPr algn="l"/>
            <a:r>
              <a:rPr sz="1050" b="1" i="0">
                <a:solidFill>
                  <a:srgbClr val="11140F"/>
                </a:solidFill>
                <a:latin typeface="Calibri"/>
              </a:rPr>
              <a:t>Samunnati</a:t>
            </a:r>
          </a:p>
        </p:txBody>
      </p:sp>
      <p:sp>
        <p:nvSpPr>
          <p:cNvPr id="17434" name="TextBox 17433"/>
          <p:cNvSpPr txBox="1"/>
          <p:nvPr/>
        </p:nvSpPr>
        <p:spPr>
          <a:xfrm>
            <a:off x="4617720" y="3877055"/>
            <a:ext cx="123444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35" name="TextBox 17434"/>
          <p:cNvSpPr txBox="1"/>
          <p:nvPr/>
        </p:nvSpPr>
        <p:spPr>
          <a:xfrm>
            <a:off x="1453896" y="4187952"/>
            <a:ext cx="4389120" cy="237744"/>
          </a:xfrm>
          <a:prstGeom prst="rect">
            <a:avLst/>
          </a:prstGeom>
          <a:noFill/>
        </p:spPr>
        <p:txBody>
          <a:bodyPr wrap="square" lIns="0" rIns="0" tIns="0" bIns="0" anchor="t">
            <a:spAutoFit/>
          </a:bodyPr>
          <a:lstStyle/>
          <a:p>
            <a:pPr algn="l"/>
            <a:r>
              <a:rPr sz="850" b="0" i="0">
                <a:solidFill>
                  <a:srgbClr val="2F6B3A"/>
                </a:solidFill>
                <a:latin typeface="Calibri"/>
              </a:rPr>
              <a:t>samunnati.com/innovations</a:t>
            </a:r>
          </a:p>
        </p:txBody>
      </p:sp>
      <p:sp>
        <p:nvSpPr>
          <p:cNvPr id="17436" name="Rounded Rectangle 17435"/>
          <p:cNvSpPr/>
          <p:nvPr/>
        </p:nvSpPr>
        <p:spPr>
          <a:xfrm>
            <a:off x="6190488" y="3675887"/>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7" name="Picture 17436" descr="art_route_pins.png"/>
          <p:cNvPicPr>
            <a:picLocks noChangeAspect="1"/>
          </p:cNvPicPr>
          <p:nvPr/>
        </p:nvPicPr>
        <p:blipFill>
          <a:blip r:embed="rId9"/>
          <a:stretch>
            <a:fillRect/>
          </a:stretch>
        </p:blipFill>
        <p:spPr>
          <a:xfrm>
            <a:off x="6300216" y="3803903"/>
            <a:ext cx="731520" cy="731520"/>
          </a:xfrm>
          <a:prstGeom prst="rect">
            <a:avLst/>
          </a:prstGeom>
        </p:spPr>
      </p:pic>
      <p:sp>
        <p:nvSpPr>
          <p:cNvPr id="17438" name="TextBox 17437"/>
          <p:cNvSpPr txBox="1"/>
          <p:nvPr/>
        </p:nvSpPr>
        <p:spPr>
          <a:xfrm>
            <a:off x="7141464" y="3858768"/>
            <a:ext cx="3200400" cy="237744"/>
          </a:xfrm>
          <a:prstGeom prst="rect">
            <a:avLst/>
          </a:prstGeom>
          <a:noFill/>
        </p:spPr>
        <p:txBody>
          <a:bodyPr wrap="square" lIns="0" rIns="0" tIns="0" bIns="0" anchor="t">
            <a:spAutoFit/>
          </a:bodyPr>
          <a:lstStyle/>
          <a:p>
            <a:pPr algn="l"/>
            <a:r>
              <a:rPr sz="1050" b="1" i="0">
                <a:solidFill>
                  <a:srgbClr val="11140F"/>
                </a:solidFill>
                <a:latin typeface="Calibri"/>
              </a:rPr>
              <a:t>Google OR-Tools, VRP with time windows</a:t>
            </a:r>
          </a:p>
        </p:txBody>
      </p:sp>
      <p:sp>
        <p:nvSpPr>
          <p:cNvPr id="17439" name="TextBox 17438"/>
          <p:cNvSpPr txBox="1"/>
          <p:nvPr/>
        </p:nvSpPr>
        <p:spPr>
          <a:xfrm>
            <a:off x="10305288" y="3877055"/>
            <a:ext cx="1234440" cy="201168"/>
          </a:xfrm>
          <a:prstGeom prst="rect">
            <a:avLst/>
          </a:prstGeom>
          <a:noFill/>
        </p:spPr>
        <p:txBody>
          <a:bodyPr wrap="square" lIns="0" rIns="0" tIns="0" bIns="0" anchor="t">
            <a:spAutoFit/>
          </a:bodyPr>
          <a:lstStyle/>
          <a:p>
            <a:pPr algn="r"/>
            <a:r>
              <a:rPr sz="800" b="1" i="0" spc="110">
                <a:solidFill>
                  <a:srgbClr val="2F6B3A"/>
                </a:solidFill>
                <a:latin typeface="Calibri"/>
              </a:rPr>
              <a:t>METHOD</a:t>
            </a:r>
          </a:p>
        </p:txBody>
      </p:sp>
      <p:sp>
        <p:nvSpPr>
          <p:cNvPr id="17440" name="TextBox 17439"/>
          <p:cNvSpPr txBox="1"/>
          <p:nvPr/>
        </p:nvSpPr>
        <p:spPr>
          <a:xfrm>
            <a:off x="7141464" y="4187952"/>
            <a:ext cx="4389120" cy="237744"/>
          </a:xfrm>
          <a:prstGeom prst="rect">
            <a:avLst/>
          </a:prstGeom>
          <a:noFill/>
        </p:spPr>
        <p:txBody>
          <a:bodyPr wrap="square" lIns="0" rIns="0" tIns="0" bIns="0" anchor="t">
            <a:spAutoFit/>
          </a:bodyPr>
          <a:lstStyle/>
          <a:p>
            <a:pPr algn="l"/>
            <a:r>
              <a:rPr sz="850" b="0" i="0">
                <a:solidFill>
                  <a:srgbClr val="2F6B3A"/>
                </a:solidFill>
                <a:latin typeface="Calibri"/>
              </a:rPr>
              <a:t>developers.google.com/optimization/routing/vrptw</a:t>
            </a:r>
          </a:p>
        </p:txBody>
      </p:sp>
      <p:sp>
        <p:nvSpPr>
          <p:cNvPr id="17441" name="Rounded Rectangle 17440"/>
          <p:cNvSpPr/>
          <p:nvPr/>
        </p:nvSpPr>
        <p:spPr>
          <a:xfrm>
            <a:off x="502920" y="4773168"/>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2" name="Picture 17441" descr="art_govt_building.png"/>
          <p:cNvPicPr>
            <a:picLocks noChangeAspect="1"/>
          </p:cNvPicPr>
          <p:nvPr/>
        </p:nvPicPr>
        <p:blipFill>
          <a:blip r:embed="rId4"/>
          <a:stretch>
            <a:fillRect/>
          </a:stretch>
        </p:blipFill>
        <p:spPr>
          <a:xfrm>
            <a:off x="612648" y="4901183"/>
            <a:ext cx="731520" cy="731520"/>
          </a:xfrm>
          <a:prstGeom prst="rect">
            <a:avLst/>
          </a:prstGeom>
        </p:spPr>
      </p:pic>
      <p:sp>
        <p:nvSpPr>
          <p:cNvPr id="17443" name="TextBox 17442"/>
          <p:cNvSpPr txBox="1"/>
          <p:nvPr/>
        </p:nvSpPr>
        <p:spPr>
          <a:xfrm>
            <a:off x="1453896" y="4956048"/>
            <a:ext cx="3200400" cy="237744"/>
          </a:xfrm>
          <a:prstGeom prst="rect">
            <a:avLst/>
          </a:prstGeom>
          <a:noFill/>
        </p:spPr>
        <p:txBody>
          <a:bodyPr wrap="square" lIns="0" rIns="0" tIns="0" bIns="0" anchor="t">
            <a:spAutoFit/>
          </a:bodyPr>
          <a:lstStyle/>
          <a:p>
            <a:pPr algn="l"/>
            <a:r>
              <a:rPr sz="1050" b="1" i="0">
                <a:solidFill>
                  <a:srgbClr val="11140F"/>
                </a:solidFill>
                <a:latin typeface="Calibri"/>
              </a:rPr>
              <a:t>PIB release on agricultural marketing</a:t>
            </a:r>
          </a:p>
        </p:txBody>
      </p:sp>
      <p:sp>
        <p:nvSpPr>
          <p:cNvPr id="17444" name="TextBox 17443"/>
          <p:cNvSpPr txBox="1"/>
          <p:nvPr/>
        </p:nvSpPr>
        <p:spPr>
          <a:xfrm>
            <a:off x="4617720" y="4974336"/>
            <a:ext cx="1234440" cy="201168"/>
          </a:xfrm>
          <a:prstGeom prst="rect">
            <a:avLst/>
          </a:prstGeom>
          <a:noFill/>
        </p:spPr>
        <p:txBody>
          <a:bodyPr wrap="square" lIns="0" rIns="0" tIns="0" bIns="0" anchor="t">
            <a:spAutoFit/>
          </a:bodyPr>
          <a:lstStyle/>
          <a:p>
            <a:pPr algn="r"/>
            <a:r>
              <a:rPr sz="800" b="1" i="0" spc="110">
                <a:solidFill>
                  <a:srgbClr val="657062"/>
                </a:solidFill>
                <a:latin typeface="Calibri"/>
              </a:rPr>
              <a:t>POLICY</a:t>
            </a:r>
          </a:p>
        </p:txBody>
      </p:sp>
      <p:sp>
        <p:nvSpPr>
          <p:cNvPr id="17445" name="TextBox 17444"/>
          <p:cNvSpPr txBox="1"/>
          <p:nvPr/>
        </p:nvSpPr>
        <p:spPr>
          <a:xfrm>
            <a:off x="1453896" y="5285231"/>
            <a:ext cx="4389120" cy="237744"/>
          </a:xfrm>
          <a:prstGeom prst="rect">
            <a:avLst/>
          </a:prstGeom>
          <a:noFill/>
        </p:spPr>
        <p:txBody>
          <a:bodyPr wrap="square" lIns="0" rIns="0" tIns="0" bIns="0" anchor="t">
            <a:spAutoFit/>
          </a:bodyPr>
          <a:lstStyle/>
          <a:p>
            <a:pPr algn="l"/>
            <a:r>
              <a:rPr sz="850" b="0" i="0">
                <a:solidFill>
                  <a:srgbClr val="2F6B3A"/>
                </a:solidFill>
                <a:latin typeface="Calibri"/>
              </a:rPr>
              <a:t>pib.gov.in — PRID 2222802</a:t>
            </a:r>
          </a:p>
        </p:txBody>
      </p:sp>
      <p:sp>
        <p:nvSpPr>
          <p:cNvPr id="17446" name="Rounded Rectangle 17445"/>
          <p:cNvSpPr/>
          <p:nvPr/>
        </p:nvSpPr>
        <p:spPr>
          <a:xfrm>
            <a:off x="6190488" y="4773168"/>
            <a:ext cx="5486400" cy="987552"/>
          </a:xfrm>
          <a:prstGeom prst="roundRect">
            <a:avLst>
              <a:gd name="adj" fmla="val 7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7" name="Picture 17446" descr="art_clipboard_tick.png"/>
          <p:cNvPicPr>
            <a:picLocks noChangeAspect="1"/>
          </p:cNvPicPr>
          <p:nvPr/>
        </p:nvPicPr>
        <p:blipFill>
          <a:blip r:embed="rId10"/>
          <a:stretch>
            <a:fillRect/>
          </a:stretch>
        </p:blipFill>
        <p:spPr>
          <a:xfrm>
            <a:off x="6300216" y="4901183"/>
            <a:ext cx="731520" cy="731520"/>
          </a:xfrm>
          <a:prstGeom prst="rect">
            <a:avLst/>
          </a:prstGeom>
        </p:spPr>
      </p:pic>
      <p:sp>
        <p:nvSpPr>
          <p:cNvPr id="17448" name="TextBox 17447"/>
          <p:cNvSpPr txBox="1"/>
          <p:nvPr/>
        </p:nvSpPr>
        <p:spPr>
          <a:xfrm>
            <a:off x="7141464" y="4956048"/>
            <a:ext cx="3200400" cy="237744"/>
          </a:xfrm>
          <a:prstGeom prst="rect">
            <a:avLst/>
          </a:prstGeom>
          <a:noFill/>
        </p:spPr>
        <p:txBody>
          <a:bodyPr wrap="square" lIns="0" rIns="0" tIns="0" bIns="0" anchor="t">
            <a:spAutoFit/>
          </a:bodyPr>
          <a:lstStyle/>
          <a:p>
            <a:pPr algn="l"/>
            <a:r>
              <a:rPr sz="1050" b="1" i="0">
                <a:solidFill>
                  <a:srgbClr val="11140F"/>
                </a:solidFill>
                <a:latin typeface="Calibri"/>
              </a:rPr>
              <a:t>SIH 2026 idea submission format</a:t>
            </a:r>
          </a:p>
        </p:txBody>
      </p:sp>
      <p:sp>
        <p:nvSpPr>
          <p:cNvPr id="17449" name="TextBox 17448"/>
          <p:cNvSpPr txBox="1"/>
          <p:nvPr/>
        </p:nvSpPr>
        <p:spPr>
          <a:xfrm>
            <a:off x="10305288" y="4974336"/>
            <a:ext cx="1234440" cy="201168"/>
          </a:xfrm>
          <a:prstGeom prst="rect">
            <a:avLst/>
          </a:prstGeom>
          <a:noFill/>
        </p:spPr>
        <p:txBody>
          <a:bodyPr wrap="square" lIns="0" rIns="0" tIns="0" bIns="0" anchor="t">
            <a:spAutoFit/>
          </a:bodyPr>
          <a:lstStyle/>
          <a:p>
            <a:pPr algn="r"/>
            <a:r>
              <a:rPr sz="800" b="1" i="0" spc="110">
                <a:solidFill>
                  <a:srgbClr val="657062"/>
                </a:solidFill>
                <a:latin typeface="Calibri"/>
              </a:rPr>
              <a:t>FORMAT</a:t>
            </a:r>
          </a:p>
        </p:txBody>
      </p:sp>
      <p:sp>
        <p:nvSpPr>
          <p:cNvPr id="17450" name="TextBox 17449"/>
          <p:cNvSpPr txBox="1"/>
          <p:nvPr/>
        </p:nvSpPr>
        <p:spPr>
          <a:xfrm>
            <a:off x="7141464" y="5285231"/>
            <a:ext cx="4389120" cy="237744"/>
          </a:xfrm>
          <a:prstGeom prst="rect">
            <a:avLst/>
          </a:prstGeom>
          <a:noFill/>
        </p:spPr>
        <p:txBody>
          <a:bodyPr wrap="square" lIns="0" rIns="0" tIns="0" bIns="0" anchor="t">
            <a:spAutoFit/>
          </a:bodyPr>
          <a:lstStyle/>
          <a:p>
            <a:pPr algn="l"/>
            <a:r>
              <a:rPr sz="850" b="0" i="0">
                <a:solidFill>
                  <a:srgbClr val="2F6B3A"/>
                </a:solidFill>
                <a:latin typeface="Calibri"/>
              </a:rPr>
              <a:t>sih.gov.in/letters/2026</a:t>
            </a:r>
          </a:p>
        </p:txBody>
      </p:sp>
      <p:sp>
        <p:nvSpPr>
          <p:cNvPr id="17451" name="TextBox 17450"/>
          <p:cNvSpPr txBox="1"/>
          <p:nvPr/>
        </p:nvSpPr>
        <p:spPr>
          <a:xfrm>
            <a:off x="502920" y="5943600"/>
            <a:ext cx="11247120" cy="237744"/>
          </a:xfrm>
          <a:prstGeom prst="rect">
            <a:avLst/>
          </a:prstGeom>
          <a:noFill/>
        </p:spPr>
        <p:txBody>
          <a:bodyPr wrap="square" lIns="0" rIns="0" tIns="0" bIns="0" anchor="t">
            <a:spAutoFit/>
          </a:bodyPr>
          <a:lstStyle/>
          <a:p>
            <a:pPr algn="l"/>
            <a:r>
              <a:rPr sz="800" b="0" i="1">
                <a:solidFill>
                  <a:srgbClr val="657062"/>
                </a:solidFill>
                <a:latin typeface="Calibri"/>
              </a:rPr>
              <a:t>What this does not prove: demand history and the fitted price series are synthetic and labelled so on screen. An unmentioned capability on a competitor's page is not evidence they lack it, and we claim no measured superiority without a comparable pilot.</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