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100" b="0">
                <a:solidFill>
                  <a:srgbClr val="657062"/>
                </a:solidFill>
                <a:latin typeface="Calibri"/>
              </a:rPr>
              <a:t>Farmer's share of what the buyer pays (%)</a:t>
            </a:r>
          </a:p>
        </c:rich>
      </c:tx>
      <c:layout/>
      <c:overlay val="0"/>
    </c:title>
    <c:autoTitleDeleted val="0"/>
    <c:plotArea>
      <c:barChart>
        <c:barDir val="bar"/>
        <c:grouping val="clustered"/>
        <c:varyColors/>
        <c:ser>
          <c:idx val="0"/>
          <c:order val="0"/>
          <c:tx>
            <c:strRef>
              <c:f>Sheet1!$B$1</c:f>
              <c:strCache>
                <c:ptCount val="1"/>
                <c:pt idx="0">
                  <c:v>Farmer's share of what the buyer pays (%)</c:v>
                </c:pt>
              </c:strCache>
            </c:strRef>
          </c:tx>
          <c:dPt>
            <c:idx val="0"/>
            <c:spPr>
              <a:solidFill>
                <a:srgbClr val="A8B7A2"/>
              </a:solidFill>
            </c:spPr>
          </c:dPt>
          <c:dPt>
            <c:idx val="1"/>
            <c:spPr>
              <a:solidFill>
                <a:srgbClr val="2F6B3A"/>
              </a:solidFill>
            </c:spPr>
          </c:dPt>
          <c:dPt>
            <c:idx val="2"/>
            <c:spPr>
              <a:solidFill>
                <a:srgbClr val="2F6B3A"/>
              </a:solidFill>
            </c:spPr>
          </c:dPt>
          <c:cat>
            <c:strRef>
              <c:f>Sheet1!$A$2:$A$4</c:f>
              <c:strCache>
                <c:ptCount val="3"/>
                <c:pt idx="0">
                  <c:v>Fragmented mandi chain
(widely cited estimate)</c:v>
                </c:pt>
                <c:pt idx="1">
                  <c:v>KrishiSetu, all 126
demo orders</c:v>
                </c:pt>
                <c:pt idx="2">
                  <c:v>KrishiSetu, worked
tomato example</c:v>
                </c:pt>
              </c:strCache>
            </c:strRef>
          </c:cat>
          <c:val>
            <c:numRef>
              <c:f>Sheet1!$B$2:$B$4</c:f>
              <c:numCache>
                <c:formatCode>General</c:formatCode>
                <c:ptCount val="3"/>
                <c:pt idx="0">
                  <c:v>30.0</c:v>
                </c:pt>
                <c:pt idx="1">
                  <c:v>64.2</c:v>
                </c:pt>
                <c:pt idx="2">
                  <c:v>74.0</c:v>
                </c:pt>
              </c:numCache>
            </c:numRef>
          </c:val>
        </c:ser>
        <c:dLbls>
          <c:numFmt formatCode="0.0&quot;%&quot;" sourceLinked="0"/>
          <c:txPr>
            <a:bodyPr/>
            <a:lstStyle/>
            <a:p>
              <a:pPr>
                <a:defRPr sz="1000">
                  <a:solidFill>
                    <a:srgbClr val="11140F"/>
                  </a:solidFill>
                  <a:latin typeface="Calibri"/>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txPr>
          <a:bodyPr/>
          <a:lstStyle/>
          <a:p>
            <a:pPr>
              <a:defRPr sz="900">
                <a:solidFill>
                  <a:srgbClr val="11140F"/>
                </a:solidFill>
                <a:latin typeface="Calibri"/>
              </a:defRPr>
            </a:pPr>
          </a:p>
        </c:txPr>
        <c:crossAx val="-2113994440"/>
        <c:crosses val="autoZero"/>
        <c:auto val="1"/>
        <c:lblAlgn val="ctr"/>
        <c:lblOffset val="100"/>
        <c:noMultiLvlLbl val="0"/>
      </c:catAx>
      <c:valAx>
        <c:axId val="-2113994440"/>
        <c:scaling>
          <c:max val="100.0"/>
        </c:scaling>
        <c:delete/>
        <c:axPos val="b"/>
        <c:majorTickMark val="out"/>
        <c:minorTickMark val="none"/>
        <c:tickLblPos val="nextTo"/>
        <c:crossAx val="-2068027336"/>
        <c:crosses val="autoZero"/>
      </c:valAx>
    </c:plotArea>
    <c:dispBlanksAs val="gap"/>
  </c:chart>
  <c:txPr>
    <a:bodyPr/>
    <a:lstStyle/>
    <a:p>
      <a:pPr>
        <a:defRPr sz="9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The bar is the whole argument. We do not start from a retail price and work down to whatever is left for the farmer; we start from the rate the farmer accepted and add the real shared costs on top. Sanjay Patil and Meena Bhoir are named because a pooled consignment must never hide whose produce it is: one buyer order can draw from two farms, and each farm's kilograms and rupees stay its own row. On the right, note that door delivery is tier B, not the default. A weekly household basket is about six kilograms, so a dedicated rider drop would eat a tenth of the order value. Collection at a neighbourhood point is the default, the last 300 metres is a priced extra that is free above a ₹500 basket, and ten-minute express is deliberately not offered because at this basket size it cannot pay for itself.</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D-COA stands for Decision and Coordination Optimisation Algorithm. Say the full form out loud: it is our working name for the decision layer in our own codebase, not a claim that we invented or published a new algorithm. Walk the chain left to right, then explain the chips: five of the eight considerations are hard feasibility conditions, so if any one fails the order cannot be on that run. Cost and priority only rank among options that are already feasible, and a cancellation or new order forces a replan before dispatch. The important part for a judge: when an order is left out, the engine says which of these eight rules rejected it, in plain English, on the operator's screen. Nothing is a black-box score.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Return loads, in plain words: today a transporter brings vegetables into the city and drives back with an empty vehicle. He is already charging us for that empty half, because he has to. A return load — also called a backhaul — is any cargo he can carry on the journey home: seed, fertiliser, crates, an FPO's supplies. Because we already know his corridor, his time window and his spare capacity, we can offer him compatible work on the way back, which lowers the cost per kilogram of the outbound vegetable trip without anyone subsidising it. Two honest caveats: empty space does not automatically mean a cheaper or suitable trip, and the driver must accept the work with the payment covering the actual detour. It is specified but not yet shipped, and the slide says so. On the fill threshold: 123 orders filled a 750 kg tempo to 100 percent and brought transport down to ₹5.37 per kilogram. Below 70 percent we hold the run rather than deliver at a loss.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Three claims, in order. First, the farmer keeps far more of the buyer's rupee: 64 percent across all 126 orders in the system, 74 percent on the worked tomato example, against the quarter-to-a-third widely reported for fragmented vegetable trade. That estimate is labelled as an estimate on the slide. Second, the buyer still pays less than the quick-commerce reference, so nobody is being asked to pay extra out of sympathy. Third, and this is the question every judge asks, where does our money come from. It comes from one disclosed line on the buyer's bill, ₹19.89 per order. After gateway and support costs we keep ₹14.29, so at an assumed ₹60,000 monthly fixed cost we break even at about 4,199 orders a month, roughly four clusters running twice a week. Be honest about the limit: a single-cluster pilot covers its fulfilment cost but not that fixed cost, and our own operator screen shows the shortfall. What we will not do is close it from the farmer's side.</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Keep this slide short. The first source is live in the product, not just cited: the daily mandi price feed from the Government of India open data portal refreshes on a cron and every price on our screens carries its source label and date. The four incumbents are the ones we studied for gaps, and our positioning page states, for each gap, both what we built and where it stops. The routing reference is a formulation we follow, not a library we claim to have beaten. Then read the closing caveat aloud — the synthetic demand history is the honest limit of this prototype, and saying it first is stronger than being asked.</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in one line: a small farmer cannot fill a tempo alone, so hiring one eats the margin, and that is why the farmer keeps only a modest share of what the buyer finally pays. KrishiSetu pools the produce of several farmers all sending to the same neighbourhood, moves it once, and drops it at one pickup point a hundred households already live around. Close by saying this is a working application, not a mockup: every number in this deck is read out of the running system, and anything that is an estimate is labelled as one on the slide.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329184" y="1060704"/>
            <a:ext cx="5669280" cy="822960"/>
          </a:xfrm>
        </p:spPr>
        <p:txBody>
          <a:bodyPr/>
          <a:lstStyle/>
          <a:p>
            <a:pPr algn="l"/>
            <a:r>
              <a:rPr sz="4000" b="1">
                <a:solidFill>
                  <a:srgbClr val="11140F"/>
                </a:solidFill>
                <a:latin typeface="Cambria"/>
              </a:rPr>
              <a:t>KrishiSetu</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sp>
        <p:nvSpPr>
          <p:cNvPr id="10" name="TextBox 9"/>
          <p:cNvSpPr txBox="1"/>
          <p:nvPr/>
        </p:nvSpPr>
        <p:spPr>
          <a:xfrm>
            <a:off x="331286" y="1975104"/>
            <a:ext cx="5924550" cy="4703019"/>
          </a:xfrm>
          <a:prstGeom prst="rect">
            <a:avLst/>
          </a:prstGeom>
          <a:noFill/>
        </p:spPr>
        <p:txBody>
          <a:bodyPr wrap="square" rtlCol="0">
            <a:spAutoFit/>
          </a:bodyPr>
          <a:lstStyle/>
          <a:p>
            <a:pPr>
              <a:spcAft>
                <a:spcPts val="700"/>
              </a:spcAft>
            </a:pPr>
            <a:r>
              <a:rPr sz="1300" b="0">
                <a:solidFill>
                  <a:srgbClr val="657062"/>
                </a:solidFill>
                <a:latin typeface="Calibri"/>
              </a:rPr>
              <a:t>Problem Statement ID – </a:t>
            </a:r>
            <a:r>
              <a:rPr sz="1300" b="1">
                <a:solidFill>
                  <a:srgbClr val="11140F"/>
                </a:solidFill>
                <a:latin typeface="Calibri"/>
              </a:rPr>
              <a:t>SIH26033</a:t>
            </a:r>
            <a:endParaRPr lang="en-US" dirty="0"/>
          </a:p>
          <a:p>
            <a:pPr>
              <a:spcAft>
                <a:spcPts val="700"/>
              </a:spcAft>
            </a:pPr>
            <a:r>
              <a:rPr sz="1300" b="0">
                <a:solidFill>
                  <a:srgbClr val="657062"/>
                </a:solidFill>
                <a:latin typeface="Calibri"/>
              </a:rPr>
              <a:t>Problem Statement Title – </a:t>
            </a:r>
            <a:r>
              <a:rPr sz="1300" b="1">
                <a:solidFill>
                  <a:srgbClr val="11140F"/>
                </a:solidFill>
                <a:latin typeface="Calibri"/>
              </a:rPr>
              <a:t>Farmer-first agricultural trading platform with pooled delivery</a:t>
            </a:r>
          </a:p>
          <a:p>
            <a:pPr>
              <a:spcAft>
                <a:spcPts val="700"/>
              </a:spcAft>
            </a:pPr>
            <a:r>
              <a:rPr sz="1300" b="0">
                <a:solidFill>
                  <a:srgbClr val="657062"/>
                </a:solidFill>
                <a:latin typeface="Calibri"/>
              </a:rPr>
              <a:t>Theme – </a:t>
            </a:r>
            <a:r>
              <a:rPr sz="1300" b="1">
                <a:solidFill>
                  <a:srgbClr val="11140F"/>
                </a:solidFill>
                <a:latin typeface="Calibri"/>
              </a:rPr>
              <a:t>Agriculture, FoodTech &amp; Rural Development</a:t>
            </a:r>
          </a:p>
          <a:p>
            <a:pPr>
              <a:spcAft>
                <a:spcPts val="700"/>
              </a:spcAft>
            </a:pPr>
            <a:r>
              <a:rPr sz="1300" b="0">
                <a:solidFill>
                  <a:srgbClr val="657062"/>
                </a:solidFill>
                <a:latin typeface="Calibri"/>
              </a:rPr>
              <a:t>PS Category – </a:t>
            </a:r>
            <a:r>
              <a:rPr sz="1300" b="1">
                <a:solidFill>
                  <a:srgbClr val="11140F"/>
                </a:solidFill>
                <a:latin typeface="Calibri"/>
              </a:rPr>
              <a:t>Software</a:t>
            </a:r>
          </a:p>
          <a:p>
            <a:pPr>
              <a:spcAft>
                <a:spcPts val="700"/>
              </a:spcAft>
            </a:pPr>
            <a:r>
              <a:rPr sz="1300" b="0">
                <a:solidFill>
                  <a:srgbClr val="657062"/>
                </a:solidFill>
                <a:latin typeface="Calibri"/>
              </a:rPr>
              <a:t>Team ID – </a:t>
            </a:r>
            <a:r>
              <a:rPr sz="1300" b="1">
                <a:solidFill>
                  <a:srgbClr val="11140F"/>
                </a:solidFill>
                <a:latin typeface="Calibri"/>
              </a:rPr>
              <a:t>SIH26-SW059</a:t>
            </a:r>
          </a:p>
          <a:p>
            <a:pPr>
              <a:spcAft>
                <a:spcPts val="700"/>
              </a:spcAft>
            </a:pPr>
            <a:r>
              <a:rPr sz="1300" b="0">
                <a:solidFill>
                  <a:srgbClr val="657062"/>
                </a:solidFill>
                <a:latin typeface="Calibri"/>
              </a:rPr>
              <a:t>Team Name – </a:t>
            </a:r>
            <a:r>
              <a:rPr sz="1300" b="1">
                <a:solidFill>
                  <a:srgbClr val="11140F"/>
                </a:solidFill>
                <a:latin typeface="Calibri"/>
              </a:rPr>
              <a:t>Logic_Lords — Ramrao Adik Institute of Technology</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TextBox 37"/>
          <p:cNvSpPr txBox="1"/>
          <p:nvPr/>
        </p:nvSpPr>
        <p:spPr>
          <a:xfrm>
            <a:off x="329184" y="4828032"/>
            <a:ext cx="5669280" cy="731520"/>
          </a:xfrm>
          <a:prstGeom prst="rect">
            <a:avLst/>
          </a:prstGeom>
          <a:noFill/>
        </p:spPr>
        <p:txBody>
          <a:bodyPr wrap="square" lIns="0" rIns="0" tIns="0" bIns="0" anchor="t">
            <a:spAutoFit/>
          </a:bodyPr>
          <a:lstStyle/>
          <a:p>
            <a:pPr algn="l">
              <a:lnSpc>
                <a:spcPts val="1700"/>
              </a:lnSpc>
            </a:pPr>
            <a:r>
              <a:rPr sz="1300" b="0" i="0">
                <a:solidFill>
                  <a:srgbClr val="2F6B3A"/>
                </a:solidFill>
                <a:latin typeface="Cambria"/>
              </a:rPr>
              <a:t>The farmer names their price. Everything after that is shared transport and a bill you can read.</a:t>
            </a:r>
          </a:p>
        </p:txBody>
      </p:sp>
      <p:sp>
        <p:nvSpPr>
          <p:cNvPr id="39" name="TextBox 38"/>
          <p:cNvSpPr txBox="1"/>
          <p:nvPr/>
        </p:nvSpPr>
        <p:spPr>
          <a:xfrm>
            <a:off x="329184" y="5632704"/>
            <a:ext cx="5669280" cy="274320"/>
          </a:xfrm>
          <a:prstGeom prst="rect">
            <a:avLst/>
          </a:prstGeom>
          <a:noFill/>
        </p:spPr>
        <p:txBody>
          <a:bodyPr wrap="square" lIns="0" rIns="0" tIns="0" bIns="0" anchor="t">
            <a:spAutoFit/>
          </a:bodyPr>
          <a:lstStyle/>
          <a:p>
            <a:pPr algn="l"/>
            <a:r>
              <a:rPr sz="1100" b="0" i="0">
                <a:solidFill>
                  <a:srgbClr val="657062"/>
                </a:solidFill>
                <a:latin typeface="Calibri"/>
              </a:rPr>
              <a:t>Working prototype live at krishisetu-weld.vercel.app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PROPOSED SOLUTION</a:t>
            </a:r>
            <a:br>
              <a:rPr lang="en-US" sz="3600" b="1" dirty="0">
                <a:latin typeface="Times New Roman" panose="02020603050405020304" pitchFamily="18" charset="0"/>
                <a:ea typeface="ＭＳ Ｐゴシック" pitchFamily="1" charset="-128"/>
                <a:cs typeface="Times New Roman" panose="02020603050405020304" pitchFamily="18" charset="0"/>
              </a:rPr>
            </a:b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502920" y="1097280"/>
            <a:ext cx="11247120" cy="365760"/>
          </a:xfrm>
          <a:prstGeom prst="rect">
            <a:avLst/>
          </a:prstGeom>
          <a:noFill/>
        </p:spPr>
        <p:txBody>
          <a:bodyPr wrap="square" lIns="0" rIns="0" tIns="0" bIns="0" anchor="t">
            <a:spAutoFit/>
          </a:bodyPr>
          <a:lstStyle/>
          <a:p>
            <a:pPr algn="l"/>
            <a:r>
              <a:rPr sz="1700" b="1" i="0">
                <a:solidFill>
                  <a:srgbClr val="11140F"/>
                </a:solidFill>
                <a:latin typeface="Cambria"/>
              </a:rPr>
              <a:t>The farmer's rate is an input to the price, never the leftover</a:t>
            </a:r>
          </a:p>
        </p:txBody>
      </p:sp>
      <p:sp>
        <p:nvSpPr>
          <p:cNvPr id="15363" name="TextBox 15362"/>
          <p:cNvSpPr txBox="1"/>
          <p:nvPr/>
        </p:nvSpPr>
        <p:spPr>
          <a:xfrm>
            <a:off x="502920" y="1591056"/>
            <a:ext cx="5486400" cy="201168"/>
          </a:xfrm>
          <a:prstGeom prst="rect">
            <a:avLst/>
          </a:prstGeom>
          <a:noFill/>
        </p:spPr>
        <p:txBody>
          <a:bodyPr wrap="square" lIns="0" rIns="0" tIns="0" bIns="0" anchor="t">
            <a:spAutoFit/>
          </a:bodyPr>
          <a:lstStyle/>
          <a:p>
            <a:pPr algn="l"/>
            <a:r>
              <a:rPr sz="900" b="1" i="0" spc="140">
                <a:solidFill>
                  <a:srgbClr val="657062"/>
                </a:solidFill>
                <a:latin typeface="Calibri"/>
              </a:rPr>
              <a:t>ONE KILOGRAM OF TOMATO, BUILT UPWARD</a:t>
            </a:r>
          </a:p>
        </p:txBody>
      </p:sp>
      <p:sp>
        <p:nvSpPr>
          <p:cNvPr id="15364" name="Rectangle 15363"/>
          <p:cNvSpPr/>
          <p:nvPr/>
        </p:nvSpPr>
        <p:spPr>
          <a:xfrm>
            <a:off x="502920" y="1847088"/>
            <a:ext cx="4153450" cy="329184"/>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5" name="Rectangle 15364"/>
          <p:cNvSpPr/>
          <p:nvPr/>
        </p:nvSpPr>
        <p:spPr>
          <a:xfrm>
            <a:off x="4656370" y="1847088"/>
            <a:ext cx="574153" cy="329184"/>
          </a:xfrm>
          <a:prstGeom prst="rect">
            <a:avLst/>
          </a:prstGeom>
          <a:solidFill>
            <a:srgbClr val="6B8C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6" name="Rectangle 15365"/>
          <p:cNvSpPr/>
          <p:nvPr/>
        </p:nvSpPr>
        <p:spPr>
          <a:xfrm>
            <a:off x="5230524" y="1847088"/>
            <a:ext cx="483754" cy="329184"/>
          </a:xfrm>
          <a:prstGeom prst="rect">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7" name="Rectangle 15366"/>
          <p:cNvSpPr/>
          <p:nvPr/>
        </p:nvSpPr>
        <p:spPr>
          <a:xfrm>
            <a:off x="5714279" y="1847088"/>
            <a:ext cx="366480" cy="329184"/>
          </a:xfrm>
          <a:prstGeom prst="rect">
            <a:avLst/>
          </a:prstGeom>
          <a:solidFill>
            <a:srgbClr val="8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8" name="Oval 15367"/>
          <p:cNvSpPr/>
          <p:nvPr/>
        </p:nvSpPr>
        <p:spPr>
          <a:xfrm>
            <a:off x="502920" y="2359152"/>
            <a:ext cx="100584" cy="100584"/>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9" name="TextBox 15368"/>
          <p:cNvSpPr txBox="1"/>
          <p:nvPr/>
        </p:nvSpPr>
        <p:spPr>
          <a:xfrm>
            <a:off x="676656" y="2304288"/>
            <a:ext cx="1645920" cy="237744"/>
          </a:xfrm>
          <a:prstGeom prst="rect">
            <a:avLst/>
          </a:prstGeom>
          <a:noFill/>
        </p:spPr>
        <p:txBody>
          <a:bodyPr wrap="square" lIns="0" rIns="0" tIns="0" bIns="0" anchor="t">
            <a:spAutoFit/>
          </a:bodyPr>
          <a:lstStyle/>
          <a:p>
            <a:pPr algn="l"/>
            <a:r>
              <a:rPr sz="1050" b="0" i="0">
                <a:solidFill>
                  <a:srgbClr val="11140F"/>
                </a:solidFill>
                <a:latin typeface="Calibri"/>
              </a:rPr>
              <a:t>Farmer</a:t>
            </a:r>
          </a:p>
        </p:txBody>
      </p:sp>
      <p:sp>
        <p:nvSpPr>
          <p:cNvPr id="15370" name="TextBox 15369"/>
          <p:cNvSpPr txBox="1"/>
          <p:nvPr/>
        </p:nvSpPr>
        <p:spPr>
          <a:xfrm>
            <a:off x="2240280" y="2304288"/>
            <a:ext cx="822960" cy="237744"/>
          </a:xfrm>
          <a:prstGeom prst="rect">
            <a:avLst/>
          </a:prstGeom>
          <a:noFill/>
        </p:spPr>
        <p:txBody>
          <a:bodyPr wrap="square" lIns="0" rIns="0" tIns="0" bIns="0" anchor="t">
            <a:spAutoFit/>
          </a:bodyPr>
          <a:lstStyle/>
          <a:p>
            <a:pPr algn="r"/>
            <a:r>
              <a:rPr sz="1050" b="1" i="0">
                <a:solidFill>
                  <a:srgbClr val="2F6B3A"/>
                </a:solidFill>
                <a:latin typeface="Calibri"/>
              </a:rPr>
              <a:t>₹34.00</a:t>
            </a:r>
          </a:p>
        </p:txBody>
      </p:sp>
      <p:sp>
        <p:nvSpPr>
          <p:cNvPr id="15371" name="Oval 15370"/>
          <p:cNvSpPr/>
          <p:nvPr/>
        </p:nvSpPr>
        <p:spPr>
          <a:xfrm>
            <a:off x="3337560" y="2359152"/>
            <a:ext cx="100584" cy="100584"/>
          </a:xfrm>
          <a:prstGeom prst="ellipse">
            <a:avLst/>
          </a:prstGeom>
          <a:solidFill>
            <a:srgbClr val="6B8C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2" name="TextBox 15371"/>
          <p:cNvSpPr txBox="1"/>
          <p:nvPr/>
        </p:nvSpPr>
        <p:spPr>
          <a:xfrm>
            <a:off x="3511296" y="2304288"/>
            <a:ext cx="1645920" cy="237744"/>
          </a:xfrm>
          <a:prstGeom prst="rect">
            <a:avLst/>
          </a:prstGeom>
          <a:noFill/>
        </p:spPr>
        <p:txBody>
          <a:bodyPr wrap="square" lIns="0" rIns="0" tIns="0" bIns="0" anchor="t">
            <a:spAutoFit/>
          </a:bodyPr>
          <a:lstStyle/>
          <a:p>
            <a:pPr algn="l"/>
            <a:r>
              <a:rPr sz="1050" b="0" i="0">
                <a:solidFill>
                  <a:srgbClr val="11140F"/>
                </a:solidFill>
                <a:latin typeface="Calibri"/>
              </a:rPr>
              <a:t>Transport</a:t>
            </a:r>
          </a:p>
        </p:txBody>
      </p:sp>
      <p:sp>
        <p:nvSpPr>
          <p:cNvPr id="15373" name="TextBox 15372"/>
          <p:cNvSpPr txBox="1"/>
          <p:nvPr/>
        </p:nvSpPr>
        <p:spPr>
          <a:xfrm>
            <a:off x="5074920" y="2304288"/>
            <a:ext cx="822960" cy="237744"/>
          </a:xfrm>
          <a:prstGeom prst="rect">
            <a:avLst/>
          </a:prstGeom>
          <a:noFill/>
        </p:spPr>
        <p:txBody>
          <a:bodyPr wrap="square" lIns="0" rIns="0" tIns="0" bIns="0" anchor="t">
            <a:spAutoFit/>
          </a:bodyPr>
          <a:lstStyle/>
          <a:p>
            <a:pPr algn="r"/>
            <a:r>
              <a:rPr sz="1050" b="1" i="0">
                <a:solidFill>
                  <a:srgbClr val="6B8CAE"/>
                </a:solidFill>
                <a:latin typeface="Calibri"/>
              </a:rPr>
              <a:t>₹4.70</a:t>
            </a:r>
          </a:p>
        </p:txBody>
      </p:sp>
      <p:sp>
        <p:nvSpPr>
          <p:cNvPr id="15374" name="Oval 15373"/>
          <p:cNvSpPr/>
          <p:nvPr/>
        </p:nvSpPr>
        <p:spPr>
          <a:xfrm>
            <a:off x="502920" y="2688336"/>
            <a:ext cx="100584" cy="100584"/>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5" name="TextBox 15374"/>
          <p:cNvSpPr txBox="1"/>
          <p:nvPr/>
        </p:nvSpPr>
        <p:spPr>
          <a:xfrm>
            <a:off x="676656" y="2633472"/>
            <a:ext cx="1645920" cy="237744"/>
          </a:xfrm>
          <a:prstGeom prst="rect">
            <a:avLst/>
          </a:prstGeom>
          <a:noFill/>
        </p:spPr>
        <p:txBody>
          <a:bodyPr wrap="square" lIns="0" rIns="0" tIns="0" bIns="0" anchor="t">
            <a:spAutoFit/>
          </a:bodyPr>
          <a:lstStyle/>
          <a:p>
            <a:pPr algn="l"/>
            <a:r>
              <a:rPr sz="1050" b="0" i="0">
                <a:solidFill>
                  <a:srgbClr val="11140F"/>
                </a:solidFill>
                <a:latin typeface="Calibri"/>
              </a:rPr>
              <a:t>Packing, handling</a:t>
            </a:r>
          </a:p>
        </p:txBody>
      </p:sp>
      <p:sp>
        <p:nvSpPr>
          <p:cNvPr id="15376" name="TextBox 15375"/>
          <p:cNvSpPr txBox="1"/>
          <p:nvPr/>
        </p:nvSpPr>
        <p:spPr>
          <a:xfrm>
            <a:off x="2240280" y="2633472"/>
            <a:ext cx="822960" cy="237744"/>
          </a:xfrm>
          <a:prstGeom prst="rect">
            <a:avLst/>
          </a:prstGeom>
          <a:noFill/>
        </p:spPr>
        <p:txBody>
          <a:bodyPr wrap="square" lIns="0" rIns="0" tIns="0" bIns="0" anchor="t">
            <a:spAutoFit/>
          </a:bodyPr>
          <a:lstStyle/>
          <a:p>
            <a:pPr algn="r"/>
            <a:r>
              <a:rPr sz="1050" b="1" i="0">
                <a:solidFill>
                  <a:srgbClr val="B7791F"/>
                </a:solidFill>
                <a:latin typeface="Calibri"/>
              </a:rPr>
              <a:t>₹3.96</a:t>
            </a:r>
          </a:p>
        </p:txBody>
      </p:sp>
      <p:sp>
        <p:nvSpPr>
          <p:cNvPr id="15377" name="Oval 15376"/>
          <p:cNvSpPr/>
          <p:nvPr/>
        </p:nvSpPr>
        <p:spPr>
          <a:xfrm>
            <a:off x="3337560" y="2688336"/>
            <a:ext cx="100584" cy="100584"/>
          </a:xfrm>
          <a:prstGeom prst="ellipse">
            <a:avLst/>
          </a:prstGeom>
          <a:solidFill>
            <a:srgbClr val="8A7F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8" name="TextBox 15377"/>
          <p:cNvSpPr txBox="1"/>
          <p:nvPr/>
        </p:nvSpPr>
        <p:spPr>
          <a:xfrm>
            <a:off x="3511296" y="2633472"/>
            <a:ext cx="1645920" cy="237744"/>
          </a:xfrm>
          <a:prstGeom prst="rect">
            <a:avLst/>
          </a:prstGeom>
          <a:noFill/>
        </p:spPr>
        <p:txBody>
          <a:bodyPr wrap="square" lIns="0" rIns="0" tIns="0" bIns="0" anchor="t">
            <a:spAutoFit/>
          </a:bodyPr>
          <a:lstStyle/>
          <a:p>
            <a:pPr algn="l"/>
            <a:r>
              <a:rPr sz="1050" b="0" i="0">
                <a:solidFill>
                  <a:srgbClr val="11140F"/>
                </a:solidFill>
                <a:latin typeface="Calibri"/>
              </a:rPr>
              <a:t>Site fee</a:t>
            </a:r>
          </a:p>
        </p:txBody>
      </p:sp>
      <p:sp>
        <p:nvSpPr>
          <p:cNvPr id="15379" name="TextBox 15378"/>
          <p:cNvSpPr txBox="1"/>
          <p:nvPr/>
        </p:nvSpPr>
        <p:spPr>
          <a:xfrm>
            <a:off x="5074920" y="2633472"/>
            <a:ext cx="822960" cy="237744"/>
          </a:xfrm>
          <a:prstGeom prst="rect">
            <a:avLst/>
          </a:prstGeom>
          <a:noFill/>
        </p:spPr>
        <p:txBody>
          <a:bodyPr wrap="square" lIns="0" rIns="0" tIns="0" bIns="0" anchor="t">
            <a:spAutoFit/>
          </a:bodyPr>
          <a:lstStyle/>
          <a:p>
            <a:pPr algn="r"/>
            <a:r>
              <a:rPr sz="1050" b="1" i="0">
                <a:solidFill>
                  <a:srgbClr val="8A7FAE"/>
                </a:solidFill>
                <a:latin typeface="Calibri"/>
              </a:rPr>
              <a:t>₹3.00</a:t>
            </a:r>
          </a:p>
        </p:txBody>
      </p:sp>
      <p:sp>
        <p:nvSpPr>
          <p:cNvPr id="15380" name="TextBox 15379"/>
          <p:cNvSpPr txBox="1"/>
          <p:nvPr/>
        </p:nvSpPr>
        <p:spPr>
          <a:xfrm>
            <a:off x="502920" y="3054096"/>
            <a:ext cx="5577840" cy="411480"/>
          </a:xfrm>
          <a:prstGeom prst="rect">
            <a:avLst/>
          </a:prstGeom>
          <a:noFill/>
        </p:spPr>
        <p:txBody>
          <a:bodyPr wrap="square" lIns="0" rIns="0" tIns="0" bIns="0">
            <a:spAutoFit/>
          </a:bodyPr>
          <a:lstStyle/>
          <a:p>
            <a:pPr algn="l"/>
            <a:r>
              <a:rPr sz="2600" b="1" i="0">
                <a:solidFill>
                  <a:srgbClr val="11140F"/>
                </a:solidFill>
                <a:latin typeface="Cambria"/>
              </a:rPr>
              <a:t>₹45.66</a:t>
            </a:r>
            <a:r>
              <a:rPr sz="1100" b="0" i="0">
                <a:solidFill>
                  <a:srgbClr val="657062"/>
                </a:solidFill>
                <a:latin typeface="Calibri"/>
              </a:rPr>
              <a:t>  buyer pays   </a:t>
            </a:r>
            <a:r>
              <a:rPr sz="1100" b="0" i="0">
                <a:solidFill>
                  <a:srgbClr val="B7791F"/>
                </a:solidFill>
                <a:latin typeface="Calibri"/>
              </a:rPr>
              <a:t>vs ₹55.00 quick-commerce reference</a:t>
            </a:r>
          </a:p>
        </p:txBody>
      </p:sp>
      <p:sp>
        <p:nvSpPr>
          <p:cNvPr id="15381" name="TextBox 15380"/>
          <p:cNvSpPr txBox="1"/>
          <p:nvPr/>
        </p:nvSpPr>
        <p:spPr>
          <a:xfrm>
            <a:off x="502920" y="3584448"/>
            <a:ext cx="5486400" cy="201168"/>
          </a:xfrm>
          <a:prstGeom prst="rect">
            <a:avLst/>
          </a:prstGeom>
          <a:noFill/>
        </p:spPr>
        <p:txBody>
          <a:bodyPr wrap="square" lIns="0" rIns="0" tIns="0" bIns="0" anchor="t">
            <a:spAutoFit/>
          </a:bodyPr>
          <a:lstStyle/>
          <a:p>
            <a:pPr algn="l"/>
            <a:r>
              <a:rPr sz="900" b="1" i="0" spc="140">
                <a:solidFill>
                  <a:srgbClr val="657062"/>
                </a:solidFill>
                <a:latin typeface="Calibri"/>
              </a:rPr>
              <a:t>ONE 5 KG BUYER ORDER, FILLED FROM TWO NAMED FARMS</a:t>
            </a:r>
          </a:p>
        </p:txBody>
      </p:sp>
      <p:sp>
        <p:nvSpPr>
          <p:cNvPr id="15382" name="Rounded Rectangle 15381"/>
          <p:cNvSpPr/>
          <p:nvPr/>
        </p:nvSpPr>
        <p:spPr>
          <a:xfrm>
            <a:off x="502920" y="3858768"/>
            <a:ext cx="5577840" cy="640080"/>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3" name="Oval 15382"/>
          <p:cNvSpPr/>
          <p:nvPr/>
        </p:nvSpPr>
        <p:spPr>
          <a:xfrm>
            <a:off x="658368" y="4032504"/>
            <a:ext cx="292608" cy="292608"/>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S</a:t>
            </a:r>
          </a:p>
        </p:txBody>
      </p:sp>
      <p:sp>
        <p:nvSpPr>
          <p:cNvPr id="15384" name="TextBox 15383"/>
          <p:cNvSpPr txBox="1"/>
          <p:nvPr/>
        </p:nvSpPr>
        <p:spPr>
          <a:xfrm>
            <a:off x="1060704" y="3950207"/>
            <a:ext cx="2377440" cy="237744"/>
          </a:xfrm>
          <a:prstGeom prst="rect">
            <a:avLst/>
          </a:prstGeom>
          <a:noFill/>
        </p:spPr>
        <p:txBody>
          <a:bodyPr wrap="square" lIns="0" rIns="0" tIns="0" bIns="0" anchor="t">
            <a:spAutoFit/>
          </a:bodyPr>
          <a:lstStyle/>
          <a:p>
            <a:pPr algn="l"/>
            <a:r>
              <a:rPr sz="1200" b="1" i="0">
                <a:solidFill>
                  <a:srgbClr val="11140F"/>
                </a:solidFill>
                <a:latin typeface="Calibri"/>
              </a:rPr>
              <a:t>Sanjay Patil</a:t>
            </a:r>
          </a:p>
        </p:txBody>
      </p:sp>
      <p:sp>
        <p:nvSpPr>
          <p:cNvPr id="15385" name="TextBox 15384"/>
          <p:cNvSpPr txBox="1"/>
          <p:nvPr/>
        </p:nvSpPr>
        <p:spPr>
          <a:xfrm>
            <a:off x="1060704" y="4197096"/>
            <a:ext cx="2377440" cy="219456"/>
          </a:xfrm>
          <a:prstGeom prst="rect">
            <a:avLst/>
          </a:prstGeom>
          <a:noFill/>
        </p:spPr>
        <p:txBody>
          <a:bodyPr wrap="square" lIns="0" rIns="0" tIns="0" bIns="0" anchor="t">
            <a:spAutoFit/>
          </a:bodyPr>
          <a:lstStyle/>
          <a:p>
            <a:pPr algn="l"/>
            <a:r>
              <a:rPr sz="950" b="0" i="0">
                <a:solidFill>
                  <a:srgbClr val="657062"/>
                </a:solidFill>
                <a:latin typeface="Calibri"/>
              </a:rPr>
              <a:t>Khalapur, Raigad</a:t>
            </a:r>
          </a:p>
        </p:txBody>
      </p:sp>
      <p:sp>
        <p:nvSpPr>
          <p:cNvPr id="15386" name="TextBox 15385"/>
          <p:cNvSpPr txBox="1"/>
          <p:nvPr/>
        </p:nvSpPr>
        <p:spPr>
          <a:xfrm>
            <a:off x="3566160" y="4059935"/>
            <a:ext cx="822960" cy="256032"/>
          </a:xfrm>
          <a:prstGeom prst="rect">
            <a:avLst/>
          </a:prstGeom>
          <a:noFill/>
        </p:spPr>
        <p:txBody>
          <a:bodyPr wrap="square" lIns="0" rIns="0" tIns="0" bIns="0" anchor="t">
            <a:spAutoFit/>
          </a:bodyPr>
          <a:lstStyle/>
          <a:p>
            <a:pPr algn="r"/>
            <a:r>
              <a:rPr sz="1150" b="0" i="0">
                <a:solidFill>
                  <a:srgbClr val="11140F"/>
                </a:solidFill>
                <a:latin typeface="Calibri"/>
              </a:rPr>
              <a:t>3.0 kg</a:t>
            </a:r>
          </a:p>
        </p:txBody>
      </p:sp>
      <p:sp>
        <p:nvSpPr>
          <p:cNvPr id="15387" name="TextBox 15386"/>
          <p:cNvSpPr txBox="1"/>
          <p:nvPr/>
        </p:nvSpPr>
        <p:spPr>
          <a:xfrm>
            <a:off x="4526280" y="4041648"/>
            <a:ext cx="1371600" cy="274320"/>
          </a:xfrm>
          <a:prstGeom prst="rect">
            <a:avLst/>
          </a:prstGeom>
          <a:noFill/>
        </p:spPr>
        <p:txBody>
          <a:bodyPr wrap="square" lIns="0" rIns="0" tIns="0" bIns="0" anchor="t">
            <a:spAutoFit/>
          </a:bodyPr>
          <a:lstStyle/>
          <a:p>
            <a:pPr algn="r"/>
            <a:r>
              <a:rPr sz="1300" b="1" i="0">
                <a:solidFill>
                  <a:srgbClr val="2F6B3A"/>
                </a:solidFill>
                <a:latin typeface="Calibri"/>
              </a:rPr>
              <a:t>₹102.00</a:t>
            </a:r>
          </a:p>
        </p:txBody>
      </p:sp>
      <p:sp>
        <p:nvSpPr>
          <p:cNvPr id="15388" name="Rounded Rectangle 15387"/>
          <p:cNvSpPr/>
          <p:nvPr/>
        </p:nvSpPr>
        <p:spPr>
          <a:xfrm>
            <a:off x="502920" y="4608576"/>
            <a:ext cx="5577840" cy="640080"/>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89" name="Oval 15388"/>
          <p:cNvSpPr/>
          <p:nvPr/>
        </p:nvSpPr>
        <p:spPr>
          <a:xfrm>
            <a:off x="658368" y="4782312"/>
            <a:ext cx="292608" cy="292608"/>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M</a:t>
            </a:r>
          </a:p>
        </p:txBody>
      </p:sp>
      <p:sp>
        <p:nvSpPr>
          <p:cNvPr id="15390" name="TextBox 15389"/>
          <p:cNvSpPr txBox="1"/>
          <p:nvPr/>
        </p:nvSpPr>
        <p:spPr>
          <a:xfrm>
            <a:off x="1060704" y="4700016"/>
            <a:ext cx="2377440" cy="237744"/>
          </a:xfrm>
          <a:prstGeom prst="rect">
            <a:avLst/>
          </a:prstGeom>
          <a:noFill/>
        </p:spPr>
        <p:txBody>
          <a:bodyPr wrap="square" lIns="0" rIns="0" tIns="0" bIns="0" anchor="t">
            <a:spAutoFit/>
          </a:bodyPr>
          <a:lstStyle/>
          <a:p>
            <a:pPr algn="l"/>
            <a:r>
              <a:rPr sz="1200" b="1" i="0">
                <a:solidFill>
                  <a:srgbClr val="11140F"/>
                </a:solidFill>
                <a:latin typeface="Calibri"/>
              </a:rPr>
              <a:t>Meena Bhoir</a:t>
            </a:r>
          </a:p>
        </p:txBody>
      </p:sp>
      <p:sp>
        <p:nvSpPr>
          <p:cNvPr id="15391" name="TextBox 15390"/>
          <p:cNvSpPr txBox="1"/>
          <p:nvPr/>
        </p:nvSpPr>
        <p:spPr>
          <a:xfrm>
            <a:off x="1060704" y="4946904"/>
            <a:ext cx="2377440" cy="219456"/>
          </a:xfrm>
          <a:prstGeom prst="rect">
            <a:avLst/>
          </a:prstGeom>
          <a:noFill/>
        </p:spPr>
        <p:txBody>
          <a:bodyPr wrap="square" lIns="0" rIns="0" tIns="0" bIns="0" anchor="t">
            <a:spAutoFit/>
          </a:bodyPr>
          <a:lstStyle/>
          <a:p>
            <a:pPr algn="l"/>
            <a:r>
              <a:rPr sz="950" b="0" i="0">
                <a:solidFill>
                  <a:srgbClr val="657062"/>
                </a:solidFill>
                <a:latin typeface="Calibri"/>
              </a:rPr>
              <a:t>Panvel Rural, Raigad</a:t>
            </a:r>
          </a:p>
        </p:txBody>
      </p:sp>
      <p:sp>
        <p:nvSpPr>
          <p:cNvPr id="15392" name="TextBox 15391"/>
          <p:cNvSpPr txBox="1"/>
          <p:nvPr/>
        </p:nvSpPr>
        <p:spPr>
          <a:xfrm>
            <a:off x="3566160" y="4809744"/>
            <a:ext cx="822960" cy="256032"/>
          </a:xfrm>
          <a:prstGeom prst="rect">
            <a:avLst/>
          </a:prstGeom>
          <a:noFill/>
        </p:spPr>
        <p:txBody>
          <a:bodyPr wrap="square" lIns="0" rIns="0" tIns="0" bIns="0" anchor="t">
            <a:spAutoFit/>
          </a:bodyPr>
          <a:lstStyle/>
          <a:p>
            <a:pPr algn="r"/>
            <a:r>
              <a:rPr sz="1150" b="0" i="0">
                <a:solidFill>
                  <a:srgbClr val="11140F"/>
                </a:solidFill>
                <a:latin typeface="Calibri"/>
              </a:rPr>
              <a:t>2.0 kg</a:t>
            </a:r>
          </a:p>
        </p:txBody>
      </p:sp>
      <p:sp>
        <p:nvSpPr>
          <p:cNvPr id="15393" name="TextBox 15392"/>
          <p:cNvSpPr txBox="1"/>
          <p:nvPr/>
        </p:nvSpPr>
        <p:spPr>
          <a:xfrm>
            <a:off x="4526280" y="4791456"/>
            <a:ext cx="1371600" cy="274320"/>
          </a:xfrm>
          <a:prstGeom prst="rect">
            <a:avLst/>
          </a:prstGeom>
          <a:noFill/>
        </p:spPr>
        <p:txBody>
          <a:bodyPr wrap="square" lIns="0" rIns="0" tIns="0" bIns="0" anchor="t">
            <a:spAutoFit/>
          </a:bodyPr>
          <a:lstStyle/>
          <a:p>
            <a:pPr algn="r"/>
            <a:r>
              <a:rPr sz="1300" b="1" i="0">
                <a:solidFill>
                  <a:srgbClr val="2F6B3A"/>
                </a:solidFill>
                <a:latin typeface="Calibri"/>
              </a:rPr>
              <a:t>₹68.00</a:t>
            </a:r>
          </a:p>
        </p:txBody>
      </p:sp>
      <p:sp>
        <p:nvSpPr>
          <p:cNvPr id="15394" name="Rounded Rectangle 15393"/>
          <p:cNvSpPr/>
          <p:nvPr/>
        </p:nvSpPr>
        <p:spPr>
          <a:xfrm>
            <a:off x="6446520" y="1536192"/>
            <a:ext cx="5257800" cy="2103120"/>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95" name="TextBox 15394"/>
          <p:cNvSpPr txBox="1"/>
          <p:nvPr/>
        </p:nvSpPr>
        <p:spPr>
          <a:xfrm>
            <a:off x="6684264" y="1700784"/>
            <a:ext cx="4800600" cy="201168"/>
          </a:xfrm>
          <a:prstGeom prst="rect">
            <a:avLst/>
          </a:prstGeom>
          <a:noFill/>
        </p:spPr>
        <p:txBody>
          <a:bodyPr wrap="square" lIns="0" rIns="0" tIns="0" bIns="0" anchor="t">
            <a:spAutoFit/>
          </a:bodyPr>
          <a:lstStyle/>
          <a:p>
            <a:pPr algn="l"/>
            <a:r>
              <a:rPr sz="900" b="1" i="0" spc="140">
                <a:solidFill>
                  <a:srgbClr val="657062"/>
                </a:solidFill>
                <a:latin typeface="Calibri"/>
              </a:rPr>
              <a:t>WHAT IS ACTUALLY DIFFERENT</a:t>
            </a:r>
          </a:p>
        </p:txBody>
      </p:sp>
      <p:sp>
        <p:nvSpPr>
          <p:cNvPr id="15396" name="Oval 15395"/>
          <p:cNvSpPr/>
          <p:nvPr/>
        </p:nvSpPr>
        <p:spPr>
          <a:xfrm>
            <a:off x="6684264" y="1993392"/>
            <a:ext cx="219456" cy="219456"/>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1</a:t>
            </a:r>
          </a:p>
        </p:txBody>
      </p:sp>
      <p:sp>
        <p:nvSpPr>
          <p:cNvPr id="15397" name="TextBox 15396"/>
          <p:cNvSpPr txBox="1"/>
          <p:nvPr/>
        </p:nvSpPr>
        <p:spPr>
          <a:xfrm>
            <a:off x="6995159" y="1975104"/>
            <a:ext cx="4434840" cy="219456"/>
          </a:xfrm>
          <a:prstGeom prst="rect">
            <a:avLst/>
          </a:prstGeom>
          <a:noFill/>
        </p:spPr>
        <p:txBody>
          <a:bodyPr wrap="square" lIns="0" rIns="0" tIns="0" bIns="0" anchor="t">
            <a:spAutoFit/>
          </a:bodyPr>
          <a:lstStyle/>
          <a:p>
            <a:pPr algn="l"/>
            <a:r>
              <a:rPr sz="1150" b="1" i="0">
                <a:solidFill>
                  <a:srgbClr val="11140F"/>
                </a:solidFill>
                <a:latin typeface="Calibri"/>
              </a:rPr>
              <a:t>Farmer sets the net rate</a:t>
            </a:r>
          </a:p>
        </p:txBody>
      </p:sp>
      <p:sp>
        <p:nvSpPr>
          <p:cNvPr id="15398" name="TextBox 15397"/>
          <p:cNvSpPr txBox="1"/>
          <p:nvPr/>
        </p:nvSpPr>
        <p:spPr>
          <a:xfrm>
            <a:off x="6995159" y="2194560"/>
            <a:ext cx="4434840" cy="292608"/>
          </a:xfrm>
          <a:prstGeom prst="rect">
            <a:avLst/>
          </a:prstGeom>
          <a:noFill/>
        </p:spPr>
        <p:txBody>
          <a:bodyPr wrap="square" lIns="0" rIns="0" tIns="0" bIns="0" anchor="t">
            <a:spAutoFit/>
          </a:bodyPr>
          <a:lstStyle/>
          <a:p>
            <a:pPr algn="l">
              <a:lnSpc>
                <a:spcPts val="1100"/>
              </a:lnSpc>
            </a:pPr>
            <a:r>
              <a:rPr sz="950" b="0" i="0">
                <a:solidFill>
                  <a:srgbClr val="657062"/>
                </a:solidFill>
                <a:latin typeface="Calibri"/>
              </a:rPr>
              <a:t>No commission, listing charge or logistics cost is deducted from it anywhere.</a:t>
            </a:r>
          </a:p>
        </p:txBody>
      </p:sp>
      <p:sp>
        <p:nvSpPr>
          <p:cNvPr id="15399" name="Oval 15398"/>
          <p:cNvSpPr/>
          <p:nvPr/>
        </p:nvSpPr>
        <p:spPr>
          <a:xfrm>
            <a:off x="6684264" y="2523744"/>
            <a:ext cx="219456" cy="219456"/>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2</a:t>
            </a:r>
          </a:p>
        </p:txBody>
      </p:sp>
      <p:sp>
        <p:nvSpPr>
          <p:cNvPr id="15400" name="TextBox 15399"/>
          <p:cNvSpPr txBox="1"/>
          <p:nvPr/>
        </p:nvSpPr>
        <p:spPr>
          <a:xfrm>
            <a:off x="6995159" y="2505456"/>
            <a:ext cx="4434840" cy="219456"/>
          </a:xfrm>
          <a:prstGeom prst="rect">
            <a:avLst/>
          </a:prstGeom>
          <a:noFill/>
        </p:spPr>
        <p:txBody>
          <a:bodyPr wrap="square" lIns="0" rIns="0" tIns="0" bIns="0" anchor="t">
            <a:spAutoFit/>
          </a:bodyPr>
          <a:lstStyle/>
          <a:p>
            <a:pPr algn="l"/>
            <a:r>
              <a:rPr sz="1150" b="1" i="0">
                <a:solidFill>
                  <a:srgbClr val="11140F"/>
                </a:solidFill>
                <a:latin typeface="Calibri"/>
              </a:rPr>
              <a:t>Orders are pooled by destination</a:t>
            </a:r>
          </a:p>
        </p:txBody>
      </p:sp>
      <p:sp>
        <p:nvSpPr>
          <p:cNvPr id="15401" name="TextBox 15400"/>
          <p:cNvSpPr txBox="1"/>
          <p:nvPr/>
        </p:nvSpPr>
        <p:spPr>
          <a:xfrm>
            <a:off x="6995159" y="2724912"/>
            <a:ext cx="4434840" cy="292608"/>
          </a:xfrm>
          <a:prstGeom prst="rect">
            <a:avLst/>
          </a:prstGeom>
          <a:noFill/>
        </p:spPr>
        <p:txBody>
          <a:bodyPr wrap="square" lIns="0" rIns="0" tIns="0" bIns="0" anchor="t">
            <a:spAutoFit/>
          </a:bodyPr>
          <a:lstStyle/>
          <a:p>
            <a:pPr algn="l">
              <a:lnSpc>
                <a:spcPts val="1100"/>
              </a:lnSpc>
            </a:pPr>
            <a:r>
              <a:rPr sz="950" b="0" i="0">
                <a:solidFill>
                  <a:srgbClr val="657062"/>
                </a:solidFill>
                <a:latin typeface="Calibri"/>
              </a:rPr>
              <a:t>Only lots going to the same neighbourhood share a vehicle.</a:t>
            </a:r>
          </a:p>
        </p:txBody>
      </p:sp>
      <p:sp>
        <p:nvSpPr>
          <p:cNvPr id="15402" name="Oval 15401"/>
          <p:cNvSpPr/>
          <p:nvPr/>
        </p:nvSpPr>
        <p:spPr>
          <a:xfrm>
            <a:off x="6684264" y="3054096"/>
            <a:ext cx="219456" cy="219456"/>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FFFFFF"/>
                </a:solidFill>
                <a:latin typeface="Calibri"/>
              </a:rPr>
              <a:t>3</a:t>
            </a:r>
          </a:p>
        </p:txBody>
      </p:sp>
      <p:sp>
        <p:nvSpPr>
          <p:cNvPr id="15403" name="TextBox 15402"/>
          <p:cNvSpPr txBox="1"/>
          <p:nvPr/>
        </p:nvSpPr>
        <p:spPr>
          <a:xfrm>
            <a:off x="6995159" y="3035808"/>
            <a:ext cx="4434840" cy="219456"/>
          </a:xfrm>
          <a:prstGeom prst="rect">
            <a:avLst/>
          </a:prstGeom>
          <a:noFill/>
        </p:spPr>
        <p:txBody>
          <a:bodyPr wrap="square" lIns="0" rIns="0" tIns="0" bIns="0" anchor="t">
            <a:spAutoFit/>
          </a:bodyPr>
          <a:lstStyle/>
          <a:p>
            <a:pPr algn="l"/>
            <a:r>
              <a:rPr sz="1150" b="1" i="0">
                <a:solidFill>
                  <a:srgbClr val="11140F"/>
                </a:solidFill>
                <a:latin typeface="Calibri"/>
              </a:rPr>
              <a:t>Nothing moves unsold</a:t>
            </a:r>
          </a:p>
        </p:txBody>
      </p:sp>
      <p:sp>
        <p:nvSpPr>
          <p:cNvPr id="15404" name="TextBox 15403"/>
          <p:cNvSpPr txBox="1"/>
          <p:nvPr/>
        </p:nvSpPr>
        <p:spPr>
          <a:xfrm>
            <a:off x="6995159" y="3255264"/>
            <a:ext cx="4434840" cy="292608"/>
          </a:xfrm>
          <a:prstGeom prst="rect">
            <a:avLst/>
          </a:prstGeom>
          <a:noFill/>
        </p:spPr>
        <p:txBody>
          <a:bodyPr wrap="square" lIns="0" rIns="0" tIns="0" bIns="0" anchor="t">
            <a:spAutoFit/>
          </a:bodyPr>
          <a:lstStyle/>
          <a:p>
            <a:pPr algn="l">
              <a:lnSpc>
                <a:spcPts val="1100"/>
              </a:lnSpc>
            </a:pPr>
            <a:r>
              <a:rPr sz="950" b="0" i="0">
                <a:solidFill>
                  <a:srgbClr val="657062"/>
                </a:solidFill>
                <a:latin typeface="Calibri"/>
              </a:rPr>
              <a:t>The tempo is loaded against confirmed orders, so there is no stock to write off.</a:t>
            </a:r>
          </a:p>
        </p:txBody>
      </p:sp>
      <p:sp>
        <p:nvSpPr>
          <p:cNvPr id="15405" name="TextBox 15404"/>
          <p:cNvSpPr txBox="1"/>
          <p:nvPr/>
        </p:nvSpPr>
        <p:spPr>
          <a:xfrm>
            <a:off x="6446520" y="3767328"/>
            <a:ext cx="5257800" cy="201168"/>
          </a:xfrm>
          <a:prstGeom prst="rect">
            <a:avLst/>
          </a:prstGeom>
          <a:noFill/>
        </p:spPr>
        <p:txBody>
          <a:bodyPr wrap="square" lIns="0" rIns="0" tIns="0" bIns="0" anchor="t">
            <a:spAutoFit/>
          </a:bodyPr>
          <a:lstStyle/>
          <a:p>
            <a:pPr algn="l"/>
            <a:r>
              <a:rPr sz="900" b="1" i="0" spc="140">
                <a:solidFill>
                  <a:srgbClr val="657062"/>
                </a:solidFill>
                <a:latin typeface="Calibri"/>
              </a:rPr>
              <a:t>HOW THE BUYER RECEIVES IT</a:t>
            </a:r>
          </a:p>
        </p:txBody>
      </p:sp>
      <p:sp>
        <p:nvSpPr>
          <p:cNvPr id="15406" name="Rounded Rectangle 15405"/>
          <p:cNvSpPr/>
          <p:nvPr/>
        </p:nvSpPr>
        <p:spPr>
          <a:xfrm>
            <a:off x="6446520" y="4041648"/>
            <a:ext cx="5257800" cy="548640"/>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07" name="Oval 15406"/>
          <p:cNvSpPr/>
          <p:nvPr/>
        </p:nvSpPr>
        <p:spPr>
          <a:xfrm>
            <a:off x="6583680" y="4169663"/>
            <a:ext cx="292608" cy="292608"/>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a:t>
            </a:r>
          </a:p>
        </p:txBody>
      </p:sp>
      <p:sp>
        <p:nvSpPr>
          <p:cNvPr id="15408" name="TextBox 15407"/>
          <p:cNvSpPr txBox="1"/>
          <p:nvPr/>
        </p:nvSpPr>
        <p:spPr>
          <a:xfrm>
            <a:off x="6976872" y="4096511"/>
            <a:ext cx="3886200" cy="219456"/>
          </a:xfrm>
          <a:prstGeom prst="rect">
            <a:avLst/>
          </a:prstGeom>
          <a:noFill/>
        </p:spPr>
        <p:txBody>
          <a:bodyPr wrap="square" lIns="0" rIns="0" tIns="0" bIns="0" anchor="t">
            <a:spAutoFit/>
          </a:bodyPr>
          <a:lstStyle/>
          <a:p>
            <a:pPr algn="l"/>
            <a:r>
              <a:rPr sz="1150" b="1" i="0">
                <a:solidFill>
                  <a:srgbClr val="11140F"/>
                </a:solidFill>
                <a:latin typeface="Calibri"/>
              </a:rPr>
              <a:t>Cluster pickup point</a:t>
            </a:r>
          </a:p>
        </p:txBody>
      </p:sp>
      <p:sp>
        <p:nvSpPr>
          <p:cNvPr id="15409" name="TextBox 15408"/>
          <p:cNvSpPr txBox="1"/>
          <p:nvPr/>
        </p:nvSpPr>
        <p:spPr>
          <a:xfrm>
            <a:off x="6976872" y="4306824"/>
            <a:ext cx="3886200" cy="219456"/>
          </a:xfrm>
          <a:prstGeom prst="rect">
            <a:avLst/>
          </a:prstGeom>
          <a:noFill/>
        </p:spPr>
        <p:txBody>
          <a:bodyPr wrap="square" lIns="0" rIns="0" tIns="0" bIns="0" anchor="t">
            <a:spAutoFit/>
          </a:bodyPr>
          <a:lstStyle/>
          <a:p>
            <a:pPr algn="l"/>
            <a:r>
              <a:rPr sz="900" b="0" i="0">
                <a:solidFill>
                  <a:srgbClr val="657062"/>
                </a:solidFill>
                <a:latin typeface="Calibri"/>
              </a:rPr>
              <a:t>Kirana or society office holds the batch, 6–9 pm window</a:t>
            </a:r>
          </a:p>
        </p:txBody>
      </p:sp>
      <p:sp>
        <p:nvSpPr>
          <p:cNvPr id="15410" name="TextBox 15409"/>
          <p:cNvSpPr txBox="1"/>
          <p:nvPr/>
        </p:nvSpPr>
        <p:spPr>
          <a:xfrm>
            <a:off x="10881360" y="4187952"/>
            <a:ext cx="685800" cy="256032"/>
          </a:xfrm>
          <a:prstGeom prst="rect">
            <a:avLst/>
          </a:prstGeom>
          <a:noFill/>
        </p:spPr>
        <p:txBody>
          <a:bodyPr wrap="square" lIns="0" rIns="0" tIns="0" bIns="0" anchor="t">
            <a:spAutoFit/>
          </a:bodyPr>
          <a:lstStyle/>
          <a:p>
            <a:pPr algn="r"/>
            <a:r>
              <a:rPr sz="1250" b="1" i="0">
                <a:solidFill>
                  <a:srgbClr val="2F6B3A"/>
                </a:solidFill>
                <a:latin typeface="Calibri"/>
              </a:rPr>
              <a:t>₹10</a:t>
            </a:r>
          </a:p>
        </p:txBody>
      </p:sp>
      <p:sp>
        <p:nvSpPr>
          <p:cNvPr id="15411" name="Rounded Rectangle 15410"/>
          <p:cNvSpPr/>
          <p:nvPr/>
        </p:nvSpPr>
        <p:spPr>
          <a:xfrm>
            <a:off x="6446520" y="4681728"/>
            <a:ext cx="5257800" cy="548640"/>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12" name="Oval 15411"/>
          <p:cNvSpPr/>
          <p:nvPr/>
        </p:nvSpPr>
        <p:spPr>
          <a:xfrm>
            <a:off x="6583680" y="4809744"/>
            <a:ext cx="292608" cy="292608"/>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B</a:t>
            </a:r>
          </a:p>
        </p:txBody>
      </p:sp>
      <p:sp>
        <p:nvSpPr>
          <p:cNvPr id="15413" name="TextBox 15412"/>
          <p:cNvSpPr txBox="1"/>
          <p:nvPr/>
        </p:nvSpPr>
        <p:spPr>
          <a:xfrm>
            <a:off x="6976872" y="4736592"/>
            <a:ext cx="3886200" cy="219456"/>
          </a:xfrm>
          <a:prstGeom prst="rect">
            <a:avLst/>
          </a:prstGeom>
          <a:noFill/>
        </p:spPr>
        <p:txBody>
          <a:bodyPr wrap="square" lIns="0" rIns="0" tIns="0" bIns="0" anchor="t">
            <a:spAutoFit/>
          </a:bodyPr>
          <a:lstStyle/>
          <a:p>
            <a:pPr algn="l"/>
            <a:r>
              <a:rPr sz="1150" b="1" i="0">
                <a:solidFill>
                  <a:srgbClr val="11140F"/>
                </a:solidFill>
                <a:latin typeface="Calibri"/>
              </a:rPr>
              <a:t>Last 300 metres</a:t>
            </a:r>
          </a:p>
        </p:txBody>
      </p:sp>
      <p:sp>
        <p:nvSpPr>
          <p:cNvPr id="15414" name="TextBox 15413"/>
          <p:cNvSpPr txBox="1"/>
          <p:nvPr/>
        </p:nvSpPr>
        <p:spPr>
          <a:xfrm>
            <a:off x="6976872" y="4946904"/>
            <a:ext cx="3886200" cy="219456"/>
          </a:xfrm>
          <a:prstGeom prst="rect">
            <a:avLst/>
          </a:prstGeom>
          <a:noFill/>
        </p:spPr>
        <p:txBody>
          <a:bodyPr wrap="square" lIns="0" rIns="0" tIns="0" bIns="0" anchor="t">
            <a:spAutoFit/>
          </a:bodyPr>
          <a:lstStyle/>
          <a:p>
            <a:pPr algn="l"/>
            <a:r>
              <a:rPr sz="900" b="0" i="0">
                <a:solidFill>
                  <a:srgbClr val="657062"/>
                </a:solidFill>
                <a:latin typeface="Calibri"/>
              </a:rPr>
              <a:t>Hand cart inside the same society, free above a ₹500 basket</a:t>
            </a:r>
          </a:p>
        </p:txBody>
      </p:sp>
      <p:sp>
        <p:nvSpPr>
          <p:cNvPr id="15415" name="TextBox 15414"/>
          <p:cNvSpPr txBox="1"/>
          <p:nvPr/>
        </p:nvSpPr>
        <p:spPr>
          <a:xfrm>
            <a:off x="10881360" y="4828032"/>
            <a:ext cx="685800" cy="256032"/>
          </a:xfrm>
          <a:prstGeom prst="rect">
            <a:avLst/>
          </a:prstGeom>
          <a:noFill/>
        </p:spPr>
        <p:txBody>
          <a:bodyPr wrap="square" lIns="0" rIns="0" tIns="0" bIns="0" anchor="t">
            <a:spAutoFit/>
          </a:bodyPr>
          <a:lstStyle/>
          <a:p>
            <a:pPr algn="r"/>
            <a:r>
              <a:rPr sz="1250" b="1" i="0">
                <a:solidFill>
                  <a:srgbClr val="B7791F"/>
                </a:solidFill>
                <a:latin typeface="Calibri"/>
              </a:rPr>
              <a:t>₹20</a:t>
            </a:r>
          </a:p>
        </p:txBody>
      </p:sp>
      <p:sp>
        <p:nvSpPr>
          <p:cNvPr id="15416" name="Rounded Rectangle 15415"/>
          <p:cNvSpPr/>
          <p:nvPr/>
        </p:nvSpPr>
        <p:spPr>
          <a:xfrm>
            <a:off x="6446520" y="5321808"/>
            <a:ext cx="5257800" cy="548640"/>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417" name="Oval 15416"/>
          <p:cNvSpPr/>
          <p:nvPr/>
        </p:nvSpPr>
        <p:spPr>
          <a:xfrm>
            <a:off x="6583680" y="5449824"/>
            <a:ext cx="292608" cy="292608"/>
          </a:xfrm>
          <a:prstGeom prst="ellipse">
            <a:avLst/>
          </a:prstGeom>
          <a:solidFill>
            <a:srgbClr val="65706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C</a:t>
            </a:r>
          </a:p>
        </p:txBody>
      </p:sp>
      <p:sp>
        <p:nvSpPr>
          <p:cNvPr id="15418" name="TextBox 15417"/>
          <p:cNvSpPr txBox="1"/>
          <p:nvPr/>
        </p:nvSpPr>
        <p:spPr>
          <a:xfrm>
            <a:off x="6976872" y="5376672"/>
            <a:ext cx="3886200" cy="219456"/>
          </a:xfrm>
          <a:prstGeom prst="rect">
            <a:avLst/>
          </a:prstGeom>
          <a:noFill/>
        </p:spPr>
        <p:txBody>
          <a:bodyPr wrap="square" lIns="0" rIns="0" tIns="0" bIns="0" anchor="t">
            <a:spAutoFit/>
          </a:bodyPr>
          <a:lstStyle/>
          <a:p>
            <a:pPr algn="l"/>
            <a:r>
              <a:rPr sz="1150" b="1" i="0">
                <a:solidFill>
                  <a:srgbClr val="11140F"/>
                </a:solidFill>
                <a:latin typeface="Calibri"/>
              </a:rPr>
              <a:t>Express, on demand</a:t>
            </a:r>
          </a:p>
        </p:txBody>
      </p:sp>
      <p:sp>
        <p:nvSpPr>
          <p:cNvPr id="15419" name="TextBox 15418"/>
          <p:cNvSpPr txBox="1"/>
          <p:nvPr/>
        </p:nvSpPr>
        <p:spPr>
          <a:xfrm>
            <a:off x="6976872" y="5586984"/>
            <a:ext cx="3886200" cy="219456"/>
          </a:xfrm>
          <a:prstGeom prst="rect">
            <a:avLst/>
          </a:prstGeom>
          <a:noFill/>
        </p:spPr>
        <p:txBody>
          <a:bodyPr wrap="square" lIns="0" rIns="0" tIns="0" bIns="0" anchor="t">
            <a:spAutoFit/>
          </a:bodyPr>
          <a:lstStyle/>
          <a:p>
            <a:pPr algn="l"/>
            <a:r>
              <a:rPr sz="900" b="0" i="0">
                <a:solidFill>
                  <a:srgbClr val="657062"/>
                </a:solidFill>
                <a:latin typeface="Calibri"/>
              </a:rPr>
              <a:t>Not offered — it cannot pay for itself at a 6 kg basket</a:t>
            </a:r>
          </a:p>
        </p:txBody>
      </p:sp>
      <p:sp>
        <p:nvSpPr>
          <p:cNvPr id="15420" name="TextBox 15419"/>
          <p:cNvSpPr txBox="1"/>
          <p:nvPr/>
        </p:nvSpPr>
        <p:spPr>
          <a:xfrm>
            <a:off x="10881360" y="5468112"/>
            <a:ext cx="685800" cy="256032"/>
          </a:xfrm>
          <a:prstGeom prst="rect">
            <a:avLst/>
          </a:prstGeom>
          <a:noFill/>
        </p:spPr>
        <p:txBody>
          <a:bodyPr wrap="square" lIns="0" rIns="0" tIns="0" bIns="0" anchor="t">
            <a:spAutoFit/>
          </a:bodyPr>
          <a:lstStyle/>
          <a:p>
            <a:pPr algn="r"/>
            <a:r>
              <a:rPr sz="1250" b="1" i="0">
                <a:solidFill>
                  <a:srgbClr val="657062"/>
                </a:solidFill>
                <a:latin typeface="Calibri"/>
              </a:rPr>
              <a:t>—</a:t>
            </a:r>
          </a:p>
        </p:txBody>
      </p:sp>
      <p:sp>
        <p:nvSpPr>
          <p:cNvPr id="15421" name="TextBox 15420"/>
          <p:cNvSpPr txBox="1"/>
          <p:nvPr/>
        </p:nvSpPr>
        <p:spPr>
          <a:xfrm>
            <a:off x="502920" y="5961888"/>
            <a:ext cx="11247120" cy="274320"/>
          </a:xfrm>
          <a:prstGeom prst="rect">
            <a:avLst/>
          </a:prstGeom>
          <a:noFill/>
        </p:spPr>
        <p:txBody>
          <a:bodyPr wrap="square" lIns="0" rIns="0" tIns="0" bIns="0" anchor="t">
            <a:spAutoFit/>
          </a:bodyPr>
          <a:lstStyle/>
          <a:p>
            <a:pPr algn="l"/>
            <a:r>
              <a:rPr sz="850" b="0" i="1">
                <a:solidFill>
                  <a:srgbClr val="657062"/>
                </a:solidFill>
                <a:latin typeface="Calibri"/>
              </a:rPr>
              <a:t>Worked with the same pricing function the live site uses. ₹55/kg is an assumed quick-commerce reference, not a live scrape.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097280"/>
            <a:ext cx="11247120" cy="365760"/>
          </a:xfrm>
          <a:prstGeom prst="rect">
            <a:avLst/>
          </a:prstGeom>
          <a:noFill/>
        </p:spPr>
        <p:txBody>
          <a:bodyPr wrap="square" lIns="0" rIns="0" tIns="0" bIns="0" anchor="t">
            <a:spAutoFit/>
          </a:bodyPr>
          <a:lstStyle/>
          <a:p>
            <a:pPr algn="l"/>
            <a:r>
              <a:rPr sz="1600" b="1" i="0">
                <a:solidFill>
                  <a:srgbClr val="11140F"/>
                </a:solidFill>
                <a:latin typeface="Cambria"/>
              </a:rPr>
              <a:t>D-COA — Decision &amp; Coordination Optimisation Algorithm</a:t>
            </a:r>
          </a:p>
        </p:txBody>
      </p:sp>
      <p:sp>
        <p:nvSpPr>
          <p:cNvPr id="17411" name="TextBox 17410"/>
          <p:cNvSpPr txBox="1"/>
          <p:nvPr/>
        </p:nvSpPr>
        <p:spPr>
          <a:xfrm>
            <a:off x="502920" y="1481328"/>
            <a:ext cx="11247120" cy="237744"/>
          </a:xfrm>
          <a:prstGeom prst="rect">
            <a:avLst/>
          </a:prstGeom>
          <a:noFill/>
        </p:spPr>
        <p:txBody>
          <a:bodyPr wrap="square" lIns="0" rIns="0" tIns="0" bIns="0" anchor="t">
            <a:spAutoFit/>
          </a:bodyPr>
          <a:lstStyle/>
          <a:p>
            <a:pPr algn="l"/>
            <a:r>
              <a:rPr sz="1050" b="0" i="0">
                <a:solidFill>
                  <a:srgbClr val="657062"/>
                </a:solidFill>
                <a:latin typeface="Calibri"/>
              </a:rPr>
              <a:t>Our working name for the decision layer. It is a product name for our own engine, not a claim of a new published algorithm.</a:t>
            </a:r>
          </a:p>
        </p:txBody>
      </p:sp>
      <p:sp>
        <p:nvSpPr>
          <p:cNvPr id="17412" name="Rounded Rectangle 17411"/>
          <p:cNvSpPr/>
          <p:nvPr/>
        </p:nvSpPr>
        <p:spPr>
          <a:xfrm>
            <a:off x="502920" y="1792224"/>
            <a:ext cx="1719072" cy="731520"/>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11140F"/>
                </a:solidFill>
                <a:latin typeface="Calibri"/>
              </a:rPr>
              <a:t>Confirmed orders</a:t>
            </a:r>
          </a:p>
        </p:txBody>
      </p:sp>
      <p:sp>
        <p:nvSpPr>
          <p:cNvPr id="17413" name="TextBox 17412"/>
          <p:cNvSpPr txBox="1"/>
          <p:nvPr/>
        </p:nvSpPr>
        <p:spPr>
          <a:xfrm>
            <a:off x="2221991" y="2029968"/>
            <a:ext cx="182880" cy="237744"/>
          </a:xfrm>
          <a:prstGeom prst="rect">
            <a:avLst/>
          </a:prstGeom>
          <a:noFill/>
        </p:spPr>
        <p:txBody>
          <a:bodyPr wrap="square" lIns="0" rIns="0" tIns="0" bIns="0" anchor="t">
            <a:spAutoFit/>
          </a:bodyPr>
          <a:lstStyle/>
          <a:p>
            <a:pPr algn="ctr"/>
            <a:r>
              <a:rPr sz="1100" b="0" i="0">
                <a:solidFill>
                  <a:srgbClr val="2F6B3A"/>
                </a:solidFill>
                <a:latin typeface="Calibri"/>
              </a:rPr>
              <a:t>→</a:t>
            </a:r>
          </a:p>
        </p:txBody>
      </p:sp>
      <p:sp>
        <p:nvSpPr>
          <p:cNvPr id="17414" name="Rounded Rectangle 17413"/>
          <p:cNvSpPr/>
          <p:nvPr/>
        </p:nvSpPr>
        <p:spPr>
          <a:xfrm>
            <a:off x="2404872" y="1792224"/>
            <a:ext cx="1719072" cy="731520"/>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11140F"/>
                </a:solidFill>
                <a:latin typeface="Calibri"/>
              </a:rPr>
              <a:t>Compatibility</a:t>
            </a:r>
          </a:p>
        </p:txBody>
      </p:sp>
      <p:sp>
        <p:nvSpPr>
          <p:cNvPr id="17415" name="TextBox 17414"/>
          <p:cNvSpPr txBox="1"/>
          <p:nvPr/>
        </p:nvSpPr>
        <p:spPr>
          <a:xfrm>
            <a:off x="4123944" y="2029968"/>
            <a:ext cx="182880" cy="237744"/>
          </a:xfrm>
          <a:prstGeom prst="rect">
            <a:avLst/>
          </a:prstGeom>
          <a:noFill/>
        </p:spPr>
        <p:txBody>
          <a:bodyPr wrap="square" lIns="0" rIns="0" tIns="0" bIns="0" anchor="t">
            <a:spAutoFit/>
          </a:bodyPr>
          <a:lstStyle/>
          <a:p>
            <a:pPr algn="ctr"/>
            <a:r>
              <a:rPr sz="1100" b="0" i="0">
                <a:solidFill>
                  <a:srgbClr val="2F6B3A"/>
                </a:solidFill>
                <a:latin typeface="Calibri"/>
              </a:rPr>
              <a:t>→</a:t>
            </a:r>
          </a:p>
        </p:txBody>
      </p:sp>
      <p:sp>
        <p:nvSpPr>
          <p:cNvPr id="17416" name="Rounded Rectangle 17415"/>
          <p:cNvSpPr/>
          <p:nvPr/>
        </p:nvSpPr>
        <p:spPr>
          <a:xfrm>
            <a:off x="4306824" y="1792224"/>
            <a:ext cx="1719072" cy="731520"/>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11140F"/>
                </a:solidFill>
                <a:latin typeface="Calibri"/>
              </a:rPr>
              <a:t>Lot allocation</a:t>
            </a:r>
          </a:p>
        </p:txBody>
      </p:sp>
      <p:sp>
        <p:nvSpPr>
          <p:cNvPr id="17417" name="TextBox 17416"/>
          <p:cNvSpPr txBox="1"/>
          <p:nvPr/>
        </p:nvSpPr>
        <p:spPr>
          <a:xfrm>
            <a:off x="6025896" y="2029968"/>
            <a:ext cx="182880" cy="237744"/>
          </a:xfrm>
          <a:prstGeom prst="rect">
            <a:avLst/>
          </a:prstGeom>
          <a:noFill/>
        </p:spPr>
        <p:txBody>
          <a:bodyPr wrap="square" lIns="0" rIns="0" tIns="0" bIns="0" anchor="t">
            <a:spAutoFit/>
          </a:bodyPr>
          <a:lstStyle/>
          <a:p>
            <a:pPr algn="ctr"/>
            <a:r>
              <a:rPr sz="1100" b="0" i="0">
                <a:solidFill>
                  <a:srgbClr val="2F6B3A"/>
                </a:solidFill>
                <a:latin typeface="Calibri"/>
              </a:rPr>
              <a:t>→</a:t>
            </a:r>
          </a:p>
        </p:txBody>
      </p:sp>
      <p:sp>
        <p:nvSpPr>
          <p:cNvPr id="17418" name="Rounded Rectangle 17417"/>
          <p:cNvSpPr/>
          <p:nvPr/>
        </p:nvSpPr>
        <p:spPr>
          <a:xfrm>
            <a:off x="6208776" y="1792224"/>
            <a:ext cx="1719072" cy="731520"/>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11140F"/>
                </a:solidFill>
                <a:latin typeface="Calibri"/>
              </a:rPr>
              <a:t>Capacity &amp; freshness</a:t>
            </a:r>
          </a:p>
        </p:txBody>
      </p:sp>
      <p:sp>
        <p:nvSpPr>
          <p:cNvPr id="17419" name="TextBox 17418"/>
          <p:cNvSpPr txBox="1"/>
          <p:nvPr/>
        </p:nvSpPr>
        <p:spPr>
          <a:xfrm>
            <a:off x="7927848" y="2029968"/>
            <a:ext cx="182880" cy="237744"/>
          </a:xfrm>
          <a:prstGeom prst="rect">
            <a:avLst/>
          </a:prstGeom>
          <a:noFill/>
        </p:spPr>
        <p:txBody>
          <a:bodyPr wrap="square" lIns="0" rIns="0" tIns="0" bIns="0" anchor="t">
            <a:spAutoFit/>
          </a:bodyPr>
          <a:lstStyle/>
          <a:p>
            <a:pPr algn="ctr"/>
            <a:r>
              <a:rPr sz="1100" b="0" i="0">
                <a:solidFill>
                  <a:srgbClr val="2F6B3A"/>
                </a:solidFill>
                <a:latin typeface="Calibri"/>
              </a:rPr>
              <a:t>→</a:t>
            </a:r>
          </a:p>
        </p:txBody>
      </p:sp>
      <p:sp>
        <p:nvSpPr>
          <p:cNvPr id="17420" name="Rounded Rectangle 17419"/>
          <p:cNvSpPr/>
          <p:nvPr/>
        </p:nvSpPr>
        <p:spPr>
          <a:xfrm>
            <a:off x="8110728" y="1792224"/>
            <a:ext cx="1719072" cy="731520"/>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11140F"/>
                </a:solidFill>
                <a:latin typeface="Calibri"/>
              </a:rPr>
              <a:t>Route plan</a:t>
            </a:r>
          </a:p>
        </p:txBody>
      </p:sp>
      <p:sp>
        <p:nvSpPr>
          <p:cNvPr id="17421" name="TextBox 17420"/>
          <p:cNvSpPr txBox="1"/>
          <p:nvPr/>
        </p:nvSpPr>
        <p:spPr>
          <a:xfrm>
            <a:off x="9829800" y="2029968"/>
            <a:ext cx="182880" cy="237744"/>
          </a:xfrm>
          <a:prstGeom prst="rect">
            <a:avLst/>
          </a:prstGeom>
          <a:noFill/>
        </p:spPr>
        <p:txBody>
          <a:bodyPr wrap="square" lIns="0" rIns="0" tIns="0" bIns="0" anchor="t">
            <a:spAutoFit/>
          </a:bodyPr>
          <a:lstStyle/>
          <a:p>
            <a:pPr algn="ctr"/>
            <a:r>
              <a:rPr sz="1100" b="0" i="0">
                <a:solidFill>
                  <a:srgbClr val="2F6B3A"/>
                </a:solidFill>
                <a:latin typeface="Calibri"/>
              </a:rPr>
              <a:t>→</a:t>
            </a:r>
          </a:p>
        </p:txBody>
      </p:sp>
      <p:sp>
        <p:nvSpPr>
          <p:cNvPr id="17422" name="Rounded Rectangle 17421"/>
          <p:cNvSpPr/>
          <p:nvPr/>
        </p:nvSpPr>
        <p:spPr>
          <a:xfrm>
            <a:off x="10012680" y="1792224"/>
            <a:ext cx="1719072" cy="731520"/>
          </a:xfrm>
          <a:prstGeom prst="roundRect">
            <a:avLst>
              <a:gd name="adj" fmla="val 6000"/>
            </a:avLst>
          </a:prstGeom>
          <a:solidFill>
            <a:srgbClr val="2F6B3A"/>
          </a:solidFill>
          <a:ln w="9525">
            <a:solidFill>
              <a:srgbClr val="2F6B3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50" b="1">
                <a:solidFill>
                  <a:srgbClr val="FFFFFF"/>
                </a:solidFill>
                <a:latin typeface="Calibri"/>
              </a:rPr>
              <a:t>Explained batch</a:t>
            </a:r>
          </a:p>
        </p:txBody>
      </p:sp>
      <p:sp>
        <p:nvSpPr>
          <p:cNvPr id="17423" name="TextBox 17422"/>
          <p:cNvSpPr txBox="1"/>
          <p:nvPr/>
        </p:nvSpPr>
        <p:spPr>
          <a:xfrm>
            <a:off x="502920" y="2743200"/>
            <a:ext cx="6400800" cy="201168"/>
          </a:xfrm>
          <a:prstGeom prst="rect">
            <a:avLst/>
          </a:prstGeom>
          <a:noFill/>
        </p:spPr>
        <p:txBody>
          <a:bodyPr wrap="square" lIns="0" rIns="0" tIns="0" bIns="0" anchor="t">
            <a:spAutoFit/>
          </a:bodyPr>
          <a:lstStyle/>
          <a:p>
            <a:pPr algn="l"/>
            <a:r>
              <a:rPr sz="900" b="1" i="0" spc="140">
                <a:solidFill>
                  <a:srgbClr val="657062"/>
                </a:solidFill>
                <a:latin typeface="Calibri"/>
              </a:rPr>
              <a:t>EIGHT CONSIDERATIONS, EVERY TIME A RUN IS PLANNED</a:t>
            </a:r>
          </a:p>
        </p:txBody>
      </p:sp>
      <p:sp>
        <p:nvSpPr>
          <p:cNvPr id="17424" name="Rounded Rectangle 17423"/>
          <p:cNvSpPr/>
          <p:nvPr/>
        </p:nvSpPr>
        <p:spPr>
          <a:xfrm>
            <a:off x="502920" y="2999232"/>
            <a:ext cx="3063240" cy="384048"/>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5" name="Oval 17424"/>
          <p:cNvSpPr/>
          <p:nvPr/>
        </p:nvSpPr>
        <p:spPr>
          <a:xfrm>
            <a:off x="621792" y="3136391"/>
            <a:ext cx="100584" cy="100584"/>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6" name="TextBox 17425"/>
          <p:cNvSpPr txBox="1"/>
          <p:nvPr/>
        </p:nvSpPr>
        <p:spPr>
          <a:xfrm>
            <a:off x="795528" y="3072384"/>
            <a:ext cx="2194560" cy="237744"/>
          </a:xfrm>
          <a:prstGeom prst="rect">
            <a:avLst/>
          </a:prstGeom>
          <a:noFill/>
        </p:spPr>
        <p:txBody>
          <a:bodyPr wrap="square" lIns="0" rIns="0" tIns="0" bIns="0" anchor="t">
            <a:spAutoFit/>
          </a:bodyPr>
          <a:lstStyle/>
          <a:p>
            <a:pPr algn="l"/>
            <a:r>
              <a:rPr sz="1050" b="0" i="0">
                <a:solidFill>
                  <a:srgbClr val="11140F"/>
                </a:solidFill>
                <a:latin typeface="Calibri"/>
              </a:rPr>
              <a:t>Product compatibility</a:t>
            </a:r>
          </a:p>
        </p:txBody>
      </p:sp>
      <p:sp>
        <p:nvSpPr>
          <p:cNvPr id="17427" name="TextBox 17426"/>
          <p:cNvSpPr txBox="1"/>
          <p:nvPr/>
        </p:nvSpPr>
        <p:spPr>
          <a:xfrm>
            <a:off x="2971800" y="3090672"/>
            <a:ext cx="502920" cy="219456"/>
          </a:xfrm>
          <a:prstGeom prst="rect">
            <a:avLst/>
          </a:prstGeom>
          <a:noFill/>
        </p:spPr>
        <p:txBody>
          <a:bodyPr wrap="square" lIns="0" rIns="0" tIns="0" bIns="0" anchor="t">
            <a:spAutoFit/>
          </a:bodyPr>
          <a:lstStyle/>
          <a:p>
            <a:pPr algn="r"/>
            <a:r>
              <a:rPr sz="850" b="1" i="0">
                <a:solidFill>
                  <a:srgbClr val="2F6B3A"/>
                </a:solidFill>
                <a:latin typeface="Calibri"/>
              </a:rPr>
              <a:t>hard</a:t>
            </a:r>
          </a:p>
        </p:txBody>
      </p:sp>
      <p:sp>
        <p:nvSpPr>
          <p:cNvPr id="17428" name="Rounded Rectangle 17427"/>
          <p:cNvSpPr/>
          <p:nvPr/>
        </p:nvSpPr>
        <p:spPr>
          <a:xfrm>
            <a:off x="3749039" y="2999232"/>
            <a:ext cx="3063240" cy="384048"/>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9" name="Oval 17428"/>
          <p:cNvSpPr/>
          <p:nvPr/>
        </p:nvSpPr>
        <p:spPr>
          <a:xfrm>
            <a:off x="3867911" y="3136391"/>
            <a:ext cx="100584" cy="100584"/>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0" name="TextBox 17429"/>
          <p:cNvSpPr txBox="1"/>
          <p:nvPr/>
        </p:nvSpPr>
        <p:spPr>
          <a:xfrm>
            <a:off x="4041648" y="3072384"/>
            <a:ext cx="2194560" cy="237744"/>
          </a:xfrm>
          <a:prstGeom prst="rect">
            <a:avLst/>
          </a:prstGeom>
          <a:noFill/>
        </p:spPr>
        <p:txBody>
          <a:bodyPr wrap="square" lIns="0" rIns="0" tIns="0" bIns="0" anchor="t">
            <a:spAutoFit/>
          </a:bodyPr>
          <a:lstStyle/>
          <a:p>
            <a:pPr algn="l"/>
            <a:r>
              <a:rPr sz="1050" b="0" i="0">
                <a:solidFill>
                  <a:srgbClr val="11140F"/>
                </a:solidFill>
                <a:latin typeface="Calibri"/>
              </a:rPr>
              <a:t>Pickup &amp; delivery geography</a:t>
            </a:r>
          </a:p>
        </p:txBody>
      </p:sp>
      <p:sp>
        <p:nvSpPr>
          <p:cNvPr id="17431" name="TextBox 17430"/>
          <p:cNvSpPr txBox="1"/>
          <p:nvPr/>
        </p:nvSpPr>
        <p:spPr>
          <a:xfrm>
            <a:off x="6217920" y="3090672"/>
            <a:ext cx="502920" cy="219456"/>
          </a:xfrm>
          <a:prstGeom prst="rect">
            <a:avLst/>
          </a:prstGeom>
          <a:noFill/>
        </p:spPr>
        <p:txBody>
          <a:bodyPr wrap="square" lIns="0" rIns="0" tIns="0" bIns="0" anchor="t">
            <a:spAutoFit/>
          </a:bodyPr>
          <a:lstStyle/>
          <a:p>
            <a:pPr algn="r"/>
            <a:r>
              <a:rPr sz="850" b="1" i="0">
                <a:solidFill>
                  <a:srgbClr val="2F6B3A"/>
                </a:solidFill>
                <a:latin typeface="Calibri"/>
              </a:rPr>
              <a:t>hard</a:t>
            </a:r>
          </a:p>
        </p:txBody>
      </p:sp>
      <p:sp>
        <p:nvSpPr>
          <p:cNvPr id="17432" name="Rounded Rectangle 17431"/>
          <p:cNvSpPr/>
          <p:nvPr/>
        </p:nvSpPr>
        <p:spPr>
          <a:xfrm>
            <a:off x="502920" y="3474720"/>
            <a:ext cx="3063240" cy="384048"/>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3" name="Oval 17432"/>
          <p:cNvSpPr/>
          <p:nvPr/>
        </p:nvSpPr>
        <p:spPr>
          <a:xfrm>
            <a:off x="621792" y="3611879"/>
            <a:ext cx="100584" cy="100584"/>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4" name="TextBox 17433"/>
          <p:cNvSpPr txBox="1"/>
          <p:nvPr/>
        </p:nvSpPr>
        <p:spPr>
          <a:xfrm>
            <a:off x="795528" y="3547872"/>
            <a:ext cx="2194560" cy="237744"/>
          </a:xfrm>
          <a:prstGeom prst="rect">
            <a:avLst/>
          </a:prstGeom>
          <a:noFill/>
        </p:spPr>
        <p:txBody>
          <a:bodyPr wrap="square" lIns="0" rIns="0" tIns="0" bIns="0" anchor="t">
            <a:spAutoFit/>
          </a:bodyPr>
          <a:lstStyle/>
          <a:p>
            <a:pPr algn="l"/>
            <a:r>
              <a:rPr sz="1050" b="0" i="0">
                <a:solidFill>
                  <a:srgbClr val="11140F"/>
                </a:solidFill>
                <a:latin typeface="Calibri"/>
              </a:rPr>
              <a:t>Quantity vs vehicle capacity</a:t>
            </a:r>
          </a:p>
        </p:txBody>
      </p:sp>
      <p:sp>
        <p:nvSpPr>
          <p:cNvPr id="17435" name="TextBox 17434"/>
          <p:cNvSpPr txBox="1"/>
          <p:nvPr/>
        </p:nvSpPr>
        <p:spPr>
          <a:xfrm>
            <a:off x="2971800" y="3566160"/>
            <a:ext cx="502920" cy="219456"/>
          </a:xfrm>
          <a:prstGeom prst="rect">
            <a:avLst/>
          </a:prstGeom>
          <a:noFill/>
        </p:spPr>
        <p:txBody>
          <a:bodyPr wrap="square" lIns="0" rIns="0" tIns="0" bIns="0" anchor="t">
            <a:spAutoFit/>
          </a:bodyPr>
          <a:lstStyle/>
          <a:p>
            <a:pPr algn="r"/>
            <a:r>
              <a:rPr sz="850" b="1" i="0">
                <a:solidFill>
                  <a:srgbClr val="2F6B3A"/>
                </a:solidFill>
                <a:latin typeface="Calibri"/>
              </a:rPr>
              <a:t>hard</a:t>
            </a:r>
          </a:p>
        </p:txBody>
      </p:sp>
      <p:sp>
        <p:nvSpPr>
          <p:cNvPr id="17436" name="Rounded Rectangle 17435"/>
          <p:cNvSpPr/>
          <p:nvPr/>
        </p:nvSpPr>
        <p:spPr>
          <a:xfrm>
            <a:off x="3749039" y="3474720"/>
            <a:ext cx="3063240" cy="384048"/>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7" name="Oval 17436"/>
          <p:cNvSpPr/>
          <p:nvPr/>
        </p:nvSpPr>
        <p:spPr>
          <a:xfrm>
            <a:off x="3867911" y="3611879"/>
            <a:ext cx="100584" cy="100584"/>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8" name="TextBox 17437"/>
          <p:cNvSpPr txBox="1"/>
          <p:nvPr/>
        </p:nvSpPr>
        <p:spPr>
          <a:xfrm>
            <a:off x="4041648" y="3547872"/>
            <a:ext cx="2194560" cy="237744"/>
          </a:xfrm>
          <a:prstGeom prst="rect">
            <a:avLst/>
          </a:prstGeom>
          <a:noFill/>
        </p:spPr>
        <p:txBody>
          <a:bodyPr wrap="square" lIns="0" rIns="0" tIns="0" bIns="0" anchor="t">
            <a:spAutoFit/>
          </a:bodyPr>
          <a:lstStyle/>
          <a:p>
            <a:pPr algn="l"/>
            <a:r>
              <a:rPr sz="1050" b="0" i="0">
                <a:solidFill>
                  <a:srgbClr val="11140F"/>
                </a:solidFill>
                <a:latin typeface="Calibri"/>
              </a:rPr>
              <a:t>Delivery time windows</a:t>
            </a:r>
          </a:p>
        </p:txBody>
      </p:sp>
      <p:sp>
        <p:nvSpPr>
          <p:cNvPr id="17439" name="TextBox 17438"/>
          <p:cNvSpPr txBox="1"/>
          <p:nvPr/>
        </p:nvSpPr>
        <p:spPr>
          <a:xfrm>
            <a:off x="6217920" y="3566160"/>
            <a:ext cx="502920" cy="219456"/>
          </a:xfrm>
          <a:prstGeom prst="rect">
            <a:avLst/>
          </a:prstGeom>
          <a:noFill/>
        </p:spPr>
        <p:txBody>
          <a:bodyPr wrap="square" lIns="0" rIns="0" tIns="0" bIns="0" anchor="t">
            <a:spAutoFit/>
          </a:bodyPr>
          <a:lstStyle/>
          <a:p>
            <a:pPr algn="r"/>
            <a:r>
              <a:rPr sz="850" b="1" i="0">
                <a:solidFill>
                  <a:srgbClr val="2F6B3A"/>
                </a:solidFill>
                <a:latin typeface="Calibri"/>
              </a:rPr>
              <a:t>hard</a:t>
            </a:r>
          </a:p>
        </p:txBody>
      </p:sp>
      <p:sp>
        <p:nvSpPr>
          <p:cNvPr id="17440" name="Rounded Rectangle 17439"/>
          <p:cNvSpPr/>
          <p:nvPr/>
        </p:nvSpPr>
        <p:spPr>
          <a:xfrm>
            <a:off x="502920" y="3950208"/>
            <a:ext cx="3063240" cy="384048"/>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1" name="Oval 17440"/>
          <p:cNvSpPr/>
          <p:nvPr/>
        </p:nvSpPr>
        <p:spPr>
          <a:xfrm>
            <a:off x="621792" y="4087368"/>
            <a:ext cx="100584" cy="100584"/>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2" name="TextBox 17441"/>
          <p:cNvSpPr txBox="1"/>
          <p:nvPr/>
        </p:nvSpPr>
        <p:spPr>
          <a:xfrm>
            <a:off x="795528" y="4023360"/>
            <a:ext cx="2194560" cy="237744"/>
          </a:xfrm>
          <a:prstGeom prst="rect">
            <a:avLst/>
          </a:prstGeom>
          <a:noFill/>
        </p:spPr>
        <p:txBody>
          <a:bodyPr wrap="square" lIns="0" rIns="0" tIns="0" bIns="0" anchor="t">
            <a:spAutoFit/>
          </a:bodyPr>
          <a:lstStyle/>
          <a:p>
            <a:pPr algn="l"/>
            <a:r>
              <a:rPr sz="1050" b="0" i="0">
                <a:solidFill>
                  <a:srgbClr val="11140F"/>
                </a:solidFill>
                <a:latin typeface="Calibri"/>
              </a:rPr>
              <a:t>Perishability &amp; freshness</a:t>
            </a:r>
          </a:p>
        </p:txBody>
      </p:sp>
      <p:sp>
        <p:nvSpPr>
          <p:cNvPr id="17443" name="TextBox 17442"/>
          <p:cNvSpPr txBox="1"/>
          <p:nvPr/>
        </p:nvSpPr>
        <p:spPr>
          <a:xfrm>
            <a:off x="2971800" y="4041648"/>
            <a:ext cx="502920" cy="219456"/>
          </a:xfrm>
          <a:prstGeom prst="rect">
            <a:avLst/>
          </a:prstGeom>
          <a:noFill/>
        </p:spPr>
        <p:txBody>
          <a:bodyPr wrap="square" lIns="0" rIns="0" tIns="0" bIns="0" anchor="t">
            <a:spAutoFit/>
          </a:bodyPr>
          <a:lstStyle/>
          <a:p>
            <a:pPr algn="r"/>
            <a:r>
              <a:rPr sz="850" b="1" i="0">
                <a:solidFill>
                  <a:srgbClr val="2F6B3A"/>
                </a:solidFill>
                <a:latin typeface="Calibri"/>
              </a:rPr>
              <a:t>hard</a:t>
            </a:r>
          </a:p>
        </p:txBody>
      </p:sp>
      <p:sp>
        <p:nvSpPr>
          <p:cNvPr id="17444" name="Rounded Rectangle 17443"/>
          <p:cNvSpPr/>
          <p:nvPr/>
        </p:nvSpPr>
        <p:spPr>
          <a:xfrm>
            <a:off x="3749039" y="3950208"/>
            <a:ext cx="3063240" cy="384048"/>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5" name="Oval 17444"/>
          <p:cNvSpPr/>
          <p:nvPr/>
        </p:nvSpPr>
        <p:spPr>
          <a:xfrm>
            <a:off x="3867911" y="4087368"/>
            <a:ext cx="100584" cy="100584"/>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6" name="TextBox 17445"/>
          <p:cNvSpPr txBox="1"/>
          <p:nvPr/>
        </p:nvSpPr>
        <p:spPr>
          <a:xfrm>
            <a:off x="4041648" y="4023360"/>
            <a:ext cx="2194560" cy="237744"/>
          </a:xfrm>
          <a:prstGeom prst="rect">
            <a:avLst/>
          </a:prstGeom>
          <a:noFill/>
        </p:spPr>
        <p:txBody>
          <a:bodyPr wrap="square" lIns="0" rIns="0" tIns="0" bIns="0" anchor="t">
            <a:spAutoFit/>
          </a:bodyPr>
          <a:lstStyle/>
          <a:p>
            <a:pPr algn="l"/>
            <a:r>
              <a:rPr sz="1050" b="0" i="0">
                <a:solidFill>
                  <a:srgbClr val="11140F"/>
                </a:solidFill>
                <a:latin typeface="Calibri"/>
              </a:rPr>
              <a:t>Estimated transport cost</a:t>
            </a:r>
          </a:p>
        </p:txBody>
      </p:sp>
      <p:sp>
        <p:nvSpPr>
          <p:cNvPr id="17447" name="TextBox 17446"/>
          <p:cNvSpPr txBox="1"/>
          <p:nvPr/>
        </p:nvSpPr>
        <p:spPr>
          <a:xfrm>
            <a:off x="6217920" y="4041648"/>
            <a:ext cx="502920" cy="219456"/>
          </a:xfrm>
          <a:prstGeom prst="rect">
            <a:avLst/>
          </a:prstGeom>
          <a:noFill/>
        </p:spPr>
        <p:txBody>
          <a:bodyPr wrap="square" lIns="0" rIns="0" tIns="0" bIns="0" anchor="t">
            <a:spAutoFit/>
          </a:bodyPr>
          <a:lstStyle/>
          <a:p>
            <a:pPr algn="r"/>
            <a:r>
              <a:rPr sz="850" b="1" i="0">
                <a:solidFill>
                  <a:srgbClr val="B7791F"/>
                </a:solidFill>
                <a:latin typeface="Calibri"/>
              </a:rPr>
              <a:t>ranking</a:t>
            </a:r>
          </a:p>
        </p:txBody>
      </p:sp>
      <p:sp>
        <p:nvSpPr>
          <p:cNvPr id="17448" name="Rounded Rectangle 17447"/>
          <p:cNvSpPr/>
          <p:nvPr/>
        </p:nvSpPr>
        <p:spPr>
          <a:xfrm>
            <a:off x="502920" y="4425696"/>
            <a:ext cx="3063240" cy="384048"/>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9" name="Oval 17448"/>
          <p:cNvSpPr/>
          <p:nvPr/>
        </p:nvSpPr>
        <p:spPr>
          <a:xfrm>
            <a:off x="621792" y="4562856"/>
            <a:ext cx="100584" cy="100584"/>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0" name="TextBox 17449"/>
          <p:cNvSpPr txBox="1"/>
          <p:nvPr/>
        </p:nvSpPr>
        <p:spPr>
          <a:xfrm>
            <a:off x="795528" y="4498848"/>
            <a:ext cx="2194560" cy="237744"/>
          </a:xfrm>
          <a:prstGeom prst="rect">
            <a:avLst/>
          </a:prstGeom>
          <a:noFill/>
        </p:spPr>
        <p:txBody>
          <a:bodyPr wrap="square" lIns="0" rIns="0" tIns="0" bIns="0" anchor="t">
            <a:spAutoFit/>
          </a:bodyPr>
          <a:lstStyle/>
          <a:p>
            <a:pPr algn="l"/>
            <a:r>
              <a:rPr sz="1050" b="0" i="0">
                <a:solidFill>
                  <a:srgbClr val="11140F"/>
                </a:solidFill>
                <a:latin typeface="Calibri"/>
              </a:rPr>
              <a:t>Order priority</a:t>
            </a:r>
          </a:p>
        </p:txBody>
      </p:sp>
      <p:sp>
        <p:nvSpPr>
          <p:cNvPr id="17451" name="TextBox 17450"/>
          <p:cNvSpPr txBox="1"/>
          <p:nvPr/>
        </p:nvSpPr>
        <p:spPr>
          <a:xfrm>
            <a:off x="2971800" y="4517136"/>
            <a:ext cx="502920" cy="219456"/>
          </a:xfrm>
          <a:prstGeom prst="rect">
            <a:avLst/>
          </a:prstGeom>
          <a:noFill/>
        </p:spPr>
        <p:txBody>
          <a:bodyPr wrap="square" lIns="0" rIns="0" tIns="0" bIns="0" anchor="t">
            <a:spAutoFit/>
          </a:bodyPr>
          <a:lstStyle/>
          <a:p>
            <a:pPr algn="r"/>
            <a:r>
              <a:rPr sz="850" b="1" i="0">
                <a:solidFill>
                  <a:srgbClr val="B7791F"/>
                </a:solidFill>
                <a:latin typeface="Calibri"/>
              </a:rPr>
              <a:t>ranking</a:t>
            </a:r>
          </a:p>
        </p:txBody>
      </p:sp>
      <p:sp>
        <p:nvSpPr>
          <p:cNvPr id="17452" name="Rounded Rectangle 17451"/>
          <p:cNvSpPr/>
          <p:nvPr/>
        </p:nvSpPr>
        <p:spPr>
          <a:xfrm>
            <a:off x="3749039" y="4425696"/>
            <a:ext cx="3063240" cy="384048"/>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3" name="Oval 17452"/>
          <p:cNvSpPr/>
          <p:nvPr/>
        </p:nvSpPr>
        <p:spPr>
          <a:xfrm>
            <a:off x="3867911" y="4562856"/>
            <a:ext cx="100584" cy="100584"/>
          </a:xfrm>
          <a:prstGeom prst="ellipse">
            <a:avLst/>
          </a:prstGeom>
          <a:solidFill>
            <a:srgbClr val="6B8C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4" name="TextBox 17453"/>
          <p:cNvSpPr txBox="1"/>
          <p:nvPr/>
        </p:nvSpPr>
        <p:spPr>
          <a:xfrm>
            <a:off x="4041648" y="4498848"/>
            <a:ext cx="2194560" cy="237744"/>
          </a:xfrm>
          <a:prstGeom prst="rect">
            <a:avLst/>
          </a:prstGeom>
          <a:noFill/>
        </p:spPr>
        <p:txBody>
          <a:bodyPr wrap="square" lIns="0" rIns="0" tIns="0" bIns="0" anchor="t">
            <a:spAutoFit/>
          </a:bodyPr>
          <a:lstStyle/>
          <a:p>
            <a:pPr algn="l"/>
            <a:r>
              <a:rPr sz="1050" b="0" i="0">
                <a:solidFill>
                  <a:srgbClr val="11140F"/>
                </a:solidFill>
                <a:latin typeface="Calibri"/>
              </a:rPr>
              <a:t>Cancellations &amp; new orders</a:t>
            </a:r>
          </a:p>
        </p:txBody>
      </p:sp>
      <p:sp>
        <p:nvSpPr>
          <p:cNvPr id="17455" name="TextBox 17454"/>
          <p:cNvSpPr txBox="1"/>
          <p:nvPr/>
        </p:nvSpPr>
        <p:spPr>
          <a:xfrm>
            <a:off x="6217920" y="4517136"/>
            <a:ext cx="502920" cy="219456"/>
          </a:xfrm>
          <a:prstGeom prst="rect">
            <a:avLst/>
          </a:prstGeom>
          <a:noFill/>
        </p:spPr>
        <p:txBody>
          <a:bodyPr wrap="square" lIns="0" rIns="0" tIns="0" bIns="0" anchor="t">
            <a:spAutoFit/>
          </a:bodyPr>
          <a:lstStyle/>
          <a:p>
            <a:pPr algn="r"/>
            <a:r>
              <a:rPr sz="850" b="1" i="0">
                <a:solidFill>
                  <a:srgbClr val="6B8CAE"/>
                </a:solidFill>
                <a:latin typeface="Calibri"/>
              </a:rPr>
              <a:t>replan</a:t>
            </a:r>
          </a:p>
        </p:txBody>
      </p:sp>
      <p:sp>
        <p:nvSpPr>
          <p:cNvPr id="17456" name="Rounded Rectangle 17455"/>
          <p:cNvSpPr/>
          <p:nvPr/>
        </p:nvSpPr>
        <p:spPr>
          <a:xfrm>
            <a:off x="7223760" y="2743200"/>
            <a:ext cx="4480560" cy="3127248"/>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57" name="TextBox 17456"/>
          <p:cNvSpPr txBox="1"/>
          <p:nvPr/>
        </p:nvSpPr>
        <p:spPr>
          <a:xfrm>
            <a:off x="7461504" y="2907792"/>
            <a:ext cx="4023360" cy="201168"/>
          </a:xfrm>
          <a:prstGeom prst="rect">
            <a:avLst/>
          </a:prstGeom>
          <a:noFill/>
        </p:spPr>
        <p:txBody>
          <a:bodyPr wrap="square" lIns="0" rIns="0" tIns="0" bIns="0" anchor="t">
            <a:spAutoFit/>
          </a:bodyPr>
          <a:lstStyle/>
          <a:p>
            <a:pPr algn="l"/>
            <a:r>
              <a:rPr sz="900" b="1" i="0" spc="140">
                <a:solidFill>
                  <a:srgbClr val="657062"/>
                </a:solidFill>
                <a:latin typeface="Calibri"/>
              </a:rPr>
              <a:t>BUILT AND RUNNING</a:t>
            </a:r>
          </a:p>
        </p:txBody>
      </p:sp>
      <p:sp>
        <p:nvSpPr>
          <p:cNvPr id="17458" name="TextBox 17457"/>
          <p:cNvSpPr txBox="1"/>
          <p:nvPr/>
        </p:nvSpPr>
        <p:spPr>
          <a:xfrm>
            <a:off x="7461504" y="3163824"/>
            <a:ext cx="4023360" cy="256032"/>
          </a:xfrm>
          <a:prstGeom prst="rect">
            <a:avLst/>
          </a:prstGeom>
          <a:noFill/>
        </p:spPr>
        <p:txBody>
          <a:bodyPr wrap="square" lIns="0" rIns="0" tIns="0" bIns="0" anchor="t">
            <a:spAutoFit/>
          </a:bodyPr>
          <a:lstStyle/>
          <a:p>
            <a:pPr algn="l"/>
            <a:r>
              <a:rPr sz="1050" b="0" i="0">
                <a:solidFill>
                  <a:srgbClr val="11140F"/>
                </a:solidFill>
                <a:latin typeface="Calibri"/>
              </a:rPr>
              <a:t>•  Next.js 16 + TypeScript, server components</a:t>
            </a:r>
          </a:p>
        </p:txBody>
      </p:sp>
      <p:sp>
        <p:nvSpPr>
          <p:cNvPr id="17459" name="TextBox 17458"/>
          <p:cNvSpPr txBox="1"/>
          <p:nvPr/>
        </p:nvSpPr>
        <p:spPr>
          <a:xfrm>
            <a:off x="7461504" y="3438144"/>
            <a:ext cx="4023360" cy="256032"/>
          </a:xfrm>
          <a:prstGeom prst="rect">
            <a:avLst/>
          </a:prstGeom>
          <a:noFill/>
        </p:spPr>
        <p:txBody>
          <a:bodyPr wrap="square" lIns="0" rIns="0" tIns="0" bIns="0" anchor="t">
            <a:spAutoFit/>
          </a:bodyPr>
          <a:lstStyle/>
          <a:p>
            <a:pPr algn="l"/>
            <a:r>
              <a:rPr sz="1050" b="0" i="0">
                <a:solidFill>
                  <a:srgbClr val="11140F"/>
                </a:solidFill>
                <a:latin typeface="Calibri"/>
              </a:rPr>
              <a:t>•  PostgreSQL via Prisma, integer paise and grams</a:t>
            </a:r>
          </a:p>
        </p:txBody>
      </p:sp>
      <p:sp>
        <p:nvSpPr>
          <p:cNvPr id="17460" name="TextBox 17459"/>
          <p:cNvSpPr txBox="1"/>
          <p:nvPr/>
        </p:nvSpPr>
        <p:spPr>
          <a:xfrm>
            <a:off x="7461504" y="3712463"/>
            <a:ext cx="4023360" cy="256032"/>
          </a:xfrm>
          <a:prstGeom prst="rect">
            <a:avLst/>
          </a:prstGeom>
          <a:noFill/>
        </p:spPr>
        <p:txBody>
          <a:bodyPr wrap="square" lIns="0" rIns="0" tIns="0" bIns="0" anchor="t">
            <a:spAutoFit/>
          </a:bodyPr>
          <a:lstStyle/>
          <a:p>
            <a:pPr algn="l"/>
            <a:r>
              <a:rPr sz="1050" b="0" i="0">
                <a:solidFill>
                  <a:srgbClr val="11140F"/>
                </a:solidFill>
                <a:latin typeface="Calibri"/>
              </a:rPr>
              <a:t>•  Pooling, routing and forecasting in one codebase</a:t>
            </a:r>
          </a:p>
        </p:txBody>
      </p:sp>
      <p:sp>
        <p:nvSpPr>
          <p:cNvPr id="17461" name="TextBox 17460"/>
          <p:cNvSpPr txBox="1"/>
          <p:nvPr/>
        </p:nvSpPr>
        <p:spPr>
          <a:xfrm>
            <a:off x="7461504" y="3986783"/>
            <a:ext cx="4023360" cy="256032"/>
          </a:xfrm>
          <a:prstGeom prst="rect">
            <a:avLst/>
          </a:prstGeom>
          <a:noFill/>
        </p:spPr>
        <p:txBody>
          <a:bodyPr wrap="square" lIns="0" rIns="0" tIns="0" bIns="0" anchor="t">
            <a:spAutoFit/>
          </a:bodyPr>
          <a:lstStyle/>
          <a:p>
            <a:pPr algn="l"/>
            <a:r>
              <a:rPr sz="1050" b="0" i="0">
                <a:solidFill>
                  <a:srgbClr val="11140F"/>
                </a:solidFill>
                <a:latin typeface="Calibri"/>
              </a:rPr>
              <a:t>•  Live mandi prices from data.gov.in, daily cron</a:t>
            </a:r>
          </a:p>
        </p:txBody>
      </p:sp>
      <p:sp>
        <p:nvSpPr>
          <p:cNvPr id="17462" name="TextBox 17461"/>
          <p:cNvSpPr txBox="1"/>
          <p:nvPr/>
        </p:nvSpPr>
        <p:spPr>
          <a:xfrm>
            <a:off x="7461504" y="4261104"/>
            <a:ext cx="4023360" cy="256032"/>
          </a:xfrm>
          <a:prstGeom prst="rect">
            <a:avLst/>
          </a:prstGeom>
          <a:noFill/>
        </p:spPr>
        <p:txBody>
          <a:bodyPr wrap="square" lIns="0" rIns="0" tIns="0" bIns="0" anchor="t">
            <a:spAutoFit/>
          </a:bodyPr>
          <a:lstStyle/>
          <a:p>
            <a:pPr algn="l"/>
            <a:r>
              <a:rPr sz="1050" b="0" i="0">
                <a:solidFill>
                  <a:srgbClr val="11140F"/>
                </a:solidFill>
                <a:latin typeface="Calibri"/>
              </a:rPr>
              <a:t>•  Deployed on Vercel with Neon Postgres</a:t>
            </a:r>
          </a:p>
        </p:txBody>
      </p:sp>
      <p:sp>
        <p:nvSpPr>
          <p:cNvPr id="17463" name="TextBox 17462"/>
          <p:cNvSpPr txBox="1"/>
          <p:nvPr/>
        </p:nvSpPr>
        <p:spPr>
          <a:xfrm>
            <a:off x="7461504" y="4626864"/>
            <a:ext cx="4023360" cy="201168"/>
          </a:xfrm>
          <a:prstGeom prst="rect">
            <a:avLst/>
          </a:prstGeom>
          <a:noFill/>
        </p:spPr>
        <p:txBody>
          <a:bodyPr wrap="square" lIns="0" rIns="0" tIns="0" bIns="0" anchor="t">
            <a:spAutoFit/>
          </a:bodyPr>
          <a:lstStyle/>
          <a:p>
            <a:pPr algn="l"/>
            <a:r>
              <a:rPr sz="900" b="1" i="0" spc="140">
                <a:solidFill>
                  <a:srgbClr val="657062"/>
                </a:solidFill>
                <a:latin typeface="Calibri"/>
              </a:rPr>
              <a:t>RULES THE CODE ENFORCES</a:t>
            </a:r>
          </a:p>
        </p:txBody>
      </p:sp>
      <p:sp>
        <p:nvSpPr>
          <p:cNvPr id="17464" name="TextBox 17463"/>
          <p:cNvSpPr txBox="1"/>
          <p:nvPr/>
        </p:nvSpPr>
        <p:spPr>
          <a:xfrm>
            <a:off x="7461504" y="4882896"/>
            <a:ext cx="4023360" cy="256032"/>
          </a:xfrm>
          <a:prstGeom prst="rect">
            <a:avLst/>
          </a:prstGeom>
          <a:noFill/>
        </p:spPr>
        <p:txBody>
          <a:bodyPr wrap="square" lIns="0" rIns="0" tIns="0" bIns="0" anchor="t">
            <a:spAutoFit/>
          </a:bodyPr>
          <a:lstStyle/>
          <a:p>
            <a:pPr algn="l"/>
            <a:r>
              <a:rPr sz="1050" b="0" i="0">
                <a:solidFill>
                  <a:srgbClr val="11140F"/>
                </a:solidFill>
                <a:latin typeface="Calibri"/>
              </a:rPr>
              <a:t>•  A run under 70% fill is held, not dispatched</a:t>
            </a:r>
          </a:p>
        </p:txBody>
      </p:sp>
      <p:sp>
        <p:nvSpPr>
          <p:cNvPr id="17465" name="TextBox 17464"/>
          <p:cNvSpPr txBox="1"/>
          <p:nvPr/>
        </p:nvSpPr>
        <p:spPr>
          <a:xfrm>
            <a:off x="7461504" y="5157216"/>
            <a:ext cx="4023360" cy="256032"/>
          </a:xfrm>
          <a:prstGeom prst="rect">
            <a:avLst/>
          </a:prstGeom>
          <a:noFill/>
        </p:spPr>
        <p:txBody>
          <a:bodyPr wrap="square" lIns="0" rIns="0" tIns="0" bIns="0" anchor="t">
            <a:spAutoFit/>
          </a:bodyPr>
          <a:lstStyle/>
          <a:p>
            <a:pPr algn="l"/>
            <a:r>
              <a:rPr sz="1050" b="0" i="0">
                <a:solidFill>
                  <a:srgbClr val="11140F"/>
                </a:solidFill>
                <a:latin typeface="Calibri"/>
              </a:rPr>
              <a:t>•  Reservations are atomic: no kilogram sells twice</a:t>
            </a:r>
          </a:p>
        </p:txBody>
      </p:sp>
      <p:sp>
        <p:nvSpPr>
          <p:cNvPr id="17466" name="TextBox 17465"/>
          <p:cNvSpPr txBox="1"/>
          <p:nvPr/>
        </p:nvSpPr>
        <p:spPr>
          <a:xfrm>
            <a:off x="7461504" y="5431536"/>
            <a:ext cx="4023360" cy="256032"/>
          </a:xfrm>
          <a:prstGeom prst="rect">
            <a:avLst/>
          </a:prstGeom>
          <a:noFill/>
        </p:spPr>
        <p:txBody>
          <a:bodyPr wrap="square" lIns="0" rIns="0" tIns="0" bIns="0" anchor="t">
            <a:spAutoFit/>
          </a:bodyPr>
          <a:lstStyle/>
          <a:p>
            <a:pPr algn="l"/>
            <a:r>
              <a:rPr sz="1050" b="0" i="0">
                <a:solidFill>
                  <a:srgbClr val="11140F"/>
                </a:solidFill>
                <a:latin typeface="Calibri"/>
              </a:rPr>
              <a:t>•  A forecast shows only if it beats a naive baseline</a:t>
            </a:r>
          </a:p>
        </p:txBody>
      </p:sp>
      <p:sp>
        <p:nvSpPr>
          <p:cNvPr id="17467" name="TextBox 17466"/>
          <p:cNvSpPr txBox="1"/>
          <p:nvPr/>
        </p:nvSpPr>
        <p:spPr>
          <a:xfrm>
            <a:off x="502920" y="5961888"/>
            <a:ext cx="11247120" cy="274320"/>
          </a:xfrm>
          <a:prstGeom prst="rect">
            <a:avLst/>
          </a:prstGeom>
          <a:noFill/>
        </p:spPr>
        <p:txBody>
          <a:bodyPr wrap="square" lIns="0" rIns="0" tIns="0" bIns="0" anchor="t">
            <a:spAutoFit/>
          </a:bodyPr>
          <a:lstStyle/>
          <a:p>
            <a:pPr algn="l"/>
            <a:r>
              <a:rPr sz="850" b="0" i="1">
                <a:solidFill>
                  <a:srgbClr val="657062"/>
                </a:solidFill>
                <a:latin typeface="Calibri"/>
              </a:rPr>
              <a:t>Routing returns a feasible nearest-neighbour plan compared against a fixed-order baseline over the same stops. We do not claim a global optimum.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097280"/>
            <a:ext cx="11247120" cy="365760"/>
          </a:xfrm>
          <a:prstGeom prst="rect">
            <a:avLst/>
          </a:prstGeom>
          <a:noFill/>
        </p:spPr>
        <p:txBody>
          <a:bodyPr wrap="square" lIns="0" rIns="0" tIns="0" bIns="0" anchor="t">
            <a:spAutoFit/>
          </a:bodyPr>
          <a:lstStyle/>
          <a:p>
            <a:pPr algn="l"/>
            <a:r>
              <a:rPr sz="1700" b="1" i="0">
                <a:solidFill>
                  <a:srgbClr val="11140F"/>
                </a:solidFill>
                <a:latin typeface="Cambria"/>
              </a:rPr>
              <a:t>Return loads, fill thresholds, and what can go wrong</a:t>
            </a:r>
          </a:p>
        </p:txBody>
      </p:sp>
      <p:sp>
        <p:nvSpPr>
          <p:cNvPr id="17411" name="Rounded Rectangle 17410"/>
          <p:cNvSpPr/>
          <p:nvPr/>
        </p:nvSpPr>
        <p:spPr>
          <a:xfrm>
            <a:off x="502920" y="1517904"/>
            <a:ext cx="5852160" cy="2926080"/>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749808" y="1682496"/>
            <a:ext cx="5394960" cy="201168"/>
          </a:xfrm>
          <a:prstGeom prst="rect">
            <a:avLst/>
          </a:prstGeom>
          <a:noFill/>
        </p:spPr>
        <p:txBody>
          <a:bodyPr wrap="square" lIns="0" rIns="0" tIns="0" bIns="0" anchor="t">
            <a:spAutoFit/>
          </a:bodyPr>
          <a:lstStyle/>
          <a:p>
            <a:pPr algn="l"/>
            <a:r>
              <a:rPr sz="900" b="1" i="0" spc="140">
                <a:solidFill>
                  <a:srgbClr val="657062"/>
                </a:solidFill>
                <a:latin typeface="Calibri"/>
              </a:rPr>
              <a:t>RETURN LOADS — WHY THE EMPTY HALF OF A TRIP MATTERS</a:t>
            </a:r>
          </a:p>
        </p:txBody>
      </p:sp>
      <p:sp>
        <p:nvSpPr>
          <p:cNvPr id="17413" name="Oval 17412"/>
          <p:cNvSpPr/>
          <p:nvPr/>
        </p:nvSpPr>
        <p:spPr>
          <a:xfrm>
            <a:off x="868680" y="2103120"/>
            <a:ext cx="1143000" cy="1143000"/>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Raigad
farms</a:t>
            </a:r>
          </a:p>
        </p:txBody>
      </p:sp>
      <p:sp>
        <p:nvSpPr>
          <p:cNvPr id="17414" name="Oval 17413"/>
          <p:cNvSpPr/>
          <p:nvPr/>
        </p:nvSpPr>
        <p:spPr>
          <a:xfrm>
            <a:off x="4846320" y="2103120"/>
            <a:ext cx="1143000" cy="1143000"/>
          </a:xfrm>
          <a:prstGeom prst="ellipse">
            <a:avLst/>
          </a:prstGeom>
          <a:solidFill>
            <a:srgbClr val="11140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1">
                <a:solidFill>
                  <a:srgbClr val="FFFFFF"/>
                </a:solidFill>
                <a:latin typeface="Calibri"/>
              </a:rPr>
              <a:t>Navi Mumbai
cluster</a:t>
            </a:r>
          </a:p>
        </p:txBody>
      </p:sp>
      <p:sp>
        <p:nvSpPr>
          <p:cNvPr id="17415" name="Rectangle 17414"/>
          <p:cNvSpPr/>
          <p:nvPr/>
        </p:nvSpPr>
        <p:spPr>
          <a:xfrm>
            <a:off x="2121408" y="2340864"/>
            <a:ext cx="2560320" cy="237744"/>
          </a:xfrm>
          <a:prstGeom prst="rect">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FFFFFF"/>
                </a:solidFill>
                <a:latin typeface="Calibri"/>
              </a:rPr>
              <a:t>loaded 747.7 kg  →</a:t>
            </a:r>
          </a:p>
        </p:txBody>
      </p:sp>
      <p:sp>
        <p:nvSpPr>
          <p:cNvPr id="17416" name="Rectangle 17415"/>
          <p:cNvSpPr/>
          <p:nvPr/>
        </p:nvSpPr>
        <p:spPr>
          <a:xfrm>
            <a:off x="2121408" y="2798064"/>
            <a:ext cx="2560320" cy="237744"/>
          </a:xfrm>
          <a:prstGeom prst="rect">
            <a:avLst/>
          </a:prstGeom>
          <a:solidFill>
            <a:srgbClr val="D9E2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950" b="1">
                <a:solidFill>
                  <a:srgbClr val="657062"/>
                </a:solidFill>
                <a:latin typeface="Calibri"/>
              </a:rPr>
              <a:t>←  returns empty today</a:t>
            </a:r>
          </a:p>
        </p:txBody>
      </p:sp>
      <p:sp>
        <p:nvSpPr>
          <p:cNvPr id="17417" name="TextBox 17416"/>
          <p:cNvSpPr txBox="1"/>
          <p:nvPr/>
        </p:nvSpPr>
        <p:spPr>
          <a:xfrm>
            <a:off x="749808" y="3346704"/>
            <a:ext cx="5394960" cy="960120"/>
          </a:xfrm>
          <a:prstGeom prst="rect">
            <a:avLst/>
          </a:prstGeom>
          <a:noFill/>
        </p:spPr>
        <p:txBody>
          <a:bodyPr wrap="square" lIns="0" rIns="0" tIns="0" bIns="0" anchor="t">
            <a:spAutoFit/>
          </a:bodyPr>
          <a:lstStyle/>
          <a:p>
            <a:pPr algn="l">
              <a:lnSpc>
                <a:spcPts val="1200"/>
              </a:lnSpc>
            </a:pPr>
            <a:r>
              <a:rPr sz="950" b="0" i="0">
                <a:solidFill>
                  <a:srgbClr val="11140F"/>
                </a:solidFill>
                <a:latin typeface="Calibri"/>
              </a:rPr>
              <a:t>A transporter who brings vegetables into the city drives home with an empty vehicle, and that wasted half is already priced into what he charges us. A return load is any cargo he can carry on the way back — seed, fertiliser, packaging, an FPO's supplies — matched to the corridor and time window he has already committed to. He accepts or declines it himself, and the quoted payment must still cover the real detour: empty space does not automatically mean a cheaper trip.</a:t>
            </a:r>
          </a:p>
        </p:txBody>
      </p:sp>
      <p:sp>
        <p:nvSpPr>
          <p:cNvPr id="17418" name="TextBox 17417"/>
          <p:cNvSpPr txBox="1"/>
          <p:nvPr/>
        </p:nvSpPr>
        <p:spPr>
          <a:xfrm>
            <a:off x="502920" y="4572000"/>
            <a:ext cx="1417320" cy="329184"/>
          </a:xfrm>
          <a:prstGeom prst="rect">
            <a:avLst/>
          </a:prstGeom>
          <a:noFill/>
        </p:spPr>
        <p:txBody>
          <a:bodyPr wrap="square" lIns="0" rIns="0" tIns="0" bIns="0" anchor="t">
            <a:spAutoFit/>
          </a:bodyPr>
          <a:lstStyle/>
          <a:p>
            <a:pPr algn="l"/>
            <a:r>
              <a:rPr sz="1800" b="1" i="0">
                <a:solidFill>
                  <a:srgbClr val="2F6B3A"/>
                </a:solidFill>
                <a:latin typeface="Cambria"/>
              </a:rPr>
              <a:t>123</a:t>
            </a:r>
          </a:p>
        </p:txBody>
      </p:sp>
      <p:sp>
        <p:nvSpPr>
          <p:cNvPr id="17419" name="TextBox 17418"/>
          <p:cNvSpPr txBox="1"/>
          <p:nvPr/>
        </p:nvSpPr>
        <p:spPr>
          <a:xfrm>
            <a:off x="502920" y="4919472"/>
            <a:ext cx="1417320" cy="365760"/>
          </a:xfrm>
          <a:prstGeom prst="rect">
            <a:avLst/>
          </a:prstGeom>
          <a:noFill/>
        </p:spPr>
        <p:txBody>
          <a:bodyPr wrap="square" lIns="0" rIns="0" tIns="0" bIns="0" anchor="t">
            <a:spAutoFit/>
          </a:bodyPr>
          <a:lstStyle/>
          <a:p>
            <a:pPr algn="l"/>
            <a:r>
              <a:rPr sz="900" b="0" i="0">
                <a:solidFill>
                  <a:srgbClr val="657062"/>
                </a:solidFill>
                <a:latin typeface="Calibri"/>
              </a:rPr>
              <a:t>orders pooled</a:t>
            </a:r>
          </a:p>
        </p:txBody>
      </p:sp>
      <p:sp>
        <p:nvSpPr>
          <p:cNvPr id="17420" name="TextBox 17419"/>
          <p:cNvSpPr txBox="1"/>
          <p:nvPr/>
        </p:nvSpPr>
        <p:spPr>
          <a:xfrm>
            <a:off x="2002536" y="4572000"/>
            <a:ext cx="1417320" cy="329184"/>
          </a:xfrm>
          <a:prstGeom prst="rect">
            <a:avLst/>
          </a:prstGeom>
          <a:noFill/>
        </p:spPr>
        <p:txBody>
          <a:bodyPr wrap="square" lIns="0" rIns="0" tIns="0" bIns="0" anchor="t">
            <a:spAutoFit/>
          </a:bodyPr>
          <a:lstStyle/>
          <a:p>
            <a:pPr algn="l"/>
            <a:r>
              <a:rPr sz="1800" b="1" i="0">
                <a:solidFill>
                  <a:srgbClr val="2F6B3A"/>
                </a:solidFill>
                <a:latin typeface="Cambria"/>
              </a:rPr>
              <a:t>747.7 kg</a:t>
            </a:r>
          </a:p>
        </p:txBody>
      </p:sp>
      <p:sp>
        <p:nvSpPr>
          <p:cNvPr id="17421" name="TextBox 17420"/>
          <p:cNvSpPr txBox="1"/>
          <p:nvPr/>
        </p:nvSpPr>
        <p:spPr>
          <a:xfrm>
            <a:off x="2002536" y="4919472"/>
            <a:ext cx="1417320" cy="365760"/>
          </a:xfrm>
          <a:prstGeom prst="rect">
            <a:avLst/>
          </a:prstGeom>
          <a:noFill/>
        </p:spPr>
        <p:txBody>
          <a:bodyPr wrap="square" lIns="0" rIns="0" tIns="0" bIns="0" anchor="t">
            <a:spAutoFit/>
          </a:bodyPr>
          <a:lstStyle/>
          <a:p>
            <a:pPr algn="l"/>
            <a:r>
              <a:rPr sz="900" b="0" i="0">
                <a:solidFill>
                  <a:srgbClr val="657062"/>
                </a:solidFill>
                <a:latin typeface="Calibri"/>
              </a:rPr>
              <a:t>on a 750 kg tempo</a:t>
            </a:r>
          </a:p>
        </p:txBody>
      </p:sp>
      <p:sp>
        <p:nvSpPr>
          <p:cNvPr id="17422" name="TextBox 17421"/>
          <p:cNvSpPr txBox="1"/>
          <p:nvPr/>
        </p:nvSpPr>
        <p:spPr>
          <a:xfrm>
            <a:off x="3502152" y="4572000"/>
            <a:ext cx="1417320" cy="329184"/>
          </a:xfrm>
          <a:prstGeom prst="rect">
            <a:avLst/>
          </a:prstGeom>
          <a:noFill/>
        </p:spPr>
        <p:txBody>
          <a:bodyPr wrap="square" lIns="0" rIns="0" tIns="0" bIns="0" anchor="t">
            <a:spAutoFit/>
          </a:bodyPr>
          <a:lstStyle/>
          <a:p>
            <a:pPr algn="l"/>
            <a:r>
              <a:rPr sz="1800" b="1" i="0">
                <a:solidFill>
                  <a:srgbClr val="2F6B3A"/>
                </a:solidFill>
                <a:latin typeface="Cambria"/>
              </a:rPr>
              <a:t>5</a:t>
            </a:r>
          </a:p>
        </p:txBody>
      </p:sp>
      <p:sp>
        <p:nvSpPr>
          <p:cNvPr id="17423" name="TextBox 17422"/>
          <p:cNvSpPr txBox="1"/>
          <p:nvPr/>
        </p:nvSpPr>
        <p:spPr>
          <a:xfrm>
            <a:off x="3502152" y="4919472"/>
            <a:ext cx="1417320" cy="365760"/>
          </a:xfrm>
          <a:prstGeom prst="rect">
            <a:avLst/>
          </a:prstGeom>
          <a:noFill/>
        </p:spPr>
        <p:txBody>
          <a:bodyPr wrap="square" lIns="0" rIns="0" tIns="0" bIns="0" anchor="t">
            <a:spAutoFit/>
          </a:bodyPr>
          <a:lstStyle/>
          <a:p>
            <a:pPr algn="l"/>
            <a:r>
              <a:rPr sz="900" b="0" i="0">
                <a:solidFill>
                  <a:srgbClr val="657062"/>
                </a:solidFill>
                <a:latin typeface="Calibri"/>
              </a:rPr>
              <a:t>stops: 4 farms, 1 drop</a:t>
            </a:r>
          </a:p>
        </p:txBody>
      </p:sp>
      <p:sp>
        <p:nvSpPr>
          <p:cNvPr id="17424" name="TextBox 17423"/>
          <p:cNvSpPr txBox="1"/>
          <p:nvPr/>
        </p:nvSpPr>
        <p:spPr>
          <a:xfrm>
            <a:off x="5001768" y="4572000"/>
            <a:ext cx="1417320" cy="329184"/>
          </a:xfrm>
          <a:prstGeom prst="rect">
            <a:avLst/>
          </a:prstGeom>
          <a:noFill/>
        </p:spPr>
        <p:txBody>
          <a:bodyPr wrap="square" lIns="0" rIns="0" tIns="0" bIns="0" anchor="t">
            <a:spAutoFit/>
          </a:bodyPr>
          <a:lstStyle/>
          <a:p>
            <a:pPr algn="l"/>
            <a:r>
              <a:rPr sz="1800" b="1" i="0">
                <a:solidFill>
                  <a:srgbClr val="2F6B3A"/>
                </a:solidFill>
                <a:latin typeface="Cambria"/>
              </a:rPr>
              <a:t>₹5.37</a:t>
            </a:r>
          </a:p>
        </p:txBody>
      </p:sp>
      <p:sp>
        <p:nvSpPr>
          <p:cNvPr id="17425" name="TextBox 17424"/>
          <p:cNvSpPr txBox="1"/>
          <p:nvPr/>
        </p:nvSpPr>
        <p:spPr>
          <a:xfrm>
            <a:off x="5001768" y="4919472"/>
            <a:ext cx="1417320" cy="365760"/>
          </a:xfrm>
          <a:prstGeom prst="rect">
            <a:avLst/>
          </a:prstGeom>
          <a:noFill/>
        </p:spPr>
        <p:txBody>
          <a:bodyPr wrap="square" lIns="0" rIns="0" tIns="0" bIns="0" anchor="t">
            <a:spAutoFit/>
          </a:bodyPr>
          <a:lstStyle/>
          <a:p>
            <a:pPr algn="l"/>
            <a:r>
              <a:rPr sz="900" b="0" i="0">
                <a:solidFill>
                  <a:srgbClr val="657062"/>
                </a:solidFill>
                <a:latin typeface="Calibri"/>
              </a:rPr>
              <a:t>transport per kg</a:t>
            </a:r>
          </a:p>
        </p:txBody>
      </p:sp>
      <p:sp>
        <p:nvSpPr>
          <p:cNvPr id="17426" name="TextBox 17425"/>
          <p:cNvSpPr txBox="1"/>
          <p:nvPr/>
        </p:nvSpPr>
        <p:spPr>
          <a:xfrm>
            <a:off x="502920" y="5340096"/>
            <a:ext cx="5852160" cy="237744"/>
          </a:xfrm>
          <a:prstGeom prst="rect">
            <a:avLst/>
          </a:prstGeom>
          <a:noFill/>
        </p:spPr>
        <p:txBody>
          <a:bodyPr wrap="square" lIns="0" rIns="0" tIns="0" bIns="0" anchor="t">
            <a:spAutoFit/>
          </a:bodyPr>
          <a:lstStyle/>
          <a:p>
            <a:pPr algn="l"/>
            <a:r>
              <a:rPr sz="950" b="0" i="1">
                <a:solidFill>
                  <a:srgbClr val="657062"/>
                </a:solidFill>
                <a:latin typeface="Calibri"/>
              </a:rPr>
              <a:t>One real run, planned by the live system</a:t>
            </a:r>
          </a:p>
        </p:txBody>
      </p:sp>
      <p:sp>
        <p:nvSpPr>
          <p:cNvPr id="17427" name="TextBox 17426"/>
          <p:cNvSpPr txBox="1"/>
          <p:nvPr/>
        </p:nvSpPr>
        <p:spPr>
          <a:xfrm>
            <a:off x="6675120" y="1517904"/>
            <a:ext cx="5029200" cy="201168"/>
          </a:xfrm>
          <a:prstGeom prst="rect">
            <a:avLst/>
          </a:prstGeom>
          <a:noFill/>
        </p:spPr>
        <p:txBody>
          <a:bodyPr wrap="square" lIns="0" rIns="0" tIns="0" bIns="0" anchor="t">
            <a:spAutoFit/>
          </a:bodyPr>
          <a:lstStyle/>
          <a:p>
            <a:pPr algn="l"/>
            <a:r>
              <a:rPr sz="900" b="1" i="0" spc="140">
                <a:solidFill>
                  <a:srgbClr val="657062"/>
                </a:solidFill>
                <a:latin typeface="Calibri"/>
              </a:rPr>
              <a:t>RISK, AND WHAT IS BUILT AGAINST IT</a:t>
            </a:r>
          </a:p>
        </p:txBody>
      </p:sp>
      <p:sp>
        <p:nvSpPr>
          <p:cNvPr id="17428" name="Rounded Rectangle 17427"/>
          <p:cNvSpPr/>
          <p:nvPr/>
        </p:nvSpPr>
        <p:spPr>
          <a:xfrm>
            <a:off x="6675120" y="1773936"/>
            <a:ext cx="5029200" cy="877824"/>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9" name="Oval 17428"/>
          <p:cNvSpPr/>
          <p:nvPr/>
        </p:nvSpPr>
        <p:spPr>
          <a:xfrm>
            <a:off x="6821424" y="1938528"/>
            <a:ext cx="237744" cy="237744"/>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7430" name="TextBox 17429"/>
          <p:cNvSpPr txBox="1"/>
          <p:nvPr/>
        </p:nvSpPr>
        <p:spPr>
          <a:xfrm>
            <a:off x="7150608" y="1883664"/>
            <a:ext cx="4389120" cy="219456"/>
          </a:xfrm>
          <a:prstGeom prst="rect">
            <a:avLst/>
          </a:prstGeom>
          <a:noFill/>
        </p:spPr>
        <p:txBody>
          <a:bodyPr wrap="square" lIns="0" rIns="0" tIns="0" bIns="0" anchor="t">
            <a:spAutoFit/>
          </a:bodyPr>
          <a:lstStyle/>
          <a:p>
            <a:pPr algn="l"/>
            <a:r>
              <a:rPr sz="1100" b="1" i="0">
                <a:solidFill>
                  <a:srgbClr val="11140F"/>
                </a:solidFill>
                <a:latin typeface="Calibri"/>
              </a:rPr>
              <a:t>Too few orders in one locality</a:t>
            </a:r>
          </a:p>
        </p:txBody>
      </p:sp>
      <p:sp>
        <p:nvSpPr>
          <p:cNvPr id="17431" name="TextBox 17430"/>
          <p:cNvSpPr txBox="1"/>
          <p:nvPr/>
        </p:nvSpPr>
        <p:spPr>
          <a:xfrm>
            <a:off x="7150608" y="2103120"/>
            <a:ext cx="4343400" cy="502920"/>
          </a:xfrm>
          <a:prstGeom prst="rect">
            <a:avLst/>
          </a:prstGeom>
          <a:noFill/>
        </p:spPr>
        <p:txBody>
          <a:bodyPr wrap="square" lIns="0" rIns="0" tIns="0" bIns="0" anchor="t">
            <a:spAutoFit/>
          </a:bodyPr>
          <a:lstStyle/>
          <a:p>
            <a:pPr algn="l">
              <a:lnSpc>
                <a:spcPts val="1150"/>
              </a:lnSpc>
            </a:pPr>
            <a:r>
              <a:rPr sz="950" b="0" i="0">
                <a:solidFill>
                  <a:srgbClr val="657062"/>
                </a:solidFill>
                <a:latin typeface="Calibri"/>
              </a:rPr>
              <a:t>The run is held below 70% fill and rolls to the next window. A public invite page shows neighbours the exact shortfall.</a:t>
            </a:r>
          </a:p>
        </p:txBody>
      </p:sp>
      <p:sp>
        <p:nvSpPr>
          <p:cNvPr id="17432" name="Rounded Rectangle 17431"/>
          <p:cNvSpPr/>
          <p:nvPr/>
        </p:nvSpPr>
        <p:spPr>
          <a:xfrm>
            <a:off x="6675120" y="2761488"/>
            <a:ext cx="5029200" cy="877824"/>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3" name="Oval 17432"/>
          <p:cNvSpPr/>
          <p:nvPr/>
        </p:nvSpPr>
        <p:spPr>
          <a:xfrm>
            <a:off x="6821424" y="2926080"/>
            <a:ext cx="237744" cy="237744"/>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7434" name="TextBox 17433"/>
          <p:cNvSpPr txBox="1"/>
          <p:nvPr/>
        </p:nvSpPr>
        <p:spPr>
          <a:xfrm>
            <a:off x="7150608" y="2871216"/>
            <a:ext cx="4389120" cy="219456"/>
          </a:xfrm>
          <a:prstGeom prst="rect">
            <a:avLst/>
          </a:prstGeom>
          <a:noFill/>
        </p:spPr>
        <p:txBody>
          <a:bodyPr wrap="square" lIns="0" rIns="0" tIns="0" bIns="0" anchor="t">
            <a:spAutoFit/>
          </a:bodyPr>
          <a:lstStyle/>
          <a:p>
            <a:pPr algn="l"/>
            <a:r>
              <a:rPr sz="1100" b="1" i="0">
                <a:solidFill>
                  <a:srgbClr val="11140F"/>
                </a:solidFill>
                <a:latin typeface="Calibri"/>
              </a:rPr>
              <a:t>Produce spoils in transit</a:t>
            </a:r>
          </a:p>
        </p:txBody>
      </p:sp>
      <p:sp>
        <p:nvSpPr>
          <p:cNvPr id="17435" name="TextBox 17434"/>
          <p:cNvSpPr txBox="1"/>
          <p:nvPr/>
        </p:nvSpPr>
        <p:spPr>
          <a:xfrm>
            <a:off x="7150608" y="3090672"/>
            <a:ext cx="4343400" cy="502920"/>
          </a:xfrm>
          <a:prstGeom prst="rect">
            <a:avLst/>
          </a:prstGeom>
          <a:noFill/>
        </p:spPr>
        <p:txBody>
          <a:bodyPr wrap="square" lIns="0" rIns="0" tIns="0" bIns="0" anchor="t">
            <a:spAutoFit/>
          </a:bodyPr>
          <a:lstStyle/>
          <a:p>
            <a:pPr algn="l">
              <a:lnSpc>
                <a:spcPts val="1150"/>
              </a:lnSpc>
            </a:pPr>
            <a:r>
              <a:rPr sz="950" b="0" i="0">
                <a:solidFill>
                  <a:srgbClr val="657062"/>
                </a:solidFill>
                <a:latin typeface="Calibri"/>
              </a:rPr>
              <a:t>Freshness is a hard constraint per commodity; an over-age lot is never loaded on an unrefrigerated run.</a:t>
            </a:r>
          </a:p>
        </p:txBody>
      </p:sp>
      <p:sp>
        <p:nvSpPr>
          <p:cNvPr id="17436" name="Rounded Rectangle 17435"/>
          <p:cNvSpPr/>
          <p:nvPr/>
        </p:nvSpPr>
        <p:spPr>
          <a:xfrm>
            <a:off x="6675120" y="3749039"/>
            <a:ext cx="5029200" cy="877824"/>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7" name="Oval 17436"/>
          <p:cNvSpPr/>
          <p:nvPr/>
        </p:nvSpPr>
        <p:spPr>
          <a:xfrm>
            <a:off x="6821424" y="3913631"/>
            <a:ext cx="237744" cy="237744"/>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7438" name="TextBox 17437"/>
          <p:cNvSpPr txBox="1"/>
          <p:nvPr/>
        </p:nvSpPr>
        <p:spPr>
          <a:xfrm>
            <a:off x="7150608" y="3858768"/>
            <a:ext cx="4389120" cy="219456"/>
          </a:xfrm>
          <a:prstGeom prst="rect">
            <a:avLst/>
          </a:prstGeom>
          <a:noFill/>
        </p:spPr>
        <p:txBody>
          <a:bodyPr wrap="square" lIns="0" rIns="0" tIns="0" bIns="0" anchor="t">
            <a:spAutoFit/>
          </a:bodyPr>
          <a:lstStyle/>
          <a:p>
            <a:pPr algn="l"/>
            <a:r>
              <a:rPr sz="1100" b="1" i="0">
                <a:solidFill>
                  <a:srgbClr val="11140F"/>
                </a:solidFill>
                <a:latin typeface="Calibri"/>
              </a:rPr>
              <a:t>Quality disputes</a:t>
            </a:r>
          </a:p>
        </p:txBody>
      </p:sp>
      <p:sp>
        <p:nvSpPr>
          <p:cNvPr id="17439" name="TextBox 17438"/>
          <p:cNvSpPr txBox="1"/>
          <p:nvPr/>
        </p:nvSpPr>
        <p:spPr>
          <a:xfrm>
            <a:off x="7150608" y="4078224"/>
            <a:ext cx="4343400" cy="502920"/>
          </a:xfrm>
          <a:prstGeom prst="rect">
            <a:avLst/>
          </a:prstGeom>
          <a:noFill/>
        </p:spPr>
        <p:txBody>
          <a:bodyPr wrap="square" lIns="0" rIns="0" tIns="0" bIns="0" anchor="t">
            <a:spAutoFit/>
          </a:bodyPr>
          <a:lstStyle/>
          <a:p>
            <a:pPr algn="l">
              <a:lnSpc>
                <a:spcPts val="1150"/>
              </a:lnSpc>
            </a:pPr>
            <a:r>
              <a:rPr sz="950" b="0" i="0">
                <a:solidFill>
                  <a:srgbClr val="657062"/>
                </a:solidFill>
                <a:latin typeface="Calibri"/>
              </a:rPr>
              <a:t>Declared grade, per-stop handover records, and a resolution that can only deduct from a farmer with recorded agreement.</a:t>
            </a:r>
          </a:p>
        </p:txBody>
      </p:sp>
      <p:sp>
        <p:nvSpPr>
          <p:cNvPr id="17440" name="Rounded Rectangle 17439"/>
          <p:cNvSpPr/>
          <p:nvPr/>
        </p:nvSpPr>
        <p:spPr>
          <a:xfrm>
            <a:off x="6675120" y="4736592"/>
            <a:ext cx="5029200" cy="877824"/>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1" name="Oval 17440"/>
          <p:cNvSpPr/>
          <p:nvPr/>
        </p:nvSpPr>
        <p:spPr>
          <a:xfrm>
            <a:off x="6821424" y="4901183"/>
            <a:ext cx="237744" cy="237744"/>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a:t>
            </a:r>
          </a:p>
        </p:txBody>
      </p:sp>
      <p:sp>
        <p:nvSpPr>
          <p:cNvPr id="17442" name="TextBox 17441"/>
          <p:cNvSpPr txBox="1"/>
          <p:nvPr/>
        </p:nvSpPr>
        <p:spPr>
          <a:xfrm>
            <a:off x="7150608" y="4846320"/>
            <a:ext cx="4389120" cy="219456"/>
          </a:xfrm>
          <a:prstGeom prst="rect">
            <a:avLst/>
          </a:prstGeom>
          <a:noFill/>
        </p:spPr>
        <p:txBody>
          <a:bodyPr wrap="square" lIns="0" rIns="0" tIns="0" bIns="0" anchor="t">
            <a:spAutoFit/>
          </a:bodyPr>
          <a:lstStyle/>
          <a:p>
            <a:pPr algn="l"/>
            <a:r>
              <a:rPr sz="1100" b="1" i="0">
                <a:solidFill>
                  <a:srgbClr val="11140F"/>
                </a:solidFill>
                <a:latin typeface="Calibri"/>
              </a:rPr>
              <a:t>Farmer cannot use an app</a:t>
            </a:r>
          </a:p>
        </p:txBody>
      </p:sp>
      <p:sp>
        <p:nvSpPr>
          <p:cNvPr id="17443" name="TextBox 17442"/>
          <p:cNvSpPr txBox="1"/>
          <p:nvPr/>
        </p:nvSpPr>
        <p:spPr>
          <a:xfrm>
            <a:off x="7150608" y="5065776"/>
            <a:ext cx="4343400" cy="502920"/>
          </a:xfrm>
          <a:prstGeom prst="rect">
            <a:avLst/>
          </a:prstGeom>
          <a:noFill/>
        </p:spPr>
        <p:txBody>
          <a:bodyPr wrap="square" lIns="0" rIns="0" tIns="0" bIns="0" anchor="t">
            <a:spAutoFit/>
          </a:bodyPr>
          <a:lstStyle/>
          <a:p>
            <a:pPr algn="l">
              <a:lnSpc>
                <a:spcPts val="1150"/>
              </a:lnSpc>
            </a:pPr>
            <a:r>
              <a:rPr sz="950" b="0" i="0">
                <a:solidFill>
                  <a:srgbClr val="657062"/>
                </a:solidFill>
                <a:latin typeface="Calibri"/>
              </a:rPr>
              <a:t>Marathi, Hindi and English on the farmer screens; one decision card answers what to send and what it pays.</a:t>
            </a:r>
          </a:p>
        </p:txBody>
      </p:sp>
      <p:sp>
        <p:nvSpPr>
          <p:cNvPr id="17444" name="TextBox 17443"/>
          <p:cNvSpPr txBox="1"/>
          <p:nvPr/>
        </p:nvSpPr>
        <p:spPr>
          <a:xfrm>
            <a:off x="502920" y="5961888"/>
            <a:ext cx="11247120" cy="274320"/>
          </a:xfrm>
          <a:prstGeom prst="rect">
            <a:avLst/>
          </a:prstGeom>
          <a:noFill/>
        </p:spPr>
        <p:txBody>
          <a:bodyPr wrap="square" lIns="0" rIns="0" tIns="0" bIns="0" anchor="t">
            <a:spAutoFit/>
          </a:bodyPr>
          <a:lstStyle/>
          <a:p>
            <a:pPr algn="l"/>
            <a:r>
              <a:rPr sz="850" b="0" i="1">
                <a:solidFill>
                  <a:srgbClr val="657062"/>
                </a:solidFill>
                <a:latin typeface="Calibri"/>
              </a:rPr>
              <a:t>Return-load matching is designed and specified; it is deliberately after the core proof, and is not claimed as shipped.</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097280"/>
            <a:ext cx="11247120" cy="365760"/>
          </a:xfrm>
          <a:prstGeom prst="rect">
            <a:avLst/>
          </a:prstGeom>
          <a:noFill/>
        </p:spPr>
        <p:txBody>
          <a:bodyPr wrap="square" lIns="0" rIns="0" tIns="0" bIns="0" anchor="t">
            <a:spAutoFit/>
          </a:bodyPr>
          <a:lstStyle/>
          <a:p>
            <a:pPr algn="l"/>
            <a:r>
              <a:rPr sz="1700" b="1" i="0">
                <a:solidFill>
                  <a:srgbClr val="11140F"/>
                </a:solidFill>
                <a:latin typeface="Cambria"/>
              </a:rPr>
              <a:t>Better for the farmer, cheaper for the buyer, and still self-funding</a:t>
            </a:r>
          </a:p>
        </p:txBody>
      </p:sp>
      <p:graphicFrame>
        <p:nvGraphicFramePr>
          <p:cNvPr id="17411" name="Chart 17410"/>
          <p:cNvGraphicFramePr>
            <a:graphicFrameLocks noGrp="1"/>
          </p:cNvGraphicFramePr>
          <p:nvPr/>
        </p:nvGraphicFramePr>
        <p:xfrm>
          <a:off x="502920" y="1499616"/>
          <a:ext cx="5760720" cy="2286000"/>
        </p:xfrm>
        <a:graphic>
          <a:graphicData uri="http://schemas.openxmlformats.org/drawingml/2006/chart">
            <c:chart xmlns:c="http://schemas.openxmlformats.org/drawingml/2006/chart" r:id="rId4"/>
          </a:graphicData>
        </a:graphic>
      </p:graphicFrame>
      <p:sp>
        <p:nvSpPr>
          <p:cNvPr id="17412" name="TextBox 17411"/>
          <p:cNvSpPr txBox="1"/>
          <p:nvPr/>
        </p:nvSpPr>
        <p:spPr>
          <a:xfrm>
            <a:off x="502920" y="3877056"/>
            <a:ext cx="5760720" cy="411480"/>
          </a:xfrm>
          <a:prstGeom prst="rect">
            <a:avLst/>
          </a:prstGeom>
          <a:noFill/>
        </p:spPr>
        <p:txBody>
          <a:bodyPr wrap="square" lIns="0" rIns="0" tIns="0" bIns="0" anchor="t">
            <a:spAutoFit/>
          </a:bodyPr>
          <a:lstStyle/>
          <a:p>
            <a:pPr algn="l">
              <a:lnSpc>
                <a:spcPts val="1100"/>
              </a:lnSpc>
            </a:pPr>
            <a:r>
              <a:rPr sz="900" b="0" i="1">
                <a:solidFill>
                  <a:srgbClr val="657062"/>
                </a:solidFill>
                <a:latin typeface="Calibri"/>
              </a:rPr>
              <a:t>The fragmented-chain figure is a widely reported range for Indian vegetables, shown as an estimate. The two KrishiSetu bars are computed from orders in the running system.</a:t>
            </a:r>
          </a:p>
        </p:txBody>
      </p:sp>
      <p:sp>
        <p:nvSpPr>
          <p:cNvPr id="17413" name="Rounded Rectangle 17412"/>
          <p:cNvSpPr/>
          <p:nvPr/>
        </p:nvSpPr>
        <p:spPr>
          <a:xfrm>
            <a:off x="6629400" y="1499616"/>
            <a:ext cx="5074920" cy="2395728"/>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4" name="TextBox 17413"/>
          <p:cNvSpPr txBox="1"/>
          <p:nvPr/>
        </p:nvSpPr>
        <p:spPr>
          <a:xfrm>
            <a:off x="6867144" y="1664208"/>
            <a:ext cx="4617720" cy="201168"/>
          </a:xfrm>
          <a:prstGeom prst="rect">
            <a:avLst/>
          </a:prstGeom>
          <a:noFill/>
        </p:spPr>
        <p:txBody>
          <a:bodyPr wrap="square" lIns="0" rIns="0" tIns="0" bIns="0" anchor="t">
            <a:spAutoFit/>
          </a:bodyPr>
          <a:lstStyle/>
          <a:p>
            <a:pPr algn="l"/>
            <a:r>
              <a:rPr sz="900" b="1" i="0" spc="140">
                <a:solidFill>
                  <a:srgbClr val="657062"/>
                </a:solidFill>
                <a:latin typeface="Calibri"/>
              </a:rPr>
              <a:t>WHERE THE PLATFORM'S OWN MONEY COMES FROM</a:t>
            </a:r>
          </a:p>
        </p:txBody>
      </p:sp>
      <p:sp>
        <p:nvSpPr>
          <p:cNvPr id="17415" name="TextBox 17414"/>
          <p:cNvSpPr txBox="1"/>
          <p:nvPr/>
        </p:nvSpPr>
        <p:spPr>
          <a:xfrm>
            <a:off x="6867144" y="1956816"/>
            <a:ext cx="3520439" cy="256032"/>
          </a:xfrm>
          <a:prstGeom prst="rect">
            <a:avLst/>
          </a:prstGeom>
          <a:noFill/>
        </p:spPr>
        <p:txBody>
          <a:bodyPr wrap="square" lIns="0" rIns="0" tIns="0" bIns="0" anchor="t">
            <a:spAutoFit/>
          </a:bodyPr>
          <a:lstStyle/>
          <a:p>
            <a:pPr algn="l"/>
            <a:r>
              <a:rPr sz="1050" b="0" i="0">
                <a:solidFill>
                  <a:srgbClr val="657062"/>
                </a:solidFill>
                <a:latin typeface="Calibri"/>
              </a:rPr>
              <a:t>Disclosed buyer-side fee per order</a:t>
            </a:r>
          </a:p>
        </p:txBody>
      </p:sp>
      <p:sp>
        <p:nvSpPr>
          <p:cNvPr id="17416" name="TextBox 17415"/>
          <p:cNvSpPr txBox="1"/>
          <p:nvPr/>
        </p:nvSpPr>
        <p:spPr>
          <a:xfrm>
            <a:off x="10332720" y="1938528"/>
            <a:ext cx="1133856" cy="274320"/>
          </a:xfrm>
          <a:prstGeom prst="rect">
            <a:avLst/>
          </a:prstGeom>
          <a:noFill/>
        </p:spPr>
        <p:txBody>
          <a:bodyPr wrap="square" lIns="0" rIns="0" tIns="0" bIns="0" anchor="t">
            <a:spAutoFit/>
          </a:bodyPr>
          <a:lstStyle/>
          <a:p>
            <a:pPr algn="r"/>
            <a:r>
              <a:rPr sz="1100" b="1" i="0">
                <a:solidFill>
                  <a:srgbClr val="11140F"/>
                </a:solidFill>
                <a:latin typeface="Calibri"/>
              </a:rPr>
              <a:t>₹19.89</a:t>
            </a:r>
          </a:p>
        </p:txBody>
      </p:sp>
      <p:sp>
        <p:nvSpPr>
          <p:cNvPr id="17417" name="TextBox 17416"/>
          <p:cNvSpPr txBox="1"/>
          <p:nvPr/>
        </p:nvSpPr>
        <p:spPr>
          <a:xfrm>
            <a:off x="6867144" y="2322576"/>
            <a:ext cx="3520439" cy="256032"/>
          </a:xfrm>
          <a:prstGeom prst="rect">
            <a:avLst/>
          </a:prstGeom>
          <a:noFill/>
        </p:spPr>
        <p:txBody>
          <a:bodyPr wrap="square" lIns="0" rIns="0" tIns="0" bIns="0" anchor="t">
            <a:spAutoFit/>
          </a:bodyPr>
          <a:lstStyle/>
          <a:p>
            <a:pPr algn="l"/>
            <a:r>
              <a:rPr sz="1050" b="0" i="0">
                <a:solidFill>
                  <a:srgbClr val="657062"/>
                </a:solidFill>
                <a:latin typeface="Calibri"/>
              </a:rPr>
              <a:t>Payment gateway, messaging, support</a:t>
            </a:r>
          </a:p>
        </p:txBody>
      </p:sp>
      <p:sp>
        <p:nvSpPr>
          <p:cNvPr id="17418" name="TextBox 17417"/>
          <p:cNvSpPr txBox="1"/>
          <p:nvPr/>
        </p:nvSpPr>
        <p:spPr>
          <a:xfrm>
            <a:off x="10332720" y="2304288"/>
            <a:ext cx="1133856" cy="274320"/>
          </a:xfrm>
          <a:prstGeom prst="rect">
            <a:avLst/>
          </a:prstGeom>
          <a:noFill/>
        </p:spPr>
        <p:txBody>
          <a:bodyPr wrap="square" lIns="0" rIns="0" tIns="0" bIns="0" anchor="t">
            <a:spAutoFit/>
          </a:bodyPr>
          <a:lstStyle/>
          <a:p>
            <a:pPr algn="r"/>
            <a:r>
              <a:rPr sz="1100" b="1" i="0">
                <a:solidFill>
                  <a:srgbClr val="657062"/>
                </a:solidFill>
                <a:latin typeface="Calibri"/>
              </a:rPr>
              <a:t>− ₹5.60</a:t>
            </a:r>
          </a:p>
        </p:txBody>
      </p:sp>
      <p:sp>
        <p:nvSpPr>
          <p:cNvPr id="17419" name="TextBox 17418"/>
          <p:cNvSpPr txBox="1"/>
          <p:nvPr/>
        </p:nvSpPr>
        <p:spPr>
          <a:xfrm>
            <a:off x="6867144" y="2688336"/>
            <a:ext cx="3520439" cy="256032"/>
          </a:xfrm>
          <a:prstGeom prst="rect">
            <a:avLst/>
          </a:prstGeom>
          <a:noFill/>
        </p:spPr>
        <p:txBody>
          <a:bodyPr wrap="square" lIns="0" rIns="0" tIns="0" bIns="0" anchor="t">
            <a:spAutoFit/>
          </a:bodyPr>
          <a:lstStyle/>
          <a:p>
            <a:pPr algn="l"/>
            <a:r>
              <a:rPr sz="1050" b="1" i="0">
                <a:solidFill>
                  <a:srgbClr val="11140F"/>
                </a:solidFill>
                <a:latin typeface="Calibri"/>
              </a:rPr>
              <a:t>Contribution per completed order</a:t>
            </a:r>
          </a:p>
        </p:txBody>
      </p:sp>
      <p:sp>
        <p:nvSpPr>
          <p:cNvPr id="17420" name="TextBox 17419"/>
          <p:cNvSpPr txBox="1"/>
          <p:nvPr/>
        </p:nvSpPr>
        <p:spPr>
          <a:xfrm>
            <a:off x="10332720" y="2670048"/>
            <a:ext cx="1133856" cy="274320"/>
          </a:xfrm>
          <a:prstGeom prst="rect">
            <a:avLst/>
          </a:prstGeom>
          <a:noFill/>
        </p:spPr>
        <p:txBody>
          <a:bodyPr wrap="square" lIns="0" rIns="0" tIns="0" bIns="0" anchor="t">
            <a:spAutoFit/>
          </a:bodyPr>
          <a:lstStyle/>
          <a:p>
            <a:pPr algn="r"/>
            <a:r>
              <a:rPr sz="1250" b="1" i="0">
                <a:solidFill>
                  <a:srgbClr val="2F6B3A"/>
                </a:solidFill>
                <a:latin typeface="Calibri"/>
              </a:rPr>
              <a:t>₹14.29</a:t>
            </a:r>
          </a:p>
        </p:txBody>
      </p:sp>
      <p:sp>
        <p:nvSpPr>
          <p:cNvPr id="17421" name="TextBox 17420"/>
          <p:cNvSpPr txBox="1"/>
          <p:nvPr/>
        </p:nvSpPr>
        <p:spPr>
          <a:xfrm>
            <a:off x="6867144" y="3054096"/>
            <a:ext cx="3520439" cy="256032"/>
          </a:xfrm>
          <a:prstGeom prst="rect">
            <a:avLst/>
          </a:prstGeom>
          <a:noFill/>
        </p:spPr>
        <p:txBody>
          <a:bodyPr wrap="square" lIns="0" rIns="0" tIns="0" bIns="0" anchor="t">
            <a:spAutoFit/>
          </a:bodyPr>
          <a:lstStyle/>
          <a:p>
            <a:pPr algn="l"/>
            <a:r>
              <a:rPr sz="1050" b="0" i="0">
                <a:solidFill>
                  <a:srgbClr val="657062"/>
                </a:solidFill>
                <a:latin typeface="Calibri"/>
              </a:rPr>
              <a:t>Assumed monthly fixed cost</a:t>
            </a:r>
          </a:p>
        </p:txBody>
      </p:sp>
      <p:sp>
        <p:nvSpPr>
          <p:cNvPr id="17422" name="TextBox 17421"/>
          <p:cNvSpPr txBox="1"/>
          <p:nvPr/>
        </p:nvSpPr>
        <p:spPr>
          <a:xfrm>
            <a:off x="10332720" y="3035808"/>
            <a:ext cx="1133856" cy="274320"/>
          </a:xfrm>
          <a:prstGeom prst="rect">
            <a:avLst/>
          </a:prstGeom>
          <a:noFill/>
        </p:spPr>
        <p:txBody>
          <a:bodyPr wrap="square" lIns="0" rIns="0" tIns="0" bIns="0" anchor="t">
            <a:spAutoFit/>
          </a:bodyPr>
          <a:lstStyle/>
          <a:p>
            <a:pPr algn="r"/>
            <a:r>
              <a:rPr sz="1100" b="1" i="0">
                <a:solidFill>
                  <a:srgbClr val="11140F"/>
                </a:solidFill>
                <a:latin typeface="Calibri"/>
              </a:rPr>
              <a:t>₹60,000</a:t>
            </a:r>
          </a:p>
        </p:txBody>
      </p:sp>
      <p:sp>
        <p:nvSpPr>
          <p:cNvPr id="17423" name="TextBox 17422"/>
          <p:cNvSpPr txBox="1"/>
          <p:nvPr/>
        </p:nvSpPr>
        <p:spPr>
          <a:xfrm>
            <a:off x="6867144" y="3419856"/>
            <a:ext cx="3520439" cy="256032"/>
          </a:xfrm>
          <a:prstGeom prst="rect">
            <a:avLst/>
          </a:prstGeom>
          <a:noFill/>
        </p:spPr>
        <p:txBody>
          <a:bodyPr wrap="square" lIns="0" rIns="0" tIns="0" bIns="0" anchor="t">
            <a:spAutoFit/>
          </a:bodyPr>
          <a:lstStyle/>
          <a:p>
            <a:pPr algn="l"/>
            <a:r>
              <a:rPr sz="1050" b="1" i="0">
                <a:solidFill>
                  <a:srgbClr val="11140F"/>
                </a:solidFill>
                <a:latin typeface="Calibri"/>
              </a:rPr>
              <a:t>Orders per month to break even</a:t>
            </a:r>
          </a:p>
        </p:txBody>
      </p:sp>
      <p:sp>
        <p:nvSpPr>
          <p:cNvPr id="17424" name="TextBox 17423"/>
          <p:cNvSpPr txBox="1"/>
          <p:nvPr/>
        </p:nvSpPr>
        <p:spPr>
          <a:xfrm>
            <a:off x="10332720" y="3401568"/>
            <a:ext cx="1133856" cy="274320"/>
          </a:xfrm>
          <a:prstGeom prst="rect">
            <a:avLst/>
          </a:prstGeom>
          <a:noFill/>
        </p:spPr>
        <p:txBody>
          <a:bodyPr wrap="square" lIns="0" rIns="0" tIns="0" bIns="0" anchor="t">
            <a:spAutoFit/>
          </a:bodyPr>
          <a:lstStyle/>
          <a:p>
            <a:pPr algn="r"/>
            <a:r>
              <a:rPr sz="1250" b="1" i="0">
                <a:solidFill>
                  <a:srgbClr val="2F6B3A"/>
                </a:solidFill>
                <a:latin typeface="Calibri"/>
              </a:rPr>
              <a:t>4,199</a:t>
            </a:r>
          </a:p>
        </p:txBody>
      </p:sp>
      <p:sp>
        <p:nvSpPr>
          <p:cNvPr id="17425" name="TextBox 17424"/>
          <p:cNvSpPr txBox="1"/>
          <p:nvPr/>
        </p:nvSpPr>
        <p:spPr>
          <a:xfrm>
            <a:off x="6629400" y="4005072"/>
            <a:ext cx="5074920" cy="502920"/>
          </a:xfrm>
          <a:prstGeom prst="rect">
            <a:avLst/>
          </a:prstGeom>
          <a:noFill/>
        </p:spPr>
        <p:txBody>
          <a:bodyPr wrap="square" lIns="0" rIns="0" tIns="0" bIns="0" anchor="t">
            <a:spAutoFit/>
          </a:bodyPr>
          <a:lstStyle/>
          <a:p>
            <a:pPr algn="l">
              <a:lnSpc>
                <a:spcPts val="1150"/>
              </a:lnSpc>
            </a:pPr>
            <a:r>
              <a:rPr sz="950" b="0" i="0">
                <a:solidFill>
                  <a:srgbClr val="11140F"/>
                </a:solidFill>
                <a:latin typeface="Calibri"/>
              </a:rPr>
              <a:t>No farmer listing fee. No commission on settlement. When a price must be held under the quick-commerce reference, the site fee is cut to zero first — the farmer's accepted amount is never touched.</a:t>
            </a:r>
          </a:p>
        </p:txBody>
      </p:sp>
      <p:sp>
        <p:nvSpPr>
          <p:cNvPr id="17426" name="Rounded Rectangle 17425"/>
          <p:cNvSpPr/>
          <p:nvPr/>
        </p:nvSpPr>
        <p:spPr>
          <a:xfrm>
            <a:off x="502920" y="4663440"/>
            <a:ext cx="2697480" cy="1097280"/>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7" name="Oval 17426"/>
          <p:cNvSpPr/>
          <p:nvPr/>
        </p:nvSpPr>
        <p:spPr>
          <a:xfrm>
            <a:off x="649224" y="4809744"/>
            <a:ext cx="256032" cy="256032"/>
          </a:xfrm>
          <a:prstGeom prst="ellipse">
            <a:avLst/>
          </a:prstGeom>
          <a:solidFill>
            <a:srgbClr val="2F6B3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F</a:t>
            </a:r>
          </a:p>
        </p:txBody>
      </p:sp>
      <p:sp>
        <p:nvSpPr>
          <p:cNvPr id="17428" name="TextBox 17427"/>
          <p:cNvSpPr txBox="1"/>
          <p:nvPr/>
        </p:nvSpPr>
        <p:spPr>
          <a:xfrm>
            <a:off x="978408" y="4791456"/>
            <a:ext cx="2011680" cy="237744"/>
          </a:xfrm>
          <a:prstGeom prst="rect">
            <a:avLst/>
          </a:prstGeom>
          <a:noFill/>
        </p:spPr>
        <p:txBody>
          <a:bodyPr wrap="square" lIns="0" rIns="0" tIns="0" bIns="0" anchor="t">
            <a:spAutoFit/>
          </a:bodyPr>
          <a:lstStyle/>
          <a:p>
            <a:pPr algn="l"/>
            <a:r>
              <a:rPr sz="1150" b="1" i="0">
                <a:solidFill>
                  <a:srgbClr val="11140F"/>
                </a:solidFill>
                <a:latin typeface="Calibri"/>
              </a:rPr>
              <a:t>Farmer</a:t>
            </a:r>
          </a:p>
        </p:txBody>
      </p:sp>
      <p:sp>
        <p:nvSpPr>
          <p:cNvPr id="17429" name="TextBox 17428"/>
          <p:cNvSpPr txBox="1"/>
          <p:nvPr/>
        </p:nvSpPr>
        <p:spPr>
          <a:xfrm>
            <a:off x="667512" y="5138928"/>
            <a:ext cx="2377440" cy="548640"/>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₹34.00/kg accepted and paid in full, beside a dated mandi comparison</a:t>
            </a:r>
          </a:p>
        </p:txBody>
      </p:sp>
      <p:sp>
        <p:nvSpPr>
          <p:cNvPr id="17430" name="Rounded Rectangle 17429"/>
          <p:cNvSpPr/>
          <p:nvPr/>
        </p:nvSpPr>
        <p:spPr>
          <a:xfrm>
            <a:off x="3374136" y="4663440"/>
            <a:ext cx="2697480" cy="1097280"/>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1" name="Oval 17430"/>
          <p:cNvSpPr/>
          <p:nvPr/>
        </p:nvSpPr>
        <p:spPr>
          <a:xfrm>
            <a:off x="3520440" y="4809744"/>
            <a:ext cx="256032" cy="256032"/>
          </a:xfrm>
          <a:prstGeom prst="ellipse">
            <a:avLst/>
          </a:prstGeom>
          <a:solidFill>
            <a:srgbClr val="6B8CA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B</a:t>
            </a:r>
          </a:p>
        </p:txBody>
      </p:sp>
      <p:sp>
        <p:nvSpPr>
          <p:cNvPr id="17432" name="TextBox 17431"/>
          <p:cNvSpPr txBox="1"/>
          <p:nvPr/>
        </p:nvSpPr>
        <p:spPr>
          <a:xfrm>
            <a:off x="3849624" y="4791456"/>
            <a:ext cx="2011680" cy="237744"/>
          </a:xfrm>
          <a:prstGeom prst="rect">
            <a:avLst/>
          </a:prstGeom>
          <a:noFill/>
        </p:spPr>
        <p:txBody>
          <a:bodyPr wrap="square" lIns="0" rIns="0" tIns="0" bIns="0" anchor="t">
            <a:spAutoFit/>
          </a:bodyPr>
          <a:lstStyle/>
          <a:p>
            <a:pPr algn="l"/>
            <a:r>
              <a:rPr sz="1150" b="1" i="0">
                <a:solidFill>
                  <a:srgbClr val="11140F"/>
                </a:solidFill>
                <a:latin typeface="Calibri"/>
              </a:rPr>
              <a:t>Buyer</a:t>
            </a:r>
          </a:p>
        </p:txBody>
      </p:sp>
      <p:sp>
        <p:nvSpPr>
          <p:cNvPr id="17433" name="TextBox 17432"/>
          <p:cNvSpPr txBox="1"/>
          <p:nvPr/>
        </p:nvSpPr>
        <p:spPr>
          <a:xfrm>
            <a:off x="3538728" y="5138928"/>
            <a:ext cx="2377440" cy="548640"/>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₹45.66/kg against a ₹55 reference, every bill line itemised</a:t>
            </a:r>
          </a:p>
        </p:txBody>
      </p:sp>
      <p:sp>
        <p:nvSpPr>
          <p:cNvPr id="17434" name="Rounded Rectangle 17433"/>
          <p:cNvSpPr/>
          <p:nvPr/>
        </p:nvSpPr>
        <p:spPr>
          <a:xfrm>
            <a:off x="6245352" y="4663440"/>
            <a:ext cx="2697480" cy="1097280"/>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5" name="Oval 17434"/>
          <p:cNvSpPr/>
          <p:nvPr/>
        </p:nvSpPr>
        <p:spPr>
          <a:xfrm>
            <a:off x="6391656" y="4809744"/>
            <a:ext cx="256032" cy="256032"/>
          </a:xfrm>
          <a:prstGeom prst="ellipse">
            <a:avLst/>
          </a:prstGeom>
          <a:solidFill>
            <a:srgbClr val="B779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T</a:t>
            </a:r>
          </a:p>
        </p:txBody>
      </p:sp>
      <p:sp>
        <p:nvSpPr>
          <p:cNvPr id="17436" name="TextBox 17435"/>
          <p:cNvSpPr txBox="1"/>
          <p:nvPr/>
        </p:nvSpPr>
        <p:spPr>
          <a:xfrm>
            <a:off x="6720840" y="4791456"/>
            <a:ext cx="2011680" cy="237744"/>
          </a:xfrm>
          <a:prstGeom prst="rect">
            <a:avLst/>
          </a:prstGeom>
          <a:noFill/>
        </p:spPr>
        <p:txBody>
          <a:bodyPr wrap="square" lIns="0" rIns="0" tIns="0" bIns="0" anchor="t">
            <a:spAutoFit/>
          </a:bodyPr>
          <a:lstStyle/>
          <a:p>
            <a:pPr algn="l"/>
            <a:r>
              <a:rPr sz="1150" b="1" i="0">
                <a:solidFill>
                  <a:srgbClr val="11140F"/>
                </a:solidFill>
                <a:latin typeface="Calibri"/>
              </a:rPr>
              <a:t>Transporter</a:t>
            </a:r>
          </a:p>
        </p:txBody>
      </p:sp>
      <p:sp>
        <p:nvSpPr>
          <p:cNvPr id="17437" name="TextBox 17436"/>
          <p:cNvSpPr txBox="1"/>
          <p:nvPr/>
        </p:nvSpPr>
        <p:spPr>
          <a:xfrm>
            <a:off x="6409944" y="5138928"/>
            <a:ext cx="2377440" cy="548640"/>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₹4,016 for one full run, agreed before acceptance</a:t>
            </a:r>
          </a:p>
        </p:txBody>
      </p:sp>
      <p:sp>
        <p:nvSpPr>
          <p:cNvPr id="17438" name="Rounded Rectangle 17437"/>
          <p:cNvSpPr/>
          <p:nvPr/>
        </p:nvSpPr>
        <p:spPr>
          <a:xfrm>
            <a:off x="9116568" y="4663440"/>
            <a:ext cx="2697480" cy="1097280"/>
          </a:xfrm>
          <a:prstGeom prst="roundRect">
            <a:avLst>
              <a:gd name="adj" fmla="val 6000"/>
            </a:avLst>
          </a:prstGeom>
          <a:solidFill>
            <a:srgbClr val="FFFFF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9" name="Oval 17438"/>
          <p:cNvSpPr/>
          <p:nvPr/>
        </p:nvSpPr>
        <p:spPr>
          <a:xfrm>
            <a:off x="9262872" y="4809744"/>
            <a:ext cx="256032" cy="256032"/>
          </a:xfrm>
          <a:prstGeom prst="ellipse">
            <a:avLst/>
          </a:prstGeom>
          <a:solidFill>
            <a:srgbClr val="8A7FA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Calibri"/>
              </a:rPr>
              <a:t>P</a:t>
            </a:r>
          </a:p>
        </p:txBody>
      </p:sp>
      <p:sp>
        <p:nvSpPr>
          <p:cNvPr id="17440" name="TextBox 17439"/>
          <p:cNvSpPr txBox="1"/>
          <p:nvPr/>
        </p:nvSpPr>
        <p:spPr>
          <a:xfrm>
            <a:off x="9592056" y="4791456"/>
            <a:ext cx="2011680" cy="237744"/>
          </a:xfrm>
          <a:prstGeom prst="rect">
            <a:avLst/>
          </a:prstGeom>
          <a:noFill/>
        </p:spPr>
        <p:txBody>
          <a:bodyPr wrap="square" lIns="0" rIns="0" tIns="0" bIns="0" anchor="t">
            <a:spAutoFit/>
          </a:bodyPr>
          <a:lstStyle/>
          <a:p>
            <a:pPr algn="l"/>
            <a:r>
              <a:rPr sz="1150" b="1" i="0">
                <a:solidFill>
                  <a:srgbClr val="11140F"/>
                </a:solidFill>
                <a:latin typeface="Calibri"/>
              </a:rPr>
              <a:t>Platform</a:t>
            </a:r>
          </a:p>
        </p:txBody>
      </p:sp>
      <p:sp>
        <p:nvSpPr>
          <p:cNvPr id="17441" name="TextBox 17440"/>
          <p:cNvSpPr txBox="1"/>
          <p:nvPr/>
        </p:nvSpPr>
        <p:spPr>
          <a:xfrm>
            <a:off x="9281160" y="5138928"/>
            <a:ext cx="2377440" cy="548640"/>
          </a:xfrm>
          <a:prstGeom prst="rect">
            <a:avLst/>
          </a:prstGeom>
          <a:noFill/>
        </p:spPr>
        <p:txBody>
          <a:bodyPr wrap="square" lIns="0" rIns="0" tIns="0" bIns="0" anchor="t">
            <a:spAutoFit/>
          </a:bodyPr>
          <a:lstStyle/>
          <a:p>
            <a:pPr algn="l">
              <a:lnSpc>
                <a:spcPts val="1100"/>
              </a:lnSpc>
            </a:pPr>
            <a:r>
              <a:rPr sz="900" b="0" i="0">
                <a:solidFill>
                  <a:srgbClr val="657062"/>
                </a:solidFill>
                <a:latin typeface="Calibri"/>
              </a:rPr>
              <a:t>₹14.29 per order, entirely from a disclosed buyer-side fee</a:t>
            </a:r>
          </a:p>
        </p:txBody>
      </p:sp>
      <p:sp>
        <p:nvSpPr>
          <p:cNvPr id="17442" name="TextBox 17441"/>
          <p:cNvSpPr txBox="1"/>
          <p:nvPr/>
        </p:nvSpPr>
        <p:spPr>
          <a:xfrm>
            <a:off x="502920" y="5961888"/>
            <a:ext cx="11247120" cy="274320"/>
          </a:xfrm>
          <a:prstGeom prst="rect">
            <a:avLst/>
          </a:prstGeom>
          <a:noFill/>
        </p:spPr>
        <p:txBody>
          <a:bodyPr wrap="square" lIns="0" rIns="0" tIns="0" bIns="0" anchor="t">
            <a:spAutoFit/>
          </a:bodyPr>
          <a:lstStyle/>
          <a:p>
            <a:pPr algn="l"/>
            <a:r>
              <a:rPr sz="850" b="0" i="1">
                <a:solidFill>
                  <a:srgbClr val="657062"/>
                </a:solidFill>
                <a:latin typeface="Calibri"/>
              </a:rPr>
              <a:t>Figures are computed over synthetic demonstration orders, so they size the model rather than measure a business. No production cost is recorded, so no column here is farming profit.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a:t>Logic_Lords</a:t>
            </a:r>
            <a:endParaRPr lang="en-IN" dirty="0"/>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502920" y="1097280"/>
            <a:ext cx="11247120" cy="365760"/>
          </a:xfrm>
          <a:prstGeom prst="rect">
            <a:avLst/>
          </a:prstGeom>
          <a:noFill/>
        </p:spPr>
        <p:txBody>
          <a:bodyPr wrap="square" lIns="0" rIns="0" tIns="0" bIns="0" anchor="t">
            <a:spAutoFit/>
          </a:bodyPr>
          <a:lstStyle/>
          <a:p>
            <a:pPr algn="l"/>
            <a:r>
              <a:rPr sz="1700" b="1" i="0">
                <a:solidFill>
                  <a:srgbClr val="11140F"/>
                </a:solidFill>
                <a:latin typeface="Cambria"/>
              </a:rPr>
              <a:t>Sources, and what they do and do not prove</a:t>
            </a:r>
          </a:p>
        </p:txBody>
      </p:sp>
      <p:sp>
        <p:nvSpPr>
          <p:cNvPr id="17411" name="Rounded Rectangle 17410"/>
          <p:cNvSpPr/>
          <p:nvPr/>
        </p:nvSpPr>
        <p:spPr>
          <a:xfrm>
            <a:off x="502920" y="1517904"/>
            <a:ext cx="5486400" cy="950976"/>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2" name="TextBox 17411"/>
          <p:cNvSpPr txBox="1"/>
          <p:nvPr/>
        </p:nvSpPr>
        <p:spPr>
          <a:xfrm>
            <a:off x="704088" y="1609344"/>
            <a:ext cx="3931920" cy="237744"/>
          </a:xfrm>
          <a:prstGeom prst="rect">
            <a:avLst/>
          </a:prstGeom>
          <a:noFill/>
        </p:spPr>
        <p:txBody>
          <a:bodyPr wrap="square" lIns="0" rIns="0" tIns="0" bIns="0" anchor="t">
            <a:spAutoFit/>
          </a:bodyPr>
          <a:lstStyle/>
          <a:p>
            <a:pPr algn="l"/>
            <a:r>
              <a:rPr sz="1100" b="1" i="0">
                <a:solidFill>
                  <a:srgbClr val="11140F"/>
                </a:solidFill>
                <a:latin typeface="Calibri"/>
              </a:rPr>
              <a:t>Government of India open data portal</a:t>
            </a:r>
          </a:p>
        </p:txBody>
      </p:sp>
      <p:sp>
        <p:nvSpPr>
          <p:cNvPr id="17413" name="TextBox 17412"/>
          <p:cNvSpPr txBox="1"/>
          <p:nvPr/>
        </p:nvSpPr>
        <p:spPr>
          <a:xfrm>
            <a:off x="4617720" y="1627631"/>
            <a:ext cx="1188720" cy="201168"/>
          </a:xfrm>
          <a:prstGeom prst="rect">
            <a:avLst/>
          </a:prstGeom>
          <a:noFill/>
        </p:spPr>
        <p:txBody>
          <a:bodyPr wrap="square" lIns="0" rIns="0" tIns="0" bIns="0" anchor="t">
            <a:spAutoFit/>
          </a:bodyPr>
          <a:lstStyle/>
          <a:p>
            <a:pPr algn="r"/>
            <a:r>
              <a:rPr sz="800" b="1" i="0" spc="110">
                <a:solidFill>
                  <a:srgbClr val="2F6B3A"/>
                </a:solidFill>
                <a:latin typeface="Calibri"/>
              </a:rPr>
              <a:t>DATA</a:t>
            </a:r>
          </a:p>
        </p:txBody>
      </p:sp>
      <p:sp>
        <p:nvSpPr>
          <p:cNvPr id="17414" name="TextBox 17413"/>
          <p:cNvSpPr txBox="1"/>
          <p:nvPr/>
        </p:nvSpPr>
        <p:spPr>
          <a:xfrm>
            <a:off x="704088" y="1865376"/>
            <a:ext cx="5029200" cy="237744"/>
          </a:xfrm>
          <a:prstGeom prst="rect">
            <a:avLst/>
          </a:prstGeom>
          <a:noFill/>
        </p:spPr>
        <p:txBody>
          <a:bodyPr wrap="square" lIns="0" rIns="0" tIns="0" bIns="0" anchor="t">
            <a:spAutoFit/>
          </a:bodyPr>
          <a:lstStyle/>
          <a:p>
            <a:pPr algn="l"/>
            <a:r>
              <a:rPr sz="950" b="0" i="0">
                <a:solidFill>
                  <a:srgbClr val="657062"/>
                </a:solidFill>
                <a:latin typeface="Calibri"/>
              </a:rPr>
              <a:t>Daily mandi prices, resource 9ef84268 — the live price feed in the app</a:t>
            </a:r>
          </a:p>
        </p:txBody>
      </p:sp>
      <p:sp>
        <p:nvSpPr>
          <p:cNvPr id="17415" name="TextBox 17414"/>
          <p:cNvSpPr txBox="1"/>
          <p:nvPr/>
        </p:nvSpPr>
        <p:spPr>
          <a:xfrm>
            <a:off x="704088" y="2121408"/>
            <a:ext cx="5029200" cy="237744"/>
          </a:xfrm>
          <a:prstGeom prst="rect">
            <a:avLst/>
          </a:prstGeom>
          <a:noFill/>
        </p:spPr>
        <p:txBody>
          <a:bodyPr wrap="square" lIns="0" rIns="0" tIns="0" bIns="0" anchor="t">
            <a:spAutoFit/>
          </a:bodyPr>
          <a:lstStyle/>
          <a:p>
            <a:pPr algn="l"/>
            <a:r>
              <a:rPr sz="850" b="0" i="0">
                <a:solidFill>
                  <a:srgbClr val="2F6B3A"/>
                </a:solidFill>
                <a:latin typeface="Calibri"/>
              </a:rPr>
              <a:t>data.gov.in/catalog/current-daily-price-various-commodities-various-markets-mandi</a:t>
            </a:r>
          </a:p>
        </p:txBody>
      </p:sp>
      <p:sp>
        <p:nvSpPr>
          <p:cNvPr id="17416" name="Rounded Rectangle 17415"/>
          <p:cNvSpPr/>
          <p:nvPr/>
        </p:nvSpPr>
        <p:spPr>
          <a:xfrm>
            <a:off x="6190488" y="1517904"/>
            <a:ext cx="5486400" cy="950976"/>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17" name="TextBox 17416"/>
          <p:cNvSpPr txBox="1"/>
          <p:nvPr/>
        </p:nvSpPr>
        <p:spPr>
          <a:xfrm>
            <a:off x="6391655" y="1609344"/>
            <a:ext cx="3931920" cy="237744"/>
          </a:xfrm>
          <a:prstGeom prst="rect">
            <a:avLst/>
          </a:prstGeom>
          <a:noFill/>
        </p:spPr>
        <p:txBody>
          <a:bodyPr wrap="square" lIns="0" rIns="0" tIns="0" bIns="0" anchor="t">
            <a:spAutoFit/>
          </a:bodyPr>
          <a:lstStyle/>
          <a:p>
            <a:pPr algn="l"/>
            <a:r>
              <a:rPr sz="1100" b="1" i="0">
                <a:solidFill>
                  <a:srgbClr val="11140F"/>
                </a:solidFill>
                <a:latin typeface="Calibri"/>
              </a:rPr>
              <a:t>eNAM — trading and FPO pages</a:t>
            </a:r>
          </a:p>
        </p:txBody>
      </p:sp>
      <p:sp>
        <p:nvSpPr>
          <p:cNvPr id="17418" name="TextBox 17417"/>
          <p:cNvSpPr txBox="1"/>
          <p:nvPr/>
        </p:nvSpPr>
        <p:spPr>
          <a:xfrm>
            <a:off x="10305288" y="1627631"/>
            <a:ext cx="1188720" cy="201168"/>
          </a:xfrm>
          <a:prstGeom prst="rect">
            <a:avLst/>
          </a:prstGeom>
          <a:noFill/>
        </p:spPr>
        <p:txBody>
          <a:bodyPr wrap="square" lIns="0" rIns="0" tIns="0" bIns="0" anchor="t">
            <a:spAutoFit/>
          </a:bodyPr>
          <a:lstStyle/>
          <a:p>
            <a:pPr algn="r"/>
            <a:r>
              <a:rPr sz="800" b="1" i="0" spc="110">
                <a:solidFill>
                  <a:srgbClr val="657062"/>
                </a:solidFill>
                <a:latin typeface="Calibri"/>
              </a:rPr>
              <a:t>INCUMBENT</a:t>
            </a:r>
          </a:p>
        </p:txBody>
      </p:sp>
      <p:sp>
        <p:nvSpPr>
          <p:cNvPr id="17419" name="TextBox 17418"/>
          <p:cNvSpPr txBox="1"/>
          <p:nvPr/>
        </p:nvSpPr>
        <p:spPr>
          <a:xfrm>
            <a:off x="6391655" y="1865376"/>
            <a:ext cx="5029200" cy="237744"/>
          </a:xfrm>
          <a:prstGeom prst="rect">
            <a:avLst/>
          </a:prstGeom>
          <a:noFill/>
        </p:spPr>
        <p:txBody>
          <a:bodyPr wrap="square" lIns="0" rIns="0" tIns="0" bIns="0" anchor="t">
            <a:spAutoFit/>
          </a:bodyPr>
          <a:lstStyle/>
          <a:p>
            <a:pPr algn="l"/>
            <a:r>
              <a:rPr sz="950" b="0" i="0">
                <a:solidFill>
                  <a:srgbClr val="657062"/>
                </a:solidFill>
                <a:latin typeface="Calibri"/>
              </a:rPr>
              <a:t>Existing national electronic trade and FPO onboarding</a:t>
            </a:r>
          </a:p>
        </p:txBody>
      </p:sp>
      <p:sp>
        <p:nvSpPr>
          <p:cNvPr id="17420" name="TextBox 17419"/>
          <p:cNvSpPr txBox="1"/>
          <p:nvPr/>
        </p:nvSpPr>
        <p:spPr>
          <a:xfrm>
            <a:off x="6391655" y="2121408"/>
            <a:ext cx="5029200" cy="237744"/>
          </a:xfrm>
          <a:prstGeom prst="rect">
            <a:avLst/>
          </a:prstGeom>
          <a:noFill/>
        </p:spPr>
        <p:txBody>
          <a:bodyPr wrap="square" lIns="0" rIns="0" tIns="0" bIns="0" anchor="t">
            <a:spAutoFit/>
          </a:bodyPr>
          <a:lstStyle/>
          <a:p>
            <a:pPr algn="l"/>
            <a:r>
              <a:rPr sz="850" b="0" i="0">
                <a:solidFill>
                  <a:srgbClr val="2F6B3A"/>
                </a:solidFill>
                <a:latin typeface="Calibri"/>
              </a:rPr>
              <a:t>enam.gov.in/web/trading-details</a:t>
            </a:r>
          </a:p>
        </p:txBody>
      </p:sp>
      <p:sp>
        <p:nvSpPr>
          <p:cNvPr id="17421" name="Rounded Rectangle 17420"/>
          <p:cNvSpPr/>
          <p:nvPr/>
        </p:nvSpPr>
        <p:spPr>
          <a:xfrm>
            <a:off x="502920" y="2578608"/>
            <a:ext cx="5486400" cy="950976"/>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2" name="TextBox 17421"/>
          <p:cNvSpPr txBox="1"/>
          <p:nvPr/>
        </p:nvSpPr>
        <p:spPr>
          <a:xfrm>
            <a:off x="704088" y="2670048"/>
            <a:ext cx="3931920" cy="237744"/>
          </a:xfrm>
          <a:prstGeom prst="rect">
            <a:avLst/>
          </a:prstGeom>
          <a:noFill/>
        </p:spPr>
        <p:txBody>
          <a:bodyPr wrap="square" lIns="0" rIns="0" tIns="0" bIns="0" anchor="t">
            <a:spAutoFit/>
          </a:bodyPr>
          <a:lstStyle/>
          <a:p>
            <a:pPr algn="l"/>
            <a:r>
              <a:rPr sz="1100" b="1" i="0">
                <a:solidFill>
                  <a:srgbClr val="11140F"/>
                </a:solidFill>
                <a:latin typeface="Calibri"/>
              </a:rPr>
              <a:t>Ninjacart and Ninja Mandi</a:t>
            </a:r>
          </a:p>
        </p:txBody>
      </p:sp>
      <p:sp>
        <p:nvSpPr>
          <p:cNvPr id="17423" name="TextBox 17422"/>
          <p:cNvSpPr txBox="1"/>
          <p:nvPr/>
        </p:nvSpPr>
        <p:spPr>
          <a:xfrm>
            <a:off x="4617720" y="2688336"/>
            <a:ext cx="1188720" cy="201168"/>
          </a:xfrm>
          <a:prstGeom prst="rect">
            <a:avLst/>
          </a:prstGeom>
          <a:noFill/>
        </p:spPr>
        <p:txBody>
          <a:bodyPr wrap="square" lIns="0" rIns="0" tIns="0" bIns="0" anchor="t">
            <a:spAutoFit/>
          </a:bodyPr>
          <a:lstStyle/>
          <a:p>
            <a:pPr algn="r"/>
            <a:r>
              <a:rPr sz="800" b="1" i="0" spc="110">
                <a:solidFill>
                  <a:srgbClr val="657062"/>
                </a:solidFill>
                <a:latin typeface="Calibri"/>
              </a:rPr>
              <a:t>INCUMBENT</a:t>
            </a:r>
          </a:p>
        </p:txBody>
      </p:sp>
      <p:sp>
        <p:nvSpPr>
          <p:cNvPr id="17424" name="TextBox 17423"/>
          <p:cNvSpPr txBox="1"/>
          <p:nvPr/>
        </p:nvSpPr>
        <p:spPr>
          <a:xfrm>
            <a:off x="704088" y="2926079"/>
            <a:ext cx="5029200" cy="237744"/>
          </a:xfrm>
          <a:prstGeom prst="rect">
            <a:avLst/>
          </a:prstGeom>
          <a:noFill/>
        </p:spPr>
        <p:txBody>
          <a:bodyPr wrap="square" lIns="0" rIns="0" tIns="0" bIns="0" anchor="t">
            <a:spAutoFit/>
          </a:bodyPr>
          <a:lstStyle/>
          <a:p>
            <a:pPr algn="l"/>
            <a:r>
              <a:rPr sz="950" b="0" i="0">
                <a:solidFill>
                  <a:srgbClr val="657062"/>
                </a:solidFill>
                <a:latin typeface="Calibri"/>
              </a:rPr>
              <a:t>B2B vegetable supply chain and mandi operations</a:t>
            </a:r>
          </a:p>
        </p:txBody>
      </p:sp>
      <p:sp>
        <p:nvSpPr>
          <p:cNvPr id="17425" name="TextBox 17424"/>
          <p:cNvSpPr txBox="1"/>
          <p:nvPr/>
        </p:nvSpPr>
        <p:spPr>
          <a:xfrm>
            <a:off x="704088" y="3182112"/>
            <a:ext cx="5029200" cy="237744"/>
          </a:xfrm>
          <a:prstGeom prst="rect">
            <a:avLst/>
          </a:prstGeom>
          <a:noFill/>
        </p:spPr>
        <p:txBody>
          <a:bodyPr wrap="square" lIns="0" rIns="0" tIns="0" bIns="0" anchor="t">
            <a:spAutoFit/>
          </a:bodyPr>
          <a:lstStyle/>
          <a:p>
            <a:pPr algn="l"/>
            <a:r>
              <a:rPr sz="850" b="0" i="0">
                <a:solidFill>
                  <a:srgbClr val="2F6B3A"/>
                </a:solidFill>
                <a:latin typeface="Calibri"/>
              </a:rPr>
              <a:t>ninjacart.com/ninja-mandi</a:t>
            </a:r>
          </a:p>
        </p:txBody>
      </p:sp>
      <p:sp>
        <p:nvSpPr>
          <p:cNvPr id="17426" name="Rounded Rectangle 17425"/>
          <p:cNvSpPr/>
          <p:nvPr/>
        </p:nvSpPr>
        <p:spPr>
          <a:xfrm>
            <a:off x="6190488" y="2578608"/>
            <a:ext cx="5486400" cy="950976"/>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27" name="TextBox 17426"/>
          <p:cNvSpPr txBox="1"/>
          <p:nvPr/>
        </p:nvSpPr>
        <p:spPr>
          <a:xfrm>
            <a:off x="6391655" y="2670048"/>
            <a:ext cx="3931920" cy="237744"/>
          </a:xfrm>
          <a:prstGeom prst="rect">
            <a:avLst/>
          </a:prstGeom>
          <a:noFill/>
        </p:spPr>
        <p:txBody>
          <a:bodyPr wrap="square" lIns="0" rIns="0" tIns="0" bIns="0" anchor="t">
            <a:spAutoFit/>
          </a:bodyPr>
          <a:lstStyle/>
          <a:p>
            <a:pPr algn="l"/>
            <a:r>
              <a:rPr sz="1100" b="1" i="0">
                <a:solidFill>
                  <a:srgbClr val="11140F"/>
                </a:solidFill>
                <a:latin typeface="Calibri"/>
              </a:rPr>
              <a:t>agribazaar</a:t>
            </a:r>
          </a:p>
        </p:txBody>
      </p:sp>
      <p:sp>
        <p:nvSpPr>
          <p:cNvPr id="17428" name="TextBox 17427"/>
          <p:cNvSpPr txBox="1"/>
          <p:nvPr/>
        </p:nvSpPr>
        <p:spPr>
          <a:xfrm>
            <a:off x="10305288" y="2688336"/>
            <a:ext cx="1188720" cy="201168"/>
          </a:xfrm>
          <a:prstGeom prst="rect">
            <a:avLst/>
          </a:prstGeom>
          <a:noFill/>
        </p:spPr>
        <p:txBody>
          <a:bodyPr wrap="square" lIns="0" rIns="0" tIns="0" bIns="0" anchor="t">
            <a:spAutoFit/>
          </a:bodyPr>
          <a:lstStyle/>
          <a:p>
            <a:pPr algn="r"/>
            <a:r>
              <a:rPr sz="800" b="1" i="0" spc="110">
                <a:solidFill>
                  <a:srgbClr val="657062"/>
                </a:solidFill>
                <a:latin typeface="Calibri"/>
              </a:rPr>
              <a:t>INCUMBENT</a:t>
            </a:r>
          </a:p>
        </p:txBody>
      </p:sp>
      <p:sp>
        <p:nvSpPr>
          <p:cNvPr id="17429" name="TextBox 17428"/>
          <p:cNvSpPr txBox="1"/>
          <p:nvPr/>
        </p:nvSpPr>
        <p:spPr>
          <a:xfrm>
            <a:off x="6391655" y="2926079"/>
            <a:ext cx="5029200" cy="237744"/>
          </a:xfrm>
          <a:prstGeom prst="rect">
            <a:avLst/>
          </a:prstGeom>
          <a:noFill/>
        </p:spPr>
        <p:txBody>
          <a:bodyPr wrap="square" lIns="0" rIns="0" tIns="0" bIns="0" anchor="t">
            <a:spAutoFit/>
          </a:bodyPr>
          <a:lstStyle/>
          <a:p>
            <a:pPr algn="l"/>
            <a:r>
              <a:rPr sz="950" b="0" i="0">
                <a:solidFill>
                  <a:srgbClr val="657062"/>
                </a:solidFill>
                <a:latin typeface="Calibri"/>
              </a:rPr>
              <a:t>Marketplace, logistics and warehousing claims</a:t>
            </a:r>
          </a:p>
        </p:txBody>
      </p:sp>
      <p:sp>
        <p:nvSpPr>
          <p:cNvPr id="17430" name="TextBox 17429"/>
          <p:cNvSpPr txBox="1"/>
          <p:nvPr/>
        </p:nvSpPr>
        <p:spPr>
          <a:xfrm>
            <a:off x="6391655" y="3182112"/>
            <a:ext cx="5029200" cy="237744"/>
          </a:xfrm>
          <a:prstGeom prst="rect">
            <a:avLst/>
          </a:prstGeom>
          <a:noFill/>
        </p:spPr>
        <p:txBody>
          <a:bodyPr wrap="square" lIns="0" rIns="0" tIns="0" bIns="0" anchor="t">
            <a:spAutoFit/>
          </a:bodyPr>
          <a:lstStyle/>
          <a:p>
            <a:pPr algn="l"/>
            <a:r>
              <a:rPr sz="850" b="0" i="0">
                <a:solidFill>
                  <a:srgbClr val="2F6B3A"/>
                </a:solidFill>
                <a:latin typeface="Calibri"/>
              </a:rPr>
              <a:t>agribazaar.com/quick-links/steps</a:t>
            </a:r>
          </a:p>
        </p:txBody>
      </p:sp>
      <p:sp>
        <p:nvSpPr>
          <p:cNvPr id="17431" name="Rounded Rectangle 17430"/>
          <p:cNvSpPr/>
          <p:nvPr/>
        </p:nvSpPr>
        <p:spPr>
          <a:xfrm>
            <a:off x="502920" y="3639311"/>
            <a:ext cx="5486400" cy="950976"/>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2" name="TextBox 17431"/>
          <p:cNvSpPr txBox="1"/>
          <p:nvPr/>
        </p:nvSpPr>
        <p:spPr>
          <a:xfrm>
            <a:off x="704088" y="3730751"/>
            <a:ext cx="3931920" cy="237744"/>
          </a:xfrm>
          <a:prstGeom prst="rect">
            <a:avLst/>
          </a:prstGeom>
          <a:noFill/>
        </p:spPr>
        <p:txBody>
          <a:bodyPr wrap="square" lIns="0" rIns="0" tIns="0" bIns="0" anchor="t">
            <a:spAutoFit/>
          </a:bodyPr>
          <a:lstStyle/>
          <a:p>
            <a:pPr algn="l"/>
            <a:r>
              <a:rPr sz="1100" b="1" i="0">
                <a:solidFill>
                  <a:srgbClr val="11140F"/>
                </a:solidFill>
                <a:latin typeface="Calibri"/>
              </a:rPr>
              <a:t>Samunnati</a:t>
            </a:r>
          </a:p>
        </p:txBody>
      </p:sp>
      <p:sp>
        <p:nvSpPr>
          <p:cNvPr id="17433" name="TextBox 17432"/>
          <p:cNvSpPr txBox="1"/>
          <p:nvPr/>
        </p:nvSpPr>
        <p:spPr>
          <a:xfrm>
            <a:off x="4617720" y="3749039"/>
            <a:ext cx="1188720" cy="201168"/>
          </a:xfrm>
          <a:prstGeom prst="rect">
            <a:avLst/>
          </a:prstGeom>
          <a:noFill/>
        </p:spPr>
        <p:txBody>
          <a:bodyPr wrap="square" lIns="0" rIns="0" tIns="0" bIns="0" anchor="t">
            <a:spAutoFit/>
          </a:bodyPr>
          <a:lstStyle/>
          <a:p>
            <a:pPr algn="r"/>
            <a:r>
              <a:rPr sz="800" b="1" i="0" spc="110">
                <a:solidFill>
                  <a:srgbClr val="657062"/>
                </a:solidFill>
                <a:latin typeface="Calibri"/>
              </a:rPr>
              <a:t>INCUMBENT</a:t>
            </a:r>
          </a:p>
        </p:txBody>
      </p:sp>
      <p:sp>
        <p:nvSpPr>
          <p:cNvPr id="17434" name="TextBox 17433"/>
          <p:cNvSpPr txBox="1"/>
          <p:nvPr/>
        </p:nvSpPr>
        <p:spPr>
          <a:xfrm>
            <a:off x="704088" y="3986783"/>
            <a:ext cx="5029200" cy="237744"/>
          </a:xfrm>
          <a:prstGeom prst="rect">
            <a:avLst/>
          </a:prstGeom>
          <a:noFill/>
        </p:spPr>
        <p:txBody>
          <a:bodyPr wrap="square" lIns="0" rIns="0" tIns="0" bIns="0" anchor="t">
            <a:spAutoFit/>
          </a:bodyPr>
          <a:lstStyle/>
          <a:p>
            <a:pPr algn="l"/>
            <a:r>
              <a:rPr sz="950" b="0" i="0">
                <a:solidFill>
                  <a:srgbClr val="657062"/>
                </a:solidFill>
                <a:latin typeface="Calibri"/>
              </a:rPr>
              <a:t>FPO financing and market linkage</a:t>
            </a:r>
          </a:p>
        </p:txBody>
      </p:sp>
      <p:sp>
        <p:nvSpPr>
          <p:cNvPr id="17435" name="TextBox 17434"/>
          <p:cNvSpPr txBox="1"/>
          <p:nvPr/>
        </p:nvSpPr>
        <p:spPr>
          <a:xfrm>
            <a:off x="704088" y="4242816"/>
            <a:ext cx="5029200" cy="237744"/>
          </a:xfrm>
          <a:prstGeom prst="rect">
            <a:avLst/>
          </a:prstGeom>
          <a:noFill/>
        </p:spPr>
        <p:txBody>
          <a:bodyPr wrap="square" lIns="0" rIns="0" tIns="0" bIns="0" anchor="t">
            <a:spAutoFit/>
          </a:bodyPr>
          <a:lstStyle/>
          <a:p>
            <a:pPr algn="l"/>
            <a:r>
              <a:rPr sz="850" b="0" i="0">
                <a:solidFill>
                  <a:srgbClr val="2F6B3A"/>
                </a:solidFill>
                <a:latin typeface="Calibri"/>
              </a:rPr>
              <a:t>samunnati.com/innovations</a:t>
            </a:r>
          </a:p>
        </p:txBody>
      </p:sp>
      <p:sp>
        <p:nvSpPr>
          <p:cNvPr id="17436" name="Rounded Rectangle 17435"/>
          <p:cNvSpPr/>
          <p:nvPr/>
        </p:nvSpPr>
        <p:spPr>
          <a:xfrm>
            <a:off x="6190488" y="3639311"/>
            <a:ext cx="5486400" cy="950976"/>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37" name="TextBox 17436"/>
          <p:cNvSpPr txBox="1"/>
          <p:nvPr/>
        </p:nvSpPr>
        <p:spPr>
          <a:xfrm>
            <a:off x="6391655" y="3730751"/>
            <a:ext cx="3931920" cy="237744"/>
          </a:xfrm>
          <a:prstGeom prst="rect">
            <a:avLst/>
          </a:prstGeom>
          <a:noFill/>
        </p:spPr>
        <p:txBody>
          <a:bodyPr wrap="square" lIns="0" rIns="0" tIns="0" bIns="0" anchor="t">
            <a:spAutoFit/>
          </a:bodyPr>
          <a:lstStyle/>
          <a:p>
            <a:pPr algn="l"/>
            <a:r>
              <a:rPr sz="1100" b="1" i="0">
                <a:solidFill>
                  <a:srgbClr val="11140F"/>
                </a:solidFill>
                <a:latin typeface="Calibri"/>
              </a:rPr>
              <a:t>Google OR-Tools, VRP with time windows</a:t>
            </a:r>
          </a:p>
        </p:txBody>
      </p:sp>
      <p:sp>
        <p:nvSpPr>
          <p:cNvPr id="17438" name="TextBox 17437"/>
          <p:cNvSpPr txBox="1"/>
          <p:nvPr/>
        </p:nvSpPr>
        <p:spPr>
          <a:xfrm>
            <a:off x="10305288" y="3749039"/>
            <a:ext cx="1188720" cy="201168"/>
          </a:xfrm>
          <a:prstGeom prst="rect">
            <a:avLst/>
          </a:prstGeom>
          <a:noFill/>
        </p:spPr>
        <p:txBody>
          <a:bodyPr wrap="square" lIns="0" rIns="0" tIns="0" bIns="0" anchor="t">
            <a:spAutoFit/>
          </a:bodyPr>
          <a:lstStyle/>
          <a:p>
            <a:pPr algn="r"/>
            <a:r>
              <a:rPr sz="800" b="1" i="0" spc="110">
                <a:solidFill>
                  <a:srgbClr val="2F6B3A"/>
                </a:solidFill>
                <a:latin typeface="Calibri"/>
              </a:rPr>
              <a:t>METHOD</a:t>
            </a:r>
          </a:p>
        </p:txBody>
      </p:sp>
      <p:sp>
        <p:nvSpPr>
          <p:cNvPr id="17439" name="TextBox 17438"/>
          <p:cNvSpPr txBox="1"/>
          <p:nvPr/>
        </p:nvSpPr>
        <p:spPr>
          <a:xfrm>
            <a:off x="6391655" y="3986783"/>
            <a:ext cx="5029200" cy="237744"/>
          </a:xfrm>
          <a:prstGeom prst="rect">
            <a:avLst/>
          </a:prstGeom>
          <a:noFill/>
        </p:spPr>
        <p:txBody>
          <a:bodyPr wrap="square" lIns="0" rIns="0" tIns="0" bIns="0" anchor="t">
            <a:spAutoFit/>
          </a:bodyPr>
          <a:lstStyle/>
          <a:p>
            <a:pPr algn="l"/>
            <a:r>
              <a:rPr sz="950" b="0" i="0">
                <a:solidFill>
                  <a:srgbClr val="657062"/>
                </a:solidFill>
                <a:latin typeface="Calibri"/>
              </a:rPr>
              <a:t>Reference formulation for capacitated routing with windows</a:t>
            </a:r>
          </a:p>
        </p:txBody>
      </p:sp>
      <p:sp>
        <p:nvSpPr>
          <p:cNvPr id="17440" name="TextBox 17439"/>
          <p:cNvSpPr txBox="1"/>
          <p:nvPr/>
        </p:nvSpPr>
        <p:spPr>
          <a:xfrm>
            <a:off x="6391655" y="4242816"/>
            <a:ext cx="5029200" cy="237744"/>
          </a:xfrm>
          <a:prstGeom prst="rect">
            <a:avLst/>
          </a:prstGeom>
          <a:noFill/>
        </p:spPr>
        <p:txBody>
          <a:bodyPr wrap="square" lIns="0" rIns="0" tIns="0" bIns="0" anchor="t">
            <a:spAutoFit/>
          </a:bodyPr>
          <a:lstStyle/>
          <a:p>
            <a:pPr algn="l"/>
            <a:r>
              <a:rPr sz="850" b="0" i="0">
                <a:solidFill>
                  <a:srgbClr val="2F6B3A"/>
                </a:solidFill>
                <a:latin typeface="Calibri"/>
              </a:rPr>
              <a:t>developers.google.com/optimization/routing/vrptw</a:t>
            </a:r>
          </a:p>
        </p:txBody>
      </p:sp>
      <p:sp>
        <p:nvSpPr>
          <p:cNvPr id="17441" name="Rounded Rectangle 17440"/>
          <p:cNvSpPr/>
          <p:nvPr/>
        </p:nvSpPr>
        <p:spPr>
          <a:xfrm>
            <a:off x="502920" y="4700016"/>
            <a:ext cx="5486400" cy="950976"/>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2" name="TextBox 17441"/>
          <p:cNvSpPr txBox="1"/>
          <p:nvPr/>
        </p:nvSpPr>
        <p:spPr>
          <a:xfrm>
            <a:off x="704088" y="4791455"/>
            <a:ext cx="3931920" cy="237744"/>
          </a:xfrm>
          <a:prstGeom prst="rect">
            <a:avLst/>
          </a:prstGeom>
          <a:noFill/>
        </p:spPr>
        <p:txBody>
          <a:bodyPr wrap="square" lIns="0" rIns="0" tIns="0" bIns="0" anchor="t">
            <a:spAutoFit/>
          </a:bodyPr>
          <a:lstStyle/>
          <a:p>
            <a:pPr algn="l"/>
            <a:r>
              <a:rPr sz="1100" b="1" i="0">
                <a:solidFill>
                  <a:srgbClr val="11140F"/>
                </a:solidFill>
                <a:latin typeface="Calibri"/>
              </a:rPr>
              <a:t>PIB release on agricultural marketing</a:t>
            </a:r>
          </a:p>
        </p:txBody>
      </p:sp>
      <p:sp>
        <p:nvSpPr>
          <p:cNvPr id="17443" name="TextBox 17442"/>
          <p:cNvSpPr txBox="1"/>
          <p:nvPr/>
        </p:nvSpPr>
        <p:spPr>
          <a:xfrm>
            <a:off x="4617720" y="4809744"/>
            <a:ext cx="1188720" cy="201168"/>
          </a:xfrm>
          <a:prstGeom prst="rect">
            <a:avLst/>
          </a:prstGeom>
          <a:noFill/>
        </p:spPr>
        <p:txBody>
          <a:bodyPr wrap="square" lIns="0" rIns="0" tIns="0" bIns="0" anchor="t">
            <a:spAutoFit/>
          </a:bodyPr>
          <a:lstStyle/>
          <a:p>
            <a:pPr algn="r"/>
            <a:r>
              <a:rPr sz="800" b="1" i="0" spc="110">
                <a:solidFill>
                  <a:srgbClr val="657062"/>
                </a:solidFill>
                <a:latin typeface="Calibri"/>
              </a:rPr>
              <a:t>POLICY</a:t>
            </a:r>
          </a:p>
        </p:txBody>
      </p:sp>
      <p:sp>
        <p:nvSpPr>
          <p:cNvPr id="17444" name="TextBox 17443"/>
          <p:cNvSpPr txBox="1"/>
          <p:nvPr/>
        </p:nvSpPr>
        <p:spPr>
          <a:xfrm>
            <a:off x="704088" y="5047488"/>
            <a:ext cx="5029200" cy="237744"/>
          </a:xfrm>
          <a:prstGeom prst="rect">
            <a:avLst/>
          </a:prstGeom>
          <a:noFill/>
        </p:spPr>
        <p:txBody>
          <a:bodyPr wrap="square" lIns="0" rIns="0" tIns="0" bIns="0" anchor="t">
            <a:spAutoFit/>
          </a:bodyPr>
          <a:lstStyle/>
          <a:p>
            <a:pPr algn="l"/>
            <a:r>
              <a:rPr sz="950" b="0" i="0">
                <a:solidFill>
                  <a:srgbClr val="657062"/>
                </a:solidFill>
                <a:latin typeface="Calibri"/>
              </a:rPr>
              <a:t>Government position on market reform</a:t>
            </a:r>
          </a:p>
        </p:txBody>
      </p:sp>
      <p:sp>
        <p:nvSpPr>
          <p:cNvPr id="17445" name="TextBox 17444"/>
          <p:cNvSpPr txBox="1"/>
          <p:nvPr/>
        </p:nvSpPr>
        <p:spPr>
          <a:xfrm>
            <a:off x="704088" y="5303520"/>
            <a:ext cx="5029200" cy="237744"/>
          </a:xfrm>
          <a:prstGeom prst="rect">
            <a:avLst/>
          </a:prstGeom>
          <a:noFill/>
        </p:spPr>
        <p:txBody>
          <a:bodyPr wrap="square" lIns="0" rIns="0" tIns="0" bIns="0" anchor="t">
            <a:spAutoFit/>
          </a:bodyPr>
          <a:lstStyle/>
          <a:p>
            <a:pPr algn="l"/>
            <a:r>
              <a:rPr sz="850" b="0" i="0">
                <a:solidFill>
                  <a:srgbClr val="2F6B3A"/>
                </a:solidFill>
                <a:latin typeface="Calibri"/>
              </a:rPr>
              <a:t>pib.gov.in — PRID 2222802</a:t>
            </a:r>
          </a:p>
        </p:txBody>
      </p:sp>
      <p:sp>
        <p:nvSpPr>
          <p:cNvPr id="17446" name="Rounded Rectangle 17445"/>
          <p:cNvSpPr/>
          <p:nvPr/>
        </p:nvSpPr>
        <p:spPr>
          <a:xfrm>
            <a:off x="6190488" y="4700016"/>
            <a:ext cx="5486400" cy="950976"/>
          </a:xfrm>
          <a:prstGeom prst="roundRect">
            <a:avLst>
              <a:gd name="adj" fmla="val 6000"/>
            </a:avLst>
          </a:prstGeom>
          <a:solidFill>
            <a:srgbClr val="F2F5EF"/>
          </a:solidFill>
          <a:ln w="9525">
            <a:solidFill>
              <a:srgbClr val="DFE4D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447" name="TextBox 17446"/>
          <p:cNvSpPr txBox="1"/>
          <p:nvPr/>
        </p:nvSpPr>
        <p:spPr>
          <a:xfrm>
            <a:off x="6391655" y="4791455"/>
            <a:ext cx="3931920" cy="237744"/>
          </a:xfrm>
          <a:prstGeom prst="rect">
            <a:avLst/>
          </a:prstGeom>
          <a:noFill/>
        </p:spPr>
        <p:txBody>
          <a:bodyPr wrap="square" lIns="0" rIns="0" tIns="0" bIns="0" anchor="t">
            <a:spAutoFit/>
          </a:bodyPr>
          <a:lstStyle/>
          <a:p>
            <a:pPr algn="l"/>
            <a:r>
              <a:rPr sz="1100" b="1" i="0">
                <a:solidFill>
                  <a:srgbClr val="11140F"/>
                </a:solidFill>
                <a:latin typeface="Calibri"/>
              </a:rPr>
              <a:t>SIH 2026 idea submission format</a:t>
            </a:r>
          </a:p>
        </p:txBody>
      </p:sp>
      <p:sp>
        <p:nvSpPr>
          <p:cNvPr id="17448" name="TextBox 17447"/>
          <p:cNvSpPr txBox="1"/>
          <p:nvPr/>
        </p:nvSpPr>
        <p:spPr>
          <a:xfrm>
            <a:off x="10305288" y="4809744"/>
            <a:ext cx="1188720" cy="201168"/>
          </a:xfrm>
          <a:prstGeom prst="rect">
            <a:avLst/>
          </a:prstGeom>
          <a:noFill/>
        </p:spPr>
        <p:txBody>
          <a:bodyPr wrap="square" lIns="0" rIns="0" tIns="0" bIns="0" anchor="t">
            <a:spAutoFit/>
          </a:bodyPr>
          <a:lstStyle/>
          <a:p>
            <a:pPr algn="r"/>
            <a:r>
              <a:rPr sz="800" b="1" i="0" spc="110">
                <a:solidFill>
                  <a:srgbClr val="657062"/>
                </a:solidFill>
                <a:latin typeface="Calibri"/>
              </a:rPr>
              <a:t>FORMAT</a:t>
            </a:r>
          </a:p>
        </p:txBody>
      </p:sp>
      <p:sp>
        <p:nvSpPr>
          <p:cNvPr id="17449" name="TextBox 17448"/>
          <p:cNvSpPr txBox="1"/>
          <p:nvPr/>
        </p:nvSpPr>
        <p:spPr>
          <a:xfrm>
            <a:off x="6391655" y="5047488"/>
            <a:ext cx="5029200" cy="237744"/>
          </a:xfrm>
          <a:prstGeom prst="rect">
            <a:avLst/>
          </a:prstGeom>
          <a:noFill/>
        </p:spPr>
        <p:txBody>
          <a:bodyPr wrap="square" lIns="0" rIns="0" tIns="0" bIns="0" anchor="t">
            <a:spAutoFit/>
          </a:bodyPr>
          <a:lstStyle/>
          <a:p>
            <a:pPr algn="l"/>
            <a:r>
              <a:rPr sz="950" b="0" i="0">
                <a:solidFill>
                  <a:srgbClr val="657062"/>
                </a:solidFill>
                <a:latin typeface="Calibri"/>
              </a:rPr>
              <a:t>The template this deck follows</a:t>
            </a:r>
          </a:p>
        </p:txBody>
      </p:sp>
      <p:sp>
        <p:nvSpPr>
          <p:cNvPr id="17450" name="TextBox 17449"/>
          <p:cNvSpPr txBox="1"/>
          <p:nvPr/>
        </p:nvSpPr>
        <p:spPr>
          <a:xfrm>
            <a:off x="6391655" y="5303520"/>
            <a:ext cx="5029200" cy="237744"/>
          </a:xfrm>
          <a:prstGeom prst="rect">
            <a:avLst/>
          </a:prstGeom>
          <a:noFill/>
        </p:spPr>
        <p:txBody>
          <a:bodyPr wrap="square" lIns="0" rIns="0" tIns="0" bIns="0" anchor="t">
            <a:spAutoFit/>
          </a:bodyPr>
          <a:lstStyle/>
          <a:p>
            <a:pPr algn="l"/>
            <a:r>
              <a:rPr sz="850" b="0" i="0">
                <a:solidFill>
                  <a:srgbClr val="2F6B3A"/>
                </a:solidFill>
                <a:latin typeface="Calibri"/>
              </a:rPr>
              <a:t>sih.gov.in/letters/2026</a:t>
            </a:r>
          </a:p>
        </p:txBody>
      </p:sp>
      <p:sp>
        <p:nvSpPr>
          <p:cNvPr id="17451" name="TextBox 17450"/>
          <p:cNvSpPr txBox="1"/>
          <p:nvPr/>
        </p:nvSpPr>
        <p:spPr>
          <a:xfrm>
            <a:off x="502920" y="5833872"/>
            <a:ext cx="11247120" cy="274320"/>
          </a:xfrm>
          <a:prstGeom prst="rect">
            <a:avLst/>
          </a:prstGeom>
          <a:noFill/>
        </p:spPr>
        <p:txBody>
          <a:bodyPr wrap="square" lIns="0" rIns="0" tIns="0" bIns="0" anchor="t">
            <a:spAutoFit/>
          </a:bodyPr>
          <a:lstStyle/>
          <a:p>
            <a:pPr algn="l"/>
            <a:r>
              <a:rPr sz="850" b="0" i="1">
                <a:solidFill>
                  <a:srgbClr val="657062"/>
                </a:solidFill>
                <a:latin typeface="Calibri"/>
              </a:rPr>
              <a:t>What this does not prove: demand history and the fitted price series in the prototype are synthetic and labelled so on screen. An unmentioned capability on a competitor's public page is not evidence they lack it, and we claim no measured superiority without a comparable pilot.</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